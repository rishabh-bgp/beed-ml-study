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24.xml" ContentType="application/vnd.openxmlformats-officedocument.presentationml.notesSlide+xml"/>
  <Override PartName="/ppt/slides/slide1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3" r:id="rId19"/>
    <p:sldId id="261" r:id="rId7"/>
    <p:sldId id="267" r:id="rId13"/>
    <p:sldId id="258" r:id="rId4"/>
    <p:sldId id="263" r:id="rId9"/>
    <p:sldId id="274" r:id="rId20"/>
    <p:sldId id="276" r:id="rId27"/>
    <p:sldId id="270" r:id="rId16"/>
    <p:sldId id="264" r:id="rId10"/>
    <p:sldId id="279" r:id="rId30"/>
    <p:sldId id="268" r:id="rId14"/>
    <p:sldId id="277" r:id="rId28"/>
    <p:sldId id="262" r:id="rId8"/>
    <p:sldId id="278" r:id="rId29"/>
    <p:sldId id="275" r:id="rId2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5.xml"/><Relationship Id="rId7" Type="http://schemas.openxmlformats.org/officeDocument/2006/relationships/slide" Target="slides/slide3.xml"/><Relationship Id="rId8" Type="http://schemas.openxmlformats.org/officeDocument/2006/relationships/slide" Target="slides/slide13.xml"/><Relationship Id="rId9" Type="http://schemas.openxmlformats.org/officeDocument/2006/relationships/slide" Target="slides/slide6.xml"/><Relationship Id="rId10" Type="http://schemas.openxmlformats.org/officeDocument/2006/relationships/slide" Target="slides/slide10.xml"/><Relationship Id="rId13" Type="http://schemas.openxmlformats.org/officeDocument/2006/relationships/slide" Target="slides/slide4.xml"/><Relationship Id="rId14" Type="http://schemas.openxmlformats.org/officeDocument/2006/relationships/slide" Target="slides/slide11.xml"/><Relationship Id="rId16" Type="http://schemas.openxmlformats.org/officeDocument/2006/relationships/slide" Target="slides/slide9.xml"/><Relationship Id="rId19" Type="http://schemas.openxmlformats.org/officeDocument/2006/relationships/slide" Target="slides/slide2.xml"/><Relationship Id="rId20" Type="http://schemas.openxmlformats.org/officeDocument/2006/relationships/slide" Target="slides/slide7.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8.xml"/><Relationship Id="rId28" Type="http://schemas.openxmlformats.org/officeDocument/2006/relationships/slide" Target="slides/slide12.xml"/><Relationship Id="rId29" Type="http://schemas.openxmlformats.org/officeDocument/2006/relationships/slide" Target="slides/slide14.xml"/><Relationship Id="rId30"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Good morning. I am Rishabh Aryan from IIIT Bhagalpur. This talk presents a provenance audit and a leakage-aware benchmark of the Bangalore EEG Epilepsy Dataset, BEED, and asks how much of its reported performance survives once two shortcuts are removed: the origin of the healthy class and temporal leakage between neighbouring rows.</a:t>
            </a:r>
          </a:p>
          <a:p/>
          <a:p>
            <a:r>
              <a:t>Sources: Title and subtitle: BEED_paper_camera_ready.docx (title line); Presenter, affiliation, e-mail and ORCID: as supplied by the presenter; Conclave name, Track 5, dates and venue: NIELIT Bio-AI Conclave 2026 call for papers.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 address four research questions. RQ1: what the rows and columns of the public BEED file represent, and whether that representation is the same across classes. RQ2: how much of the reported performance survives an evaluation that prevents temporal leakage. RQ3: once shortcuts are controlled, which signal properties separate generalised, focal and seizure-event recordings. RQ4: what the computational footprint of the candidate models is on a general-purpose CPU; we did not measure wearable or microcontroller hardware. Most prior BEED work uses a random row split, so neighbouring rows from the same recording can sit on both sides of the split. Our leakage-safe protocols hold out contiguous blocks with 50-row purge gaps: 200-row blocks in blocked cross-validation, and a five-fold rolling-origin evaluation in which every 20% block of every recording is tested once.</a:t>
            </a:r>
          </a:p>
          <a:p>
            <a:r>
              <a:rPr lang="en-US" dirty="0"/>
              <a:t/>
            </a:r>
          </a:p>
          <a:p>
            <a:r>
              <a:rPr lang="en-US" dirty="0"/>
              <a:t>Sources: RQ1–RQ3: BEED_paper_camera_ready.docx (Introduction, research questions); RQ4 revised wording and rolling-origin protocol: /workspace/beed/revision_v2/REVISION_RESULTS.md (R8 "Suggested RQ4 wording"; R1 rolling origin); blocked protocol: BEED_paper_camera_ready.docx (Methods).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Epilepsy affects about 50 million people worldwide. Visual EEG review is expert-intensive and slow, so automated seizure-type classification could support clinicians. Public benchmarks such as BEED drive which models get built, so their validity matters. The figure shows 512 consecutive rows of the BEED focal-seizure class drawn as 16 traces.</a:t>
            </a:r>
          </a:p>
          <a:p/>
          <a:p>
            <a:r>
              <a:t>Sources: Epilepsy prevalence (about 50 million people worldwide) [4]: WHO epilepsy fact sheet, https://www.who.int/news-room/fact-sheets/detail/epilepsy; [1] Najmusseher N, Nizar Banu PK. BEED: Bangalore EEG Epilepsy Dataset [dataset]. UCI Machine Learning Repository. 2024. doi:10.24432/C5K33B; Figure: /workspace/beed/deliverables/code/figures/fig_examples.png, panel (b), cropped.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To conclude: random splits leak. The best model reaches 0.98 under a random split, but the pre-specified leakage-safe estimate is 0.75 plus or minus 0.08 for four classes and 0.68 plus or minus 0.10 for the three seizure types. Most of what remains is a recording fingerprint: the per-channel absolute amplitudes alone reach 0.72 and 0.65. The healthy rows are identical to Bonn set B windows, a source shortcut. We therefore recommend reporting pre-specified, leakage-safe estimates such as rolling origin for BEED. For future work, we need subject and recording metadata from the dataset creators, validation on independent public EEG data, healthy recordings from the same source, and a wider source search covering TUSZ, Siena and filtered or resampled derivatives. Thank you.</a:t>
            </a:r>
          </a:p>
          <a:p>
            <a:r>
              <a:rPr lang="en-US" dirty="0"/>
              <a:t/>
            </a:r>
          </a:p>
          <a:p>
            <a:r>
              <a:rPr lang="en-US" dirty="0"/>
              <a:t>Sources: /workspace/beed/revision_v2/REVISION_RESULTS.md R1 (random kNN raw 0.984 / 0.983; rolling origin LightGBM raw 0.748 ± 0.080 / 0.677 ± 0.104), R4 (LightGBM on per-channel |x| 0.720 / 0.648), R5 caveats (unsearched corpora TUSZ, Siena; resampled or filtered derivatives), conclusion wording ("pre-specify the model and report rolling-origin or CV estimates"); healthy-class identity: BEED_paper_camera_ready.docx Results 4.2, refs [2] Andrzejak 2001, [3] Wu &amp; Fokoue 2017.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When we searched for the healthy rows in older public data, every one of the 2,000 rows was identical to a 16-sample window of the UCI Epileptic Seizure Recognition file, which is derived from Bonn set B, healthy volunteers with eyes closed. Every match sits at the same position, samples 159 to 174 of a one-second chunk, and no row from the three seizure classes matches. The healthy rows are therefore identical to data from a different recording source, sampled at 173.61 Hz rather than 256 Hz. The UCI documentation also does not describe the file: it speaks of 80 subjects with 200 time points each, 16,000 segments of 20 seconds and a binary label, whereas the file has 8,000 rows, four classes and no subject identifiers. As a consequence, healthy and seizure rows can be told apart by recording source alone: one smoothness threshold reaches 0.997 accuracy.</a:t>
            </a:r>
          </a:p>
          <a:p>
            <a:r>
              <a:rPr lang="en-US" dirty="0"/>
              <a:t/>
            </a:r>
          </a:p>
          <a:p>
            <a:r>
              <a:rPr lang="en-US" dirty="0"/>
              <a:t>Sources: [2] Andrzejak RG, Lehnertz K, Mormann F, Rieke C, David P, Elger CE. Physical Review E. 2001;64(6):061907. doi:10.1103/PhysRevE.64.061907. [3] Wu Q, Fokoue E. Epileptic Seizure Recognition [dataset]. UCI Machine Learning Repository. 2017. doi:10.24432/C5G308 (reference per /workspace/beed/revision_v2/LITERATURE_REVISION.md [18]). Match results, positions, 173.61 Hz, 0.997 threshold accuracy: BEED_paper_camera_ready.docx (Results 4.2, 4.4; paper Fig. 2). UCI documentation (80 subjects, 200 time points per subject, 16,000 segments, binary y vs 8,000 rows, 4 classes, no subject column): https://archive.ics.uci.edu/dataset/1134, quoted in /workspace/beed/revision_v2/notes/R2_UCI_documentation.md and REVISION_RESULTS.md R2. Figure: code/figures/fig_provenance.png.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Under the leakage-safe split, the seizure classes are separated mainly by the values of particular channels, X11, X8 and X15: a per-channel spatial amplitude pattern across electrodes. The next slide shows that this pattern behaves like a fingerprint of each recording. The healthy class is separated almost entirely by smoothness descriptors such as Hjorth mobility and lag-1 autocorrelation. Healthy versus seizure is solved with macro-F1 of at least 0.99 for every model (best 0.999 to 1.000), and a single threshold on lag-1 autocorrelation alone reaches 0.997 accuracy. This is a recording-source shortcut, not a clinical signal.</a:t>
            </a:r>
          </a:p>
          <a:p>
            <a:r>
              <a:rPr lang="en-US" dirty="0"/>
              <a:t/>
            </a:r>
          </a:p>
          <a:p>
            <a:r>
              <a:rPr lang="en-US" dirty="0"/>
              <a:t>Sources: shap_4class_blocked.csv (top summed |SHAP|: X11 3.32, X8 3.28, t_hjorth_mob 2.73, t_lag1_ac 2.23, n_svd_entropy 2.08, n_higuchi_fd 1.94, X15 1.68); shap/Results 4.7 of BEED_paper_camera_ready.docx (3-class blocked leaders X11, X8, X15, X12, X6); holdout_metrics.csv binary blocked best macro-F1 0.9992; shortcut_stumps.csv blocked t_lag1_ac accuracy 0.9975. Spatial amplitude pattern interpretation: /workspace/beed/revision_v2/REVISION_RESULTS.md R4. Figure redrawn from shap_4class_blocked.csv (figs/make_fig7.py).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BEED is distributed as a single table of 8,000 rows, each holding 16 integer values labelled X1 to X16. There are four classes of 2,000 rows each: healthy, generalised seizures, focal seizures and seizure events with behaviours such as blinking or staring. The documentation describes 16-channel recordings at 256 Hz from a neurological centre in Bangalore; the file itself has no subject or recording identifiers, and in the audit we compare the documentation with what the file contains. Note the much larger amplitude of the healthy row in the figure; we return to this in the audit.</a:t>
            </a:r>
          </a:p>
          <a:p>
            <a:r>
              <a:rPr lang="en-US" dirty="0"/>
              <a:t/>
            </a:r>
          </a:p>
          <a:p>
            <a:r>
              <a:rPr lang="en-US" dirty="0"/>
              <a:t>Sources: [1] Najmusseher N, Nizar Banu PK. BEED: Bangalore EEG Epilepsy Dataset [dataset]. UCI Machine Learning Repository. 2024. doi:10.24432/C5K33B. Row/class counts, X1–X16, 256 Hz, class definitions: BEED_paper_camera_ready.docx (Introduction, Methods 3.1). Figure: redrawn for the slide from /workspace/beed/raw/BEED_Data.csv (4th row of each class, as in code/figures/fig_examples.png panel a) by figs/make_figs.py.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 measured the computational footprint on a general-purpose server CPU, one thread of an Intel Xeon virtual machine, as the median of 500 single-sample calls. The tuned MLP has 3,492 parameters, serialises to 16 kB in ONNX and takes about 0.05 ms per sample; its blocked five-by-two cross-validated macro-F1 is 0.77. The LightGBM row is the tuned model on raw plus engineered features, 73 in total, not the primary raw-value model: 1.06 MB in ONNX and 3.97 ms per sample, of which 3.48 ms, about 87%, is Python feature extraction. Its 0.799 is a single hold-out score. These figures were not measured on wearable or microcontroller hardware and do not establish edge feasibility.</a:t>
            </a:r>
          </a:p>
          <a:p>
            <a:r>
              <a:rPr lang="en-US" dirty="0"/>
              <a:t/>
            </a:r>
          </a:p>
          <a:p>
            <a:r>
              <a:rPr lang="en-US" dirty="0"/>
              <a:t>Sources: /workspace/beed/revision_v2/REVISION_RESULTS.md R8; results/R8_computational_footprint.csv (Intel Xeon, 1 thread, Python 3.13.5, server VM; LightGBM tuned raw+eng 73 features, 28,658 nodes, ONNX 1,062 kB, feature extraction 3.476 ms, inference 0.498 ms Python / 0.019 ms ONNX RT, total 3.974 ms, blocked hold-out F1 0.799; MLP tuned 3,492 params, ONNX 15.9 kB, 0.054 ms); MLP tuned 5×2 blocked CV 0.774 ± 0.054: REVISION_RESULTS.md R7.</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Under a random row split the best model, kNN, reaches a macro-F1 of 0.98 for four classes and also 0.98 for the three seizure types. Under the leakage-safe protocol, the pre-specified LightGBM on raw values reaches 0.75 plus or minus 0.08 for four classes and 0.68 plus or minus 0.10 for the seizure types, as mean and standard deviation over five rolling-origin test blocks. The single final-20% hold-out gives 0.81 and 0.75, but it is one of the easier blocks for every model, so we treat it as secondary. The figure shows the eight best models by blocked cross-validation: their estimates overlap, the ranking is not stable, and single hold-out scores sit above the rolling-origin means.</a:t>
            </a:r>
          </a:p>
          <a:p>
            <a:r>
              <a:rPr lang="en-US" dirty="0"/>
              <a:t/>
            </a:r>
          </a:p>
          <a:p>
            <a:r>
              <a:rPr lang="en-US" dirty="0"/>
              <a:t>Sources: /workspace/beed/revision_v2/REVISION_RESULTS.md R1 and "Suggested replacement for the deck's headline numbers"; results/R1_primary_model_headline.csv (4-class rolling 0.748 ± 0.080, hold-out 0.810; 3-class rolling 0.677 ± 0.104, hold-out 0.752); results/R1_table4_extended_cv.csv (random protocol, kNN raw: 4-class 0.984 ± 0.004, 3-class 0.983 ± 0.006). Figure 6: redrawn for the slide from results/R1_table4_extended_cv.csv, R1_rolling_origin_summary.csv, R1_holdout_fold_scores.csv and R7_deep_fold_scores_part*.csv (same data as figures/R1_cv_rolling_holdout.png, 4-class panel, top eight models).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 The talk has six parts. I first introduce the motivation, the BEED dataset and the four research questions. Then I present the dataset audit: where the healthy class comes from and how temporal leakage arises. After the methodology, I show three results: the comparison of random and leakage-safe splits, the recording fingerprint that a simple per-channel amplitude feature already captures, and the computational footprint of the models on a general-purpose CPU. I then discuss the limitations and close with the takeaways and future work.</a:t>
            </a:r>
          </a:p>
          <a:p/>
          <a:p>
            <a:r>
              <a:t>Sources: Outline of the talk: six numbered sections; section structure follows BEED_paper_camera_ready.docx, revised for v2 per /workspace/beed/revision_v2/REVISION_RESULTS.md (R1 split comparison, R4 recording fingerprint, R8 computational footprint).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 the three seizure classes, each row is one time point of a continuous recording, so neighbouring rows are almost identical. With a random row split, between 88 and 95 percent of seizure test rows have their immediate neighbour in the training set. A classifier can then simply look up the neighbour, so random-split scores measure interpolation rather than generalisation. The figure shows macro-F1 falling steadily as folds are built from longer contiguous blocks.</a:t>
            </a:r>
          </a:p>
          <a:p>
            <a:r>
              <a:rPr lang="en-US" dirty="0"/>
              <a:t/>
            </a:r>
          </a:p>
          <a:p>
            <a:r>
              <a:rPr lang="en-US" dirty="0"/>
              <a:t>Sources: leakage_nearest_neighbour.csv (nn_within_1_row 0.878–0.953 for classes 1–3); BEED_paper_camera_ready.docx Results 4.3 (87.8%–95.2%); figure code/figures/fig_block_curve.png.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Thank you for your attention. I am happy to take questions, and the code and full results are described in the paper. My contact details are on the slide.</a:t>
            </a:r>
          </a:p>
          <a:p>
            <a:r>
              <a:rPr lang="en-US" dirty="0"/>
              <a:t/>
            </a:r>
          </a:p>
          <a:p>
            <a:r>
              <a:rPr lang="en-US" dirty="0"/>
              <a:t>Sources: presenter and contact details as supplied by the presenter.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 compare a random 80/20 row split, as in most prior work, with leakage-safe protocols that hold out whole 200-row blocks, or whole Bonn segments for the healthy class, and purge training rows within 50 rows of any test row. The primary model was pre-specified: LightGBM on raw values, the configuration with the best macro-F1 in the purged blocked five-by-two cross-validation on the development data; the test block was never used for selection. Our primary estimate is a five-fold rolling-origin evaluation, in which each 20% block of every recording is tested once; the single final-20% hold-out is reported as a secondary result. We also compare five other classical models and four small deep networks. Uncertainty uses cluster-bootstrap confidence intervals and corrected resampled t-tests with Holm adjustment. Friedman and Nemenyi tests over cross-validation folds are anti-conservative, because the folds share training data, so we report them as descriptive only.</a:t>
            </a:r>
          </a:p>
          <a:p>
            <a:r>
              <a:rPr lang="en-US" dirty="0"/>
              <a:t/>
            </a:r>
          </a:p>
          <a:p>
            <a:r>
              <a:rPr lang="en-US" dirty="0"/>
              <a:t>Sources: BEED_paper_camera_ready.docx Methods 3.3 (protocols), 3.5 (models). Pre-specified primary model, rolling origin, hold-out as secondary: /workspace/beed/revision_v2/REVISION_RESULTS.md R1 (results/R1_primary_model_headline.csv). Holm across settings and Friedman/Nemenyi caveat: REVISION_RESULTS.md R9. Figure: schematic drawn for this talk (figs/make_figs.py).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Several limitations follow from the data. The file has no subject identifiers, so no patient-independent test is possible, and recording identity and seizure type are likely confounded: a per-channel amplitude fingerprint reproduces most of the leakage-safe score, and each seizure class is consistent with one, or a few seamlessly joined, recordings, although we could not determine which. The healthy class comes from Bonn set B, and we used a single dataset with no external test set. On the methods side, we searched the CHB-MIT Scalp EEG Database for the source of classes 1 to 3 with a gain-, offset- and channel-order-invariant cross-correlation. The search was negative but partial: 246 of 686 files, from all 24 subjects, and no file exceeded a score of 0.42 against a threshold of 0.80, while a positive control scored 1.00. Friedman and Nemenyi tests over cross-validation folds are anti-conservative because folds share training data, so we treat them as descriptive. Deep models were tuned on a single inner hold-out rather than inner cross-validation, to save compute. Finally, the footprint was measured on a server CPU, not on edge hardware. What remains valid is that leakage-safe scores estimate extrapolation to unseen time within the same recordings, not seizure-type generalisation.</a:t>
            </a:r>
          </a:p>
          <a:p>
            <a:r>
              <a:rPr lang="en-US" dirty="0"/>
              <a:t/>
            </a:r>
          </a:p>
          <a:p>
            <a:r>
              <a:rPr lang="en-US" dirty="0"/>
              <a:t>Sources: /workspace/beed/revision_v2/REVISION_RESULTS.md R5 (CHB-MIT v1.0.0, 246 of 686 files, 281.7 h, all 24 subjects, 136 of 141 seizure records; max scores 0.38 / 0.26 / 0.42; threshold 0.80; positive control 1.000; results/r5_chbmit_scan.csv; file list notes/chbmit_RECORDS.txt, 686 entries), R9 (Friedman/Nemenyi caveat), R7 (deep-model inner hold-out), R8 (server CPU, no edge hardware), R2 (no subject IDs; change-point analysis consistent with one or a few seamlessly joined recordings per seizure class; "could not determine whether each seizure class comes from one or several recordings") and R4 (fingerprint confound). [5] Guttag J. CHB-MIT Scalp EEG Database (version 1.0.0). PhysioNet. 2010. doi:10.13026/C2K01R (verified https://physionet.org/content/chbmit/1.0.0/, 8 Oct 2026); PhysioNet standard citation: Goldberger AL, Amaral LAN, Glass L, et al. PhysioBank, PhysioToolkit, and PhysioNet. Circulation. 2000;101(23):e215–e220. doi:10.1161/01.CIR.101.23.e215 (verified via Crossref). Healthy-class source: BEED_paper_camera_ready.docx Results 4.2.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These are the five sources cited on the slides: the BEED dataset itself, the original Bonn EEG study, the UCI Epileptic Seizure Recognition file derived from it, the WHO epilepsy fact sheet, and the CHB-MIT Scalp EEG Database that we searched for the source of the seizure classes, with the standard PhysioNet citation. The full reference list, including the methods and statistics references, is in the paper.</a:t>
            </a:r>
          </a:p>
          <a:p>
            <a:r>
              <a:rPr lang="en-US" dirty="0"/>
              <a:t/>
            </a:r>
          </a:p>
          <a:p>
            <a:r>
              <a:rPr lang="en-US" dirty="0"/>
              <a:t>Sources: [1], [2] exact text from BEED_paper_camera_ready.docx reference list (paper refs [7], [5]); [1] re-verified per /workspace/beed/revision_v2/LITERATURE_REVISION.md section 4. [3] corrected per LITERATURE_REVISION.md [18] (doi:10.24432/C5G308, registered with DataCite; UCI landing page returns '403 Dataset not approved', so the GitHub copy is kept). [4] WHO fact sheet, https://www.who.int/news-room/fact-sheets/detail/epilepsy, checked 8 October 2026 ('affecting around 50 million people worldwide'). [5] https://physionet.org/content/chbmit/1.0.0/ (Guttag J, 2010, doi:10.13026/C2K01R), verified 8 October 2026; Goldberger et al. 2000 verified via https://api.crossref.org/works/10.1161/01.CIR.101.23.e215.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How much of the leakage-safe score is seizure physiology? We trained models on a deliberately poor feature: only the absolute value of each of the 16 channels, which keeps the amplitude pattern but discards sign and any temporal information. LightGBM on these 16 values reaches 0.72 plus or minus 0.07 for four classes and 0.65 plus or minus 0.09 for the three seizure types in the rolling-origin evaluation, against 0.75 and 0.68 for the primary model on raw values. That is about 90% of the primary model's performance above chance. In the pre-specified test, the primary model beats logistic regression on these features by about 0.05, and after Holm correction this is not significant, p = 0.15 to 0.16. Each seizure class appears to be a single recording or a few seamlessly joined pieces; we could not determine which. Recording identity and seizure type are therefore likely confounded, and the leakage-safe score mostly measures a recording-specific amplitude fingerprint rather than seizure type.</a:t>
            </a:r>
          </a:p>
          <a:p>
            <a:r>
              <a:rPr lang="en-US" dirty="0"/>
              <a:t/>
            </a:r>
          </a:p>
          <a:p>
            <a:r>
              <a:rPr lang="en-US" dirty="0"/>
              <a:t>Sources: /workspace/beed/revision_v2/REVISION_RESULTS.md R4 (results/R4_fingerprint_baselines.csv: rolling origin 4-class LightGBM raw 0.748 ± 0.080, LightGBM |x| 0.720 ± 0.074, LR |x| 0.702 ± 0.104; 3-class 0.677 ± 0.104, 0.648 ± 0.094, 0.627 ± 0.124; share of above-chance performance 0.945 / 0.916 for LightGBM |x|) and R9 (results/R9_prespecified_tests.csv: differences +0.046 to +0.054, Holm p 0.151–0.163). Artefact rows (recstd_raw) not used. Figure 8: redrawn for the slide from R4_fingerprint_baselines.csv (rolling-origin mean ± SD; chance 0.25 / 0.33).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3.xml.rels><?xml version="1.0" encoding="UTF-8" standalone="yes"?>
<Relationships xmlns="http://schemas.openxmlformats.org/package/2006/relationships"><Relationship Id="rIdFig1" Type="http://schemas.openxmlformats.org/officeDocument/2006/relationships/image" Target="../media/fig_examples_b.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Fig2" Type="http://schemas.openxmlformats.org/officeDocument/2006/relationships/image" Target="../media/fig_examples_a2.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5.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Fig3" Type="http://schemas.openxmlformats.org/officeDocument/2006/relationships/image" Target="../media/fig_provenance.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Fig4" Type="http://schemas.openxmlformats.org/officeDocument/2006/relationships/image" Target="../media/fig_block_curve.png"/><Relationship Id="rId1" Type="http://schemas.openxmlformats.org/officeDocument/2006/relationships/image" Target="../media/Slide-1-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8.xml.rels><?xml version="1.0" encoding="UTF-8" standalone="yes"?>
<Relationships xmlns="http://schemas.openxmlformats.org/package/2006/relationships"><Relationship Id="rIdFig5" Type="http://schemas.openxmlformats.org/officeDocument/2006/relationships/image" Target="../media/fig_split_scheme.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9.xml.rels><?xml version="1.0" encoding="UTF-8" standalone="yes"?>
<Relationships xmlns="http://schemas.openxmlformats.org/package/2006/relationships"><Relationship Id="rIdFig6" Type="http://schemas.openxmlformats.org/officeDocument/2006/relationships/image" Target="../media/fig_split_bars.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Fig7" Type="http://schemas.openxmlformats.org/officeDocument/2006/relationships/image" Target="../media/fig_shap_top7.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13.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Fig3" Type="http://schemas.openxmlformats.org/officeDocument/2006/relationships/image" Target="../media/fig_fingerprint.png"/><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workspace/slides/beed-deck-3SjUFH/family/assets/bioai_logo.png">    </p:cNvPr>
          <p:cNvPicPr>
            <a:picLocks noChangeAspect="1"/>
          </p:cNvPicPr>
          <p:nvPr/>
        </p:nvPicPr>
        <p:blipFill>
          <a:blip r:embed="rId2"/>
          <a:stretch>
            <a:fillRect/>
          </a:stretch>
        </p:blipFill>
        <p:spPr>
          <a:xfrm>
            <a:off x="457200" y="320040"/>
            <a:ext cx="1828800" cy="740664"/>
          </a:xfrm>
          <a:prstGeom prst="rect">
            <a:avLst/>
          </a:prstGeom>
        </p:spPr>
      </p:pic>
      <p:sp>
        <p:nvSpPr>
          <p:cNvPr id="3" name="Text 0"/>
          <p:cNvSpPr/>
          <p:nvPr/>
        </p:nvSpPr>
        <p:spPr>
          <a:xfrm>
            <a:off x="2926080" y="329184"/>
            <a:ext cx="5760720" cy="274320"/>
          </a:xfrm>
          <a:prstGeom prst="rect">
            <a:avLst/>
          </a:prstGeom>
          <a:noFill/>
          <a:ln/>
        </p:spPr>
        <p:txBody>
          <a:bodyPr wrap="square" lIns="68580" tIns="34290" rIns="68580" bIns="34290" rtlCol="0" anchor="t"/>
          <a:lstStyle/>
          <a:p>
            <a:pPr algn="r" indent="0" marL="0">
              <a:buNone/>
            </a:pPr>
            <a:r>
              <a:rPr lang="en-US" sz="1000" dirty="0">
                <a:solidFill>
                  <a:srgbClr val="FFFFFF"/>
                </a:solidFill>
                <a:latin typeface="Poppins" pitchFamily="34" charset="0"/>
                <a:ea typeface="Poppins" pitchFamily="34" charset="-122"/>
                <a:cs typeface="Poppins" pitchFamily="34" charset="-120"/>
              </a:rPr>
              <a:t>Track 5 – Digital Life Sciences, Health, Agriculture &amp; Biodiversity</a:t>
            </a:r>
            <a:endParaRPr lang="en-US" sz="1000" dirty="0"/>
          </a:p>
        </p:txBody>
      </p:sp>
      <p:sp>
        <p:nvSpPr>
          <p:cNvPr id="4" name="Text 1"/>
          <p:cNvSpPr/>
          <p:nvPr/>
        </p:nvSpPr>
        <p:spPr>
          <a:xfrm>
            <a:off x="2926080" y="630936"/>
            <a:ext cx="5760720" cy="256032"/>
          </a:xfrm>
          <a:prstGeom prst="rect">
            <a:avLst/>
          </a:prstGeom>
          <a:noFill/>
          <a:ln/>
        </p:spPr>
        <p:txBody>
          <a:bodyPr wrap="square" lIns="68580" tIns="34290" rIns="68580" bIns="34290" rtlCol="0" anchor="t"/>
          <a:lstStyle/>
          <a:p>
            <a:pPr algn="r" indent="0" marL="0">
              <a:buNone/>
            </a:pPr>
            <a:r>
              <a:rPr lang="en-US" sz="900" dirty="0">
                <a:solidFill>
                  <a:srgbClr val="D9D2F3"/>
                </a:solidFill>
                <a:latin typeface="Poppins" pitchFamily="34" charset="0"/>
                <a:ea typeface="Poppins" pitchFamily="34" charset="-122"/>
                <a:cs typeface="Poppins" pitchFamily="34" charset="-120"/>
              </a:rPr>
              <a:t>11–12 December 2026  ·  NIELIT Guwahati, Gauhati University Campus</a:t>
            </a:r>
            <a:endParaRPr lang="en-US" sz="900" dirty="0"/>
          </a:p>
        </p:txBody>
      </p:sp>
      <p:sp>
        <p:nvSpPr>
          <p:cNvPr id="5" name="Text 2"/>
          <p:cNvSpPr/>
          <p:nvPr/>
        </p:nvSpPr>
        <p:spPr>
          <a:xfrm>
            <a:off x="411480" y="1115568"/>
            <a:ext cx="8321040" cy="932688"/>
          </a:xfrm>
          <a:prstGeom prst="rect">
            <a:avLst/>
          </a:prstGeom>
          <a:noFill/>
          <a:ln/>
        </p:spPr>
        <p:txBody>
          <a:bodyPr wrap="square" lIns="68580" tIns="34290" rIns="68580" bIns="34290" rtlCol="0" anchor="t"/>
          <a:lstStyle/>
          <a:p>
            <a:pPr algn="l" indent="0" marL="0">
              <a:lnSpc>
                <a:spcPct val="95000"/>
              </a:lnSpc>
              <a:buNone/>
            </a:pPr>
            <a:r>
              <a:rPr lang="en-US" sz="2900" b="1" dirty="0">
                <a:solidFill>
                  <a:srgbClr val="FFFFFF"/>
                </a:solidFill>
                <a:latin typeface="Kanit" pitchFamily="34" charset="0"/>
                <a:ea typeface="Kanit" pitchFamily="34" charset="-122"/>
                <a:cs typeface="Kanit" pitchFamily="34" charset="-120"/>
              </a:rPr>
              <a:t>Shortcuts and Temporal Leakage in the Bangalore EEG Epilepsy Dataset</a:t>
            </a:r>
            <a:endParaRPr lang="en-US" sz="2900" dirty="0"/>
          </a:p>
        </p:txBody>
      </p:sp>
      <p:sp>
        <p:nvSpPr>
          <p:cNvPr id="6" name="Text 3"/>
          <p:cNvSpPr/>
          <p:nvPr/>
        </p:nvSpPr>
        <p:spPr>
          <a:xfrm>
            <a:off x="411480" y="2066544"/>
            <a:ext cx="8321040" cy="365760"/>
          </a:xfrm>
          <a:prstGeom prst="rect">
            <a:avLst/>
          </a:prstGeom>
          <a:noFill/>
          <a:ln/>
        </p:spPr>
        <p:txBody>
          <a:bodyPr wrap="square" lIns="68580" tIns="34290" rIns="68580" bIns="34290" rtlCol="0" anchor="t"/>
          <a:lstStyle/>
          <a:p>
            <a:pPr algn="l" indent="0" marL="0">
              <a:buNone/>
            </a:pPr>
            <a:r>
              <a:rPr lang="en-US" sz="1300" dirty="0">
                <a:solidFill>
                  <a:srgbClr val="F1D5EC"/>
                </a:solidFill>
                <a:latin typeface="Poppins" pitchFamily="34" charset="0"/>
                <a:ea typeface="Poppins" pitchFamily="34" charset="-122"/>
                <a:cs typeface="Poppins" pitchFamily="34" charset="-120"/>
              </a:rPr>
              <a:t>A Provenance Audit and Leakage-Aware Benchmark of Lightweight Seizure-Type Classifiers</a:t>
            </a:r>
            <a:endParaRPr lang="en-US" sz="1300" dirty="0"/>
          </a:p>
        </p:txBody>
      </p:sp>
      <p:pic>
        <p:nvPicPr>
          <p:cNvPr id="7" name="Image 1" descr="/workspace/slides/beed-deck-3SjUFH/family/assets/pill.png">    </p:cNvPr>
          <p:cNvPicPr>
            <a:picLocks noChangeAspect="1"/>
          </p:cNvPicPr>
          <p:nvPr/>
        </p:nvPicPr>
        <p:blipFill>
          <a:blip r:embed="rId3"/>
          <a:stretch>
            <a:fillRect/>
          </a:stretch>
        </p:blipFill>
        <p:spPr>
          <a:xfrm>
            <a:off x="411480" y="2560320"/>
            <a:ext cx="2148840" cy="347472"/>
          </a:xfrm>
          <a:prstGeom prst="rect">
            <a:avLst/>
          </a:prstGeom>
        </p:spPr>
      </p:pic>
      <p:sp>
        <p:nvSpPr>
          <p:cNvPr id="8" name="Text 4"/>
          <p:cNvSpPr/>
          <p:nvPr/>
        </p:nvSpPr>
        <p:spPr>
          <a:xfrm>
            <a:off x="411480" y="2578608"/>
            <a:ext cx="2148840" cy="310896"/>
          </a:xfrm>
          <a:prstGeom prst="rect">
            <a:avLst/>
          </a:prstGeom>
          <a:noFill/>
          <a:ln/>
        </p:spPr>
        <p:txBody>
          <a:bodyPr wrap="square" lIns="68580" tIns="34290" rIns="68580" bIns="34290" rtlCol="0" anchor="t"/>
          <a:lstStyle/>
          <a:p>
            <a:pPr algn="ctr" indent="0" marL="0">
              <a:buNone/>
            </a:pPr>
            <a:r>
              <a:rPr lang="en-US" sz="1400" b="1" dirty="0">
                <a:solidFill>
                  <a:srgbClr val="2A2C86"/>
                </a:solidFill>
                <a:latin typeface="Kanit" pitchFamily="34" charset="0"/>
                <a:ea typeface="Kanit" pitchFamily="34" charset="-122"/>
                <a:cs typeface="Kanit" pitchFamily="34" charset="-120"/>
              </a:rPr>
              <a:t>Er. Rishabh Aryan</a:t>
            </a:r>
            <a:endParaRPr lang="en-US" sz="1400" dirty="0"/>
          </a:p>
        </p:txBody>
      </p:sp>
      <p:sp>
        <p:nvSpPr>
          <p:cNvPr id="9" name="Text 5"/>
          <p:cNvSpPr/>
          <p:nvPr/>
        </p:nvSpPr>
        <p:spPr>
          <a:xfrm>
            <a:off x="411480" y="2990088"/>
            <a:ext cx="8321040" cy="62179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000" b="0" i="0" dirty="0">
                <a:solidFill>
                  <a:srgbClr val="FFFFFF"/>
                </a:solidFill>
                <a:latin typeface="Poppins"/>
                <a:ea typeface="Poppins"/>
                <a:cs typeface="Poppins"/>
              </a:rPr>
              <a:t>M.Tech (Artificial Intelligence and Data Science),</a:t>
            </a:r>
          </a:p>
          <a:p>
            <a:pPr algn="l">
              <a:spcBef>
                <a:spcPts val="0"/>
              </a:spcBef>
              <a:spcAft>
                <a:spcPts val="0"/>
              </a:spcAft>
              <a:buNone/>
            </a:pPr>
            <a:r>
              <a:rPr lang="en-US" sz="1000" b="0" i="0" dirty="0">
                <a:solidFill>
                  <a:srgbClr val="FFFFFF"/>
                </a:solidFill>
                <a:latin typeface="Poppins"/>
                <a:ea typeface="Poppins"/>
                <a:cs typeface="Poppins"/>
              </a:rPr>
              <a:t>Department of Computer Science and Engineering,</a:t>
            </a:r>
          </a:p>
          <a:p>
            <a:pPr algn="l">
              <a:spcBef>
                <a:spcPts val="0"/>
              </a:spcBef>
              <a:spcAft>
                <a:spcPts val="0"/>
              </a:spcAft>
              <a:buNone/>
            </a:pPr>
            <a:r>
              <a:rPr lang="en-US" sz="1000" b="0" i="0" dirty="0">
                <a:solidFill>
                  <a:srgbClr val="FFFFFF"/>
                </a:solidFill>
                <a:latin typeface="Poppins"/>
                <a:ea typeface="Poppins"/>
                <a:cs typeface="Poppins"/>
              </a:rPr>
              <a:t>Indian Institute of Information Technology, Bhagalpur (Bihar)</a:t>
            </a:r>
          </a:p>
        </p:txBody>
      </p:sp>
      <p:sp>
        <p:nvSpPr>
          <p:cNvPr id="10" name="Text 6"/>
          <p:cNvSpPr/>
          <p:nvPr/>
        </p:nvSpPr>
        <p:spPr>
          <a:xfrm>
            <a:off x="411480" y="3639312"/>
            <a:ext cx="8321040"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000" b="0" i="0" dirty="0">
                <a:solidFill>
                  <a:srgbClr val="D9D2F3"/>
                </a:solidFill>
                <a:latin typeface="Poppins"/>
                <a:ea typeface="Poppins"/>
                <a:cs typeface="Poppins"/>
              </a:rPr>
              <a:t>E-mail: rishabh.250201011@iiitbh.ac.in</a:t>
            </a:r>
          </a:p>
          <a:p>
            <a:pPr algn="l">
              <a:spcBef>
                <a:spcPts val="0"/>
              </a:spcBef>
              <a:spcAft>
                <a:spcPts val="0"/>
              </a:spcAft>
              <a:buNone/>
            </a:pPr>
            <a:r>
              <a:rPr lang="en-US" sz="1000" b="0" i="0" dirty="0">
                <a:solidFill>
                  <a:srgbClr val="D9D2F3"/>
                </a:solidFill>
                <a:latin typeface="Poppins"/>
                <a:ea typeface="Poppins"/>
                <a:cs typeface="Poppins"/>
              </a:rPr>
              <a:t>ORCID ID: https://orcid.org/0009-0004-7595-9440</a:t>
            </a:r>
          </a:p>
        </p:txBody>
      </p:sp>
      <p:sp>
        <p:nvSpPr>
          <p:cNvPr id="11" name="Shape 7"/>
          <p:cNvSpPr/>
          <p:nvPr/>
        </p:nvSpPr>
        <p:spPr>
          <a:xfrm>
            <a:off x="0" y="4315968"/>
            <a:ext cx="9144000" cy="827532"/>
          </a:xfrm>
          <a:prstGeom prst="rect">
            <a:avLst/>
          </a:prstGeom>
          <a:solidFill>
            <a:srgbClr val="EDE6F8"/>
          </a:solidFill>
          <a:ln/>
        </p:spPr>
      </p:sp>
      <p:pic>
        <p:nvPicPr>
          <p:cNvPr id="12" name="Image 2" descr="/workspace/slides/beed-deck-3SjUFH/family/assets/organiser_strip.png">    </p:cNvPr>
          <p:cNvPicPr>
            <a:picLocks noChangeAspect="1"/>
          </p:cNvPicPr>
          <p:nvPr/>
        </p:nvPicPr>
        <p:blipFill>
          <a:blip r:embed="rId4"/>
          <a:stretch>
            <a:fillRect/>
          </a:stretch>
        </p:blipFill>
        <p:spPr>
          <a:xfrm>
            <a:off x="1828800" y="4389120"/>
            <a:ext cx="4572000" cy="685800"/>
          </a:xfrm>
          <a:prstGeom prst="rect">
            <a:avLst/>
          </a:prstGeom>
        </p:spPr>
      </p:pic>
      <p:sp>
        <p:nvSpPr>
          <p:cNvPr id="13" name="Text 8"/>
          <p:cNvSpPr/>
          <p:nvPr/>
        </p:nvSpPr>
        <p:spPr>
          <a:xfrm>
            <a:off x="6492240" y="4572000"/>
            <a:ext cx="2286000" cy="320040"/>
          </a:xfrm>
          <a:prstGeom prst="rect">
            <a:avLst/>
          </a:prstGeom>
          <a:noFill/>
          <a:ln/>
        </p:spPr>
        <p:txBody>
          <a:bodyPr wrap="square" lIns="68580" tIns="34290" rIns="68580" bIns="34290" rtlCol="0" anchor="t"/>
          <a:lstStyle/>
          <a:p>
            <a:pPr algn="r" indent="0" marL="0">
              <a:buNone/>
            </a:pPr>
            <a:r>
              <a:rPr lang="en-US" sz="1100" b="1" dirty="0">
                <a:solidFill>
                  <a:srgbClr val="2A2C86"/>
                </a:solidFill>
                <a:latin typeface="Kanit" pitchFamily="34" charset="0"/>
                <a:ea typeface="Kanit" pitchFamily="34" charset="-122"/>
                <a:cs typeface="Kanit" pitchFamily="34" charset="-120"/>
              </a:rPr>
              <a:t>NIELIT Bio-AI Conclave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21208" y="602590"/>
            <a:ext cx="8100670" cy="83119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4400" b="0" i="0" dirty="0">
                <a:solidFill>
                  <a:srgbClr val="17173A"/>
                </a:solidFill>
                <a:latin typeface="Kanit"/>
                <a:ea typeface="Kanit"/>
                <a:cs typeface="Kanit"/>
              </a:rPr>
              <a:t>Outline</a:t>
            </a:r>
          </a:p>
        </p:txBody>
      </p:sp>
      <p:sp>
        <p:nvSpPr>
          <p:cNvPr id="3" name="Shape 1"/>
          <p:cNvSpPr/>
          <p:nvPr/>
        </p:nvSpPr>
        <p:spPr>
          <a:xfrm>
            <a:off x="0" y="1481328"/>
            <a:ext cx="9144000" cy="0"/>
          </a:xfrm>
          <a:prstGeom prst="line">
            <a:avLst/>
          </a:prstGeom>
          <a:noFill/>
          <a:ln w="19050">
            <a:solidFill>
              <a:srgbClr val="17173A"/>
            </a:solidFill>
            <a:prstDash val="solid"/>
          </a:ln>
        </p:spPr>
      </p:sp>
      <p:pic>
        <p:nvPicPr>
          <p:cNvPr id="16"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7" name="Shape 14"/>
          <p:cNvSpPr/>
          <p:nvPr/>
        </p:nvSpPr>
        <p:spPr>
          <a:xfrm>
            <a:off x="0" y="4796028"/>
            <a:ext cx="9144000" cy="347472"/>
          </a:xfrm>
          <a:prstGeom prst="rect">
            <a:avLst/>
          </a:prstGeom>
          <a:solidFill>
            <a:srgbClr val="EDE6F8"/>
          </a:solidFill>
          <a:ln/>
        </p:spPr>
      </p:sp>
      <p:sp>
        <p:nvSpPr>
          <p:cNvPr id="18" name="Shape 15"/>
          <p:cNvSpPr/>
          <p:nvPr/>
        </p:nvSpPr>
        <p:spPr>
          <a:xfrm>
            <a:off x="0" y="4796028"/>
            <a:ext cx="109728" cy="347472"/>
          </a:xfrm>
          <a:prstGeom prst="rect">
            <a:avLst/>
          </a:prstGeom>
          <a:solidFill>
            <a:srgbClr val="5B2C91"/>
          </a:solidFill>
          <a:ln/>
        </p:spPr>
      </p:sp>
      <p:pic>
        <p:nvPicPr>
          <p:cNvPr id="19"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0" name="Text 16"/>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1" name="Text 17"/>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2 / 16</a:t>
            </a:r>
            <a:endParaRPr lang="en-US" sz="850" dirty="0"/>
          </a:p>
        </p:txBody>
      </p:sp>
      <p:sp>
        <p:nvSpPr>
          <p:cNvPr id="901" name="Outline 1"/>
          <p:cNvSpPr txBox="1"/>
          <p:nvPr/>
        </p:nvSpPr>
        <p:spPr>
          <a:xfrm>
            <a:off x="731520" y="1783080"/>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1.  </a:t>
            </a:r>
            <a:r>
              <a:rPr lang="en-US" sz="2000" b="0" i="0" dirty="0">
                <a:solidFill>
                  <a:srgbClr val="17173A"/>
                </a:solidFill>
                <a:latin typeface="Kanit"/>
                <a:ea typeface="Kanit"/>
                <a:cs typeface="Kanit"/>
              </a:rPr>
              <a:t>Introduction</a:t>
            </a:r>
          </a:p>
          <a:p>
            <a:pPr algn="l">
              <a:spcBef>
                <a:spcPts val="0"/>
              </a:spcBef>
              <a:spcAft>
                <a:spcPts val="0"/>
              </a:spcAft>
              <a:buNone/>
            </a:pPr>
            <a:r>
              <a:rPr lang="en-US" sz="1200" b="0" i="0" dirty="0">
                <a:solidFill>
                  <a:srgbClr val="17173A"/>
                </a:solidFill>
                <a:latin typeface="Poppins"/>
                <a:ea typeface="Poppins"/>
                <a:cs typeface="Poppins"/>
              </a:rPr>
              <a:t>Motivation, the BEED dataset, research questions</a:t>
            </a:r>
          </a:p>
        </p:txBody>
      </p:sp>
      <p:sp>
        <p:nvSpPr>
          <p:cNvPr id="902" name="Outline 2"/>
          <p:cNvSpPr txBox="1"/>
          <p:nvPr/>
        </p:nvSpPr>
        <p:spPr>
          <a:xfrm>
            <a:off x="731520" y="2679192"/>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2.  </a:t>
            </a:r>
            <a:r>
              <a:rPr lang="en-US" sz="2000" b="0" i="0" dirty="0">
                <a:solidFill>
                  <a:srgbClr val="17173A"/>
                </a:solidFill>
                <a:latin typeface="Kanit"/>
                <a:ea typeface="Kanit"/>
                <a:cs typeface="Kanit"/>
              </a:rPr>
              <a:t>Dataset Audit</a:t>
            </a:r>
          </a:p>
          <a:p>
            <a:pPr algn="l">
              <a:spcBef>
                <a:spcPts val="0"/>
              </a:spcBef>
              <a:spcAft>
                <a:spcPts val="0"/>
              </a:spcAft>
              <a:buNone/>
            </a:pPr>
            <a:r>
              <a:rPr lang="en-US" sz="1200" b="0" i="0" dirty="0">
                <a:solidFill>
                  <a:srgbClr val="17173A"/>
                </a:solidFill>
                <a:latin typeface="Poppins"/>
                <a:ea typeface="Poppins"/>
                <a:cs typeface="Poppins"/>
              </a:rPr>
              <a:t>Healthy-class provenance, temporal leakage</a:t>
            </a:r>
          </a:p>
        </p:txBody>
      </p:sp>
      <p:sp>
        <p:nvSpPr>
          <p:cNvPr id="903" name="Outline 3"/>
          <p:cNvSpPr txBox="1"/>
          <p:nvPr/>
        </p:nvSpPr>
        <p:spPr>
          <a:xfrm>
            <a:off x="731520" y="3575304"/>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3.  </a:t>
            </a:r>
            <a:r>
              <a:rPr lang="en-US" sz="2000" b="0" i="0" dirty="0">
                <a:solidFill>
                  <a:srgbClr val="17173A"/>
                </a:solidFill>
                <a:latin typeface="Kanit"/>
                <a:ea typeface="Kanit"/>
                <a:cs typeface="Kanit"/>
              </a:rPr>
              <a:t>Methodology</a:t>
            </a:r>
          </a:p>
          <a:p>
            <a:pPr algn="l">
              <a:spcBef>
                <a:spcPts val="0"/>
              </a:spcBef>
              <a:spcAft>
                <a:spcPts val="0"/>
              </a:spcAft>
              <a:buNone/>
            </a:pPr>
            <a:r>
              <a:rPr lang="en-US" sz="1200" b="0" i="0" dirty="0">
                <a:solidFill>
                  <a:srgbClr val="17173A"/>
                </a:solidFill>
                <a:latin typeface="Poppins"/>
                <a:ea typeface="Poppins"/>
                <a:cs typeface="Poppins"/>
              </a:rPr>
              <a:t>Leakage-safe splits, models and statistical tests</a:t>
            </a:r>
          </a:p>
        </p:txBody>
      </p:sp>
      <p:sp>
        <p:nvSpPr>
          <p:cNvPr id="904" name="Outline 4"/>
          <p:cNvSpPr txBox="1"/>
          <p:nvPr/>
        </p:nvSpPr>
        <p:spPr>
          <a:xfrm>
            <a:off x="4754880" y="1783080"/>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4.  </a:t>
            </a:r>
            <a:r>
              <a:rPr lang="en-US" sz="2000" b="0" i="0" dirty="0">
                <a:solidFill>
                  <a:srgbClr val="17173A"/>
                </a:solidFill>
                <a:latin typeface="Kanit"/>
                <a:ea typeface="Kanit"/>
                <a:cs typeface="Kanit"/>
              </a:rPr>
              <a:t>Results</a:t>
            </a:r>
          </a:p>
          <a:p>
            <a:pPr algn="l">
              <a:spcBef>
                <a:spcPts val="0"/>
              </a:spcBef>
              <a:spcAft>
                <a:spcPts val="0"/>
              </a:spcAft>
              <a:buNone/>
            </a:pPr>
            <a:r>
              <a:rPr lang="en-US" sz="1200" b="0" i="0" dirty="0">
                <a:solidFill>
                  <a:srgbClr val="17173A"/>
                </a:solidFill>
                <a:latin typeface="Poppins"/>
                <a:ea typeface="Poppins"/>
                <a:cs typeface="Poppins"/>
              </a:rPr>
              <a:t>Split comparison, recording fingerprint, computational footprint</a:t>
            </a:r>
          </a:p>
        </p:txBody>
      </p:sp>
      <p:sp>
        <p:nvSpPr>
          <p:cNvPr id="905" name="Outline 5"/>
          <p:cNvSpPr txBox="1"/>
          <p:nvPr/>
        </p:nvSpPr>
        <p:spPr>
          <a:xfrm>
            <a:off x="4754880" y="2679192"/>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5.  </a:t>
            </a:r>
            <a:r>
              <a:rPr lang="en-US" sz="2000" b="0" i="0" dirty="0">
                <a:solidFill>
                  <a:srgbClr val="17173A"/>
                </a:solidFill>
                <a:latin typeface="Kanit"/>
                <a:ea typeface="Kanit"/>
                <a:cs typeface="Kanit"/>
              </a:rPr>
              <a:t>Discussion</a:t>
            </a:r>
          </a:p>
          <a:p>
            <a:pPr algn="l">
              <a:spcBef>
                <a:spcPts val="0"/>
              </a:spcBef>
              <a:spcAft>
                <a:spcPts val="0"/>
              </a:spcAft>
              <a:buNone/>
            </a:pPr>
            <a:r>
              <a:rPr lang="en-US" sz="1200" b="0" i="0" dirty="0">
                <a:solidFill>
                  <a:srgbClr val="17173A"/>
                </a:solidFill>
                <a:latin typeface="Poppins"/>
                <a:ea typeface="Poppins"/>
                <a:cs typeface="Poppins"/>
              </a:rPr>
              <a:t>Limitations of the dataset and the study</a:t>
            </a:r>
          </a:p>
        </p:txBody>
      </p:sp>
      <p:sp>
        <p:nvSpPr>
          <p:cNvPr id="906" name="Outline 6"/>
          <p:cNvSpPr txBox="1"/>
          <p:nvPr/>
        </p:nvSpPr>
        <p:spPr>
          <a:xfrm>
            <a:off x="4754880" y="3575304"/>
            <a:ext cx="3749040" cy="786384"/>
          </a:xfrm>
          <a:prstGeom prst="rect">
            <a:avLst/>
          </a:prstGeom>
          <a:noFill/>
        </p:spPr>
        <p:txBody>
          <a:bodyPr wrap="square" lIns="45720" tIns="27432" rIns="45720" bIns="27432" anchor="t">
            <a:normAutofit/>
          </a:bodyPr>
          <a:lstStyle/>
          <a:p>
            <a:pPr algn="l">
              <a:spcBef>
                <a:spcPts val="0"/>
              </a:spcBef>
              <a:spcAft>
                <a:spcPts val="200"/>
              </a:spcAft>
              <a:buNone/>
            </a:pPr>
            <a:r>
              <a:rPr lang="en-US" sz="2000" b="1" i="0" dirty="0">
                <a:solidFill>
                  <a:srgbClr val="5B2C91"/>
                </a:solidFill>
                <a:latin typeface="Kanit"/>
                <a:ea typeface="Kanit"/>
                <a:cs typeface="Kanit"/>
              </a:rPr>
              <a:t>6.  </a:t>
            </a:r>
            <a:r>
              <a:rPr lang="en-US" sz="2000" b="0" i="0" dirty="0">
                <a:solidFill>
                  <a:srgbClr val="17173A"/>
                </a:solidFill>
                <a:latin typeface="Kanit"/>
                <a:ea typeface="Kanit"/>
                <a:cs typeface="Kanit"/>
              </a:rPr>
              <a:t>Conclusion</a:t>
            </a:r>
          </a:p>
          <a:p>
            <a:pPr algn="l">
              <a:spcBef>
                <a:spcPts val="0"/>
              </a:spcBef>
              <a:spcAft>
                <a:spcPts val="0"/>
              </a:spcAft>
              <a:buNone/>
            </a:pPr>
            <a:r>
              <a:rPr lang="en-US" sz="1200" b="0" i="0" dirty="0">
                <a:solidFill>
                  <a:srgbClr val="17173A"/>
                </a:solidFill>
                <a:latin typeface="Poppins"/>
                <a:ea typeface="Poppins"/>
                <a:cs typeface="Poppins"/>
              </a:rPr>
              <a:t>Takeaways and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7921" y="502920"/>
            <a:ext cx="6949440" cy="6858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200" b="0" i="0" dirty="0">
                <a:solidFill>
                  <a:srgbClr val="17173A"/>
                </a:solidFill>
                <a:latin typeface="Kanit"/>
                <a:ea typeface="Kanit"/>
                <a:cs typeface="Kanit"/>
              </a:rPr>
              <a:t>1. Introduction: Motivation</a:t>
            </a:r>
          </a:p>
        </p:txBody>
      </p:sp>
      <p:pic>
        <p:nvPicPr>
          <p:cNvPr id="990" name="Figure 1" descr="BEED class 2 rows plotted as 16 traces">    </p:cNvPr>
          <p:cNvPicPr>
            <a:picLocks noChangeAspect="1"/>
          </p:cNvPicPr>
          <p:nvPr/>
        </p:nvPicPr>
        <p:blipFill>
          <a:blip r:embed="rIdFig1"/>
          <a:stretch>
            <a:fillRect/>
          </a:stretch>
        </p:blipFill>
        <p:spPr>
          <a:xfrm>
            <a:off x="5074920" y="1325880"/>
            <a:ext cx="3398008" cy="2651760"/>
          </a:xfrm>
          <a:prstGeom prst="rect">
            <a:avLst/>
          </a:prstGeom>
        </p:spPr>
      </p:pic>
      <p:pic>
        <p:nvPicPr>
          <p:cNvPr id="15"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6" name="Shape 13"/>
          <p:cNvSpPr/>
          <p:nvPr/>
        </p:nvSpPr>
        <p:spPr>
          <a:xfrm>
            <a:off x="0" y="4796028"/>
            <a:ext cx="9144000" cy="347472"/>
          </a:xfrm>
          <a:prstGeom prst="rect">
            <a:avLst/>
          </a:prstGeom>
          <a:solidFill>
            <a:srgbClr val="EDE6F8"/>
          </a:solidFill>
          <a:ln/>
        </p:spPr>
      </p:sp>
      <p:sp>
        <p:nvSpPr>
          <p:cNvPr id="17" name="Shape 14"/>
          <p:cNvSpPr/>
          <p:nvPr/>
        </p:nvSpPr>
        <p:spPr>
          <a:xfrm>
            <a:off x="0" y="4796028"/>
            <a:ext cx="109728" cy="347472"/>
          </a:xfrm>
          <a:prstGeom prst="rect">
            <a:avLst/>
          </a:prstGeom>
          <a:solidFill>
            <a:srgbClr val="5B2C91"/>
          </a:solidFill>
          <a:ln/>
        </p:spPr>
      </p:sp>
      <p:pic>
        <p:nvPicPr>
          <p:cNvPr id="18"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9" name="Text 15"/>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0" name="Text 16"/>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3 / 16</a:t>
            </a:r>
            <a:endParaRPr lang="en-US" sz="850" dirty="0"/>
          </a:p>
        </p:txBody>
      </p:sp>
      <p:sp>
        <p:nvSpPr>
          <p:cNvPr id="907" name="Bullets"/>
          <p:cNvSpPr txBox="1"/>
          <p:nvPr/>
        </p:nvSpPr>
        <p:spPr>
          <a:xfrm>
            <a:off x="777240" y="1417320"/>
            <a:ext cx="4206240" cy="2926080"/>
          </a:xfrm>
          <a:prstGeom prst="rect">
            <a:avLst/>
          </a:prstGeom>
          <a:noFill/>
        </p:spPr>
        <p:txBody>
          <a:bodyPr wrap="square" lIns="45720" tIns="27432" rIns="45720" bIns="27432" anchor="t">
            <a:normAutofit/>
          </a:bodyPr>
          <a:lstStyle/>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Epilepsy affects about 50 million people worldwide [4].</a:t>
            </a:r>
          </a:p>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Visual EEG review is expert-intensive and slow.</a:t>
            </a:r>
          </a:p>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Automated seizure-type classification could support clinicians.</a:t>
            </a:r>
          </a:p>
          <a:p>
            <a:pPr marL="274320" indent="-274320" algn="l">
              <a:lnSpc>
                <a:spcPct val="95000"/>
              </a:lnSpc>
              <a:spcBef>
                <a:spcPts val="0"/>
              </a:spcBef>
              <a:spcAft>
                <a:spcPts val="2200"/>
              </a:spcAft>
              <a:buClr>
                <a:srgbClr val="5B2C91"/>
              </a:buClr>
              <a:buSzPct val="150000"/>
              <a:buFont typeface="Kanit"/>
              <a:buChar char="›"/>
            </a:pPr>
            <a:r>
              <a:rPr lang="en-US" sz="1300" b="0" i="0" dirty="0">
                <a:solidFill>
                  <a:srgbClr val="17173A"/>
                </a:solidFill>
                <a:latin typeface="Poppins"/>
                <a:ea typeface="Poppins"/>
                <a:cs typeface="Poppins"/>
              </a:rPr>
              <a:t>Public benchmarks like BEED [1] drive models; their validity matters.</a:t>
            </a:r>
          </a:p>
        </p:txBody>
      </p:sp>
      <p:sp>
        <p:nvSpPr>
          <p:cNvPr id="911" name="Caption 1"/>
          <p:cNvSpPr txBox="1"/>
          <p:nvPr/>
        </p:nvSpPr>
        <p:spPr>
          <a:xfrm>
            <a:off x="5074920" y="4023360"/>
            <a:ext cx="3398008" cy="384048"/>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1. BEED focal-seizure class: 512 consecutive rows drawn as 16 traces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93115" y="384048"/>
            <a:ext cx="6217920" cy="566928"/>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17173A"/>
                </a:solidFill>
                <a:latin typeface="Kanit"/>
                <a:ea typeface="Kanit"/>
                <a:cs typeface="Kanit"/>
              </a:rPr>
              <a:t>1. Introduction: The BEED Dataset</a:t>
            </a:r>
          </a:p>
        </p:txBody>
      </p:sp>
      <p:sp>
        <p:nvSpPr>
          <p:cNvPr id="3" name="Shape 1"/>
          <p:cNvSpPr/>
          <p:nvPr/>
        </p:nvSpPr>
        <p:spPr>
          <a:xfrm>
            <a:off x="0" y="1481328"/>
            <a:ext cx="7001561" cy="0"/>
          </a:xfrm>
          <a:prstGeom prst="line">
            <a:avLst/>
          </a:prstGeom>
          <a:noFill/>
          <a:ln w="19050">
            <a:solidFill>
              <a:srgbClr val="17173A"/>
            </a:solidFill>
            <a:prstDash val="solid"/>
          </a:ln>
        </p:spPr>
      </p:sp>
      <p:sp>
        <p:nvSpPr>
          <p:cNvPr id="4" name="Shape 2"/>
          <p:cNvSpPr/>
          <p:nvPr/>
        </p:nvSpPr>
        <p:spPr>
          <a:xfrm>
            <a:off x="0" y="3039466"/>
            <a:ext cx="7001561" cy="0"/>
          </a:xfrm>
          <a:prstGeom prst="line">
            <a:avLst/>
          </a:prstGeom>
          <a:noFill/>
          <a:ln w="19050">
            <a:solidFill>
              <a:srgbClr val="17173A"/>
            </a:solidFill>
            <a:prstDash val="solid"/>
          </a:ln>
        </p:spPr>
      </p:sp>
      <p:sp>
        <p:nvSpPr>
          <p:cNvPr id="5" name="Shape 3"/>
          <p:cNvSpPr/>
          <p:nvPr/>
        </p:nvSpPr>
        <p:spPr>
          <a:xfrm>
            <a:off x="7001561" y="0"/>
            <a:ext cx="0" cy="4596689"/>
          </a:xfrm>
          <a:prstGeom prst="line">
            <a:avLst/>
          </a:prstGeom>
          <a:noFill/>
          <a:ln w="19050">
            <a:solidFill>
              <a:srgbClr val="17173A"/>
            </a:solidFill>
            <a:prstDash val="solid"/>
          </a:ln>
        </p:spPr>
      </p:sp>
      <p:sp>
        <p:nvSpPr>
          <p:cNvPr id="6" name="Shape 4"/>
          <p:cNvSpPr/>
          <p:nvPr/>
        </p:nvSpPr>
        <p:spPr>
          <a:xfrm>
            <a:off x="3500323" y="1481328"/>
            <a:ext cx="0" cy="3115361"/>
          </a:xfrm>
          <a:prstGeom prst="line">
            <a:avLst/>
          </a:prstGeom>
          <a:noFill/>
          <a:ln w="19050">
            <a:solidFill>
              <a:srgbClr val="17173A"/>
            </a:solidFill>
            <a:prstDash val="solid"/>
          </a:ln>
        </p:spPr>
      </p:sp>
      <p:sp>
        <p:nvSpPr>
          <p:cNvPr id="9" name="Text 7"/>
          <p:cNvSpPr/>
          <p:nvPr/>
        </p:nvSpPr>
        <p:spPr>
          <a:xfrm>
            <a:off x="706831"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0 · Healthy</a:t>
            </a:r>
          </a:p>
        </p:txBody>
      </p:sp>
      <p:sp>
        <p:nvSpPr>
          <p:cNvPr id="10" name="Text 8"/>
          <p:cNvSpPr/>
          <p:nvPr/>
        </p:nvSpPr>
        <p:spPr>
          <a:xfrm>
            <a:off x="706831" y="2236622"/>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2,000 rows; documented as healthy adult subjects [1].</a:t>
            </a:r>
          </a:p>
        </p:txBody>
      </p:sp>
      <p:sp>
        <p:nvSpPr>
          <p:cNvPr id="11" name="Text 9"/>
          <p:cNvSpPr/>
          <p:nvPr/>
        </p:nvSpPr>
        <p:spPr>
          <a:xfrm>
            <a:off x="4022446"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1 · Generalised seizures</a:t>
            </a:r>
          </a:p>
        </p:txBody>
      </p:sp>
      <p:sp>
        <p:nvSpPr>
          <p:cNvPr id="12" name="Text 10"/>
          <p:cNvSpPr/>
          <p:nvPr/>
        </p:nvSpPr>
        <p:spPr>
          <a:xfrm>
            <a:off x="4022446" y="2236622"/>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2,000 rows; seizures involving both hemispheres.</a:t>
            </a:r>
          </a:p>
        </p:txBody>
      </p:sp>
      <p:sp>
        <p:nvSpPr>
          <p:cNvPr id="13" name="Text 11"/>
          <p:cNvSpPr/>
          <p:nvPr/>
        </p:nvSpPr>
        <p:spPr>
          <a:xfrm>
            <a:off x="706831"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2 · Focal seizures</a:t>
            </a:r>
          </a:p>
        </p:txBody>
      </p:sp>
      <p:sp>
        <p:nvSpPr>
          <p:cNvPr id="14" name="Text 12"/>
          <p:cNvSpPr/>
          <p:nvPr/>
        </p:nvSpPr>
        <p:spPr>
          <a:xfrm>
            <a:off x="706831" y="3767328"/>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2,000 rows; onset in a restricted brain region.</a:t>
            </a:r>
          </a:p>
        </p:txBody>
      </p:sp>
      <p:sp>
        <p:nvSpPr>
          <p:cNvPr id="15" name="Text 13"/>
          <p:cNvSpPr/>
          <p:nvPr/>
        </p:nvSpPr>
        <p:spPr>
          <a:xfrm>
            <a:off x="4022446"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3 · Seizure events</a:t>
            </a:r>
          </a:p>
        </p:txBody>
      </p:sp>
      <p:sp>
        <p:nvSpPr>
          <p:cNvPr id="16" name="Text 14"/>
          <p:cNvSpPr/>
          <p:nvPr/>
        </p:nvSpPr>
        <p:spPr>
          <a:xfrm>
            <a:off x="4022446" y="3767328"/>
            <a:ext cx="2697480" cy="65836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2,000 rows; events with blinking or staring behaviours.</a:t>
            </a:r>
          </a:p>
        </p:txBody>
      </p:sp>
      <p:pic>
        <p:nvPicPr>
          <p:cNvPr id="1102" name="Figure 2" descr="One BEED row per class">    </p:cNvPr>
          <p:cNvPicPr>
            <a:picLocks noChangeAspect="1"/>
          </p:cNvPicPr>
          <p:nvPr/>
        </p:nvPicPr>
        <p:blipFill>
          <a:blip r:embed="rIdFig2"/>
          <a:stretch>
            <a:fillRect/>
          </a:stretch>
        </p:blipFill>
        <p:spPr>
          <a:xfrm>
            <a:off x="7132320" y="640080"/>
            <a:ext cx="1856000" cy="2926080"/>
          </a:xfrm>
          <a:prstGeom prst="rect">
            <a:avLst/>
          </a:prstGeom>
        </p:spPr>
      </p:pic>
      <p:pic>
        <p:nvPicPr>
          <p:cNvPr id="17"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8" name="Shape 15"/>
          <p:cNvSpPr/>
          <p:nvPr/>
        </p:nvSpPr>
        <p:spPr>
          <a:xfrm>
            <a:off x="0" y="4796028"/>
            <a:ext cx="9144000" cy="347472"/>
          </a:xfrm>
          <a:prstGeom prst="rect">
            <a:avLst/>
          </a:prstGeom>
          <a:solidFill>
            <a:srgbClr val="EDE6F8"/>
          </a:solidFill>
          <a:ln/>
        </p:spPr>
      </p:sp>
      <p:sp>
        <p:nvSpPr>
          <p:cNvPr id="19" name="Shape 16"/>
          <p:cNvSpPr/>
          <p:nvPr/>
        </p:nvSpPr>
        <p:spPr>
          <a:xfrm>
            <a:off x="0" y="4796028"/>
            <a:ext cx="109728" cy="347472"/>
          </a:xfrm>
          <a:prstGeom prst="rect">
            <a:avLst/>
          </a:prstGeom>
          <a:solidFill>
            <a:srgbClr val="5B2C91"/>
          </a:solidFill>
          <a:ln/>
        </p:spPr>
      </p:sp>
      <p:pic>
        <p:nvPicPr>
          <p:cNvPr id="20"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1" name="Text 17"/>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2" name="Text 18"/>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4 / 16</a:t>
            </a:r>
            <a:endParaRPr lang="en-US" sz="850" dirty="0"/>
          </a:p>
        </p:txBody>
      </p:sp>
      <p:sp>
        <p:nvSpPr>
          <p:cNvPr id="1101" name="Facts"/>
          <p:cNvSpPr txBox="1"/>
          <p:nvPr/>
        </p:nvSpPr>
        <p:spPr>
          <a:xfrm>
            <a:off x="693115" y="969264"/>
            <a:ext cx="6217920" cy="384048"/>
          </a:xfrm>
          <a:prstGeom prst="rect">
            <a:avLst/>
          </a:prstGeom>
          <a:noFill/>
        </p:spPr>
        <p:txBody>
          <a:bodyPr wrap="square" lIns="45720" tIns="27432" rIns="45720" bIns="27432" anchor="t">
            <a:normAutofit/>
          </a:bodyPr>
          <a:lstStyle/>
          <a:p>
            <a:pPr algn="l">
              <a:spcBef>
                <a:spcPts val="0"/>
              </a:spcBef>
              <a:spcAft>
                <a:spcPts val="0"/>
              </a:spcAft>
              <a:buNone/>
            </a:pPr>
            <a:r>
              <a:rPr lang="en-US" sz="1200" b="0" i="0" dirty="0">
                <a:solidFill>
                  <a:srgbClr val="5B2C91"/>
                </a:solidFill>
                <a:latin typeface="Poppins"/>
                <a:ea typeface="Poppins"/>
                <a:cs typeface="Poppins"/>
              </a:rPr>
              <a:t>8,000 rows · 16 values per row (X1–X16) · documented: 16 channels, 256 Hz [1]</a:t>
            </a:r>
          </a:p>
        </p:txBody>
      </p:sp>
      <p:sp>
        <p:nvSpPr>
          <p:cNvPr id="1103" name="Caption"/>
          <p:cNvSpPr txBox="1"/>
          <p:nvPr/>
        </p:nvSpPr>
        <p:spPr>
          <a:xfrm>
            <a:off x="7095744" y="3611880"/>
            <a:ext cx="1965960" cy="6858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2. One BEED row per class; healthy rows show far larger amplitude.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0664" y="640080"/>
            <a:ext cx="4114800" cy="11430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17173A"/>
                </a:solidFill>
                <a:latin typeface="Kanit"/>
                <a:ea typeface="Kanit"/>
                <a:cs typeface="Kanit"/>
              </a:rPr>
              <a:t>1. Introduction:</a:t>
            </a:r>
          </a:p>
          <a:p>
            <a:pPr algn="l">
              <a:spcBef>
                <a:spcPts val="0"/>
              </a:spcBef>
              <a:spcAft>
                <a:spcPts val="0"/>
              </a:spcAft>
              <a:buNone/>
            </a:pPr>
            <a:r>
              <a:rPr lang="en-US" sz="3000" b="0" i="0" dirty="0">
                <a:solidFill>
                  <a:srgbClr val="17173A"/>
                </a:solidFill>
                <a:latin typeface="Kanit"/>
                <a:ea typeface="Kanit"/>
                <a:cs typeface="Kanit"/>
              </a:rPr>
              <a:t>Research Questions</a:t>
            </a:r>
          </a:p>
        </p:txBody>
      </p:sp>
      <p:sp>
        <p:nvSpPr>
          <p:cNvPr id="3" name="Text 1"/>
          <p:cNvSpPr/>
          <p:nvPr/>
        </p:nvSpPr>
        <p:spPr>
          <a:xfrm>
            <a:off x="740664" y="2148840"/>
            <a:ext cx="4160520" cy="2286000"/>
          </a:xfrm>
          <a:prstGeom prst="rect">
            <a:avLst/>
          </a:prstGeom>
          <a:noFill/>
          <a:ln/>
        </p:spPr>
        <p:txBody>
          <a:bodyPr wrap="square" lIns="68580" tIns="34290" rIns="68580" bIns="34290" rtlCol="0" anchor="t">
            <a:normAutofit/>
          </a:bodyPr>
          <a:lstStyle/>
          <a:p>
            <a:pPr algn="l">
              <a:spcBef>
                <a:spcPts val="0"/>
              </a:spcBef>
              <a:spcAft>
                <a:spcPts val="1000"/>
              </a:spcAft>
              <a:buNone/>
            </a:pPr>
            <a:r>
              <a:rPr lang="en-US" sz="1300" b="1" i="0" dirty="0">
                <a:solidFill>
                  <a:srgbClr val="5B2C91"/>
                </a:solidFill>
                <a:latin typeface="Poppins"/>
                <a:ea typeface="Poppins"/>
                <a:cs typeface="Poppins"/>
              </a:rPr>
              <a:t>RQ1  </a:t>
            </a:r>
            <a:r>
              <a:rPr lang="en-US" sz="1300" b="0" i="0" dirty="0">
                <a:solidFill>
                  <a:srgbClr val="17173A"/>
                </a:solidFill>
                <a:latin typeface="Poppins"/>
                <a:ea typeface="Poppins"/>
                <a:cs typeface="Poppins"/>
              </a:rPr>
              <a:t>What do BEED rows and columns represent, and is this the same across classes?</a:t>
            </a:r>
          </a:p>
          <a:p>
            <a:pPr algn="l">
              <a:spcBef>
                <a:spcPts val="0"/>
              </a:spcBef>
              <a:spcAft>
                <a:spcPts val="1000"/>
              </a:spcAft>
              <a:buNone/>
            </a:pPr>
            <a:r>
              <a:rPr lang="en-US" sz="1300" b="1" i="0" dirty="0">
                <a:solidFill>
                  <a:srgbClr val="5B2C91"/>
                </a:solidFill>
                <a:latin typeface="Poppins"/>
                <a:ea typeface="Poppins"/>
                <a:cs typeface="Poppins"/>
              </a:rPr>
              <a:t>RQ2  </a:t>
            </a:r>
            <a:r>
              <a:rPr lang="en-US" sz="1300" b="0" i="0" dirty="0">
                <a:solidFill>
                  <a:srgbClr val="17173A"/>
                </a:solidFill>
                <a:latin typeface="Poppins"/>
                <a:ea typeface="Poppins"/>
                <a:cs typeface="Poppins"/>
              </a:rPr>
              <a:t>How much performance survives evaluation without temporal leakage?</a:t>
            </a:r>
          </a:p>
          <a:p>
            <a:pPr algn="l">
              <a:spcBef>
                <a:spcPts val="0"/>
              </a:spcBef>
              <a:spcAft>
                <a:spcPts val="1000"/>
              </a:spcAft>
              <a:buNone/>
            </a:pPr>
            <a:r>
              <a:rPr lang="en-US" sz="1300" b="1" i="0" dirty="0">
                <a:solidFill>
                  <a:srgbClr val="5B2C91"/>
                </a:solidFill>
                <a:latin typeface="Poppins"/>
                <a:ea typeface="Poppins"/>
                <a:cs typeface="Poppins"/>
              </a:rPr>
              <a:t>RQ3  </a:t>
            </a:r>
            <a:r>
              <a:rPr lang="en-US" sz="1300" b="0" i="0" dirty="0">
                <a:solidFill>
                  <a:srgbClr val="17173A"/>
                </a:solidFill>
                <a:latin typeface="Poppins"/>
                <a:ea typeface="Poppins"/>
                <a:cs typeface="Poppins"/>
              </a:rPr>
              <a:t>Once shortcuts are controlled, what separates the three seizure types?</a:t>
            </a:r>
          </a:p>
          <a:p>
            <a:pPr algn="l">
              <a:spcBef>
                <a:spcPts val="0"/>
              </a:spcBef>
              <a:spcAft>
                <a:spcPts val="0"/>
              </a:spcAft>
              <a:buNone/>
            </a:pPr>
            <a:r>
              <a:rPr lang="en-US" sz="1300" b="1" i="0" dirty="0">
                <a:solidFill>
                  <a:srgbClr val="5B2C91"/>
                </a:solidFill>
                <a:latin typeface="Poppins"/>
                <a:ea typeface="Poppins"/>
                <a:cs typeface="Poppins"/>
              </a:rPr>
              <a:t>RQ4  </a:t>
            </a:r>
            <a:r>
              <a:rPr lang="en-US" sz="1300" b="0" i="0" dirty="0">
                <a:solidFill>
                  <a:srgbClr val="17173A"/>
                </a:solidFill>
                <a:latin typeface="Poppins"/>
                <a:ea typeface="Poppins"/>
                <a:cs typeface="Poppins"/>
              </a:rPr>
              <a:t>What is the computational footprint on a general-purpose CPU?</a:t>
            </a:r>
          </a:p>
        </p:txBody>
      </p:sp>
      <p:sp>
        <p:nvSpPr>
          <p:cNvPr id="4" name="Shape 2"/>
          <p:cNvSpPr/>
          <p:nvPr/>
        </p:nvSpPr>
        <p:spPr>
          <a:xfrm>
            <a:off x="5010912" y="0"/>
            <a:ext cx="0" cy="4596689"/>
          </a:xfrm>
          <a:prstGeom prst="line">
            <a:avLst/>
          </a:prstGeom>
          <a:noFill/>
          <a:ln w="19050">
            <a:solidFill>
              <a:srgbClr val="17173A"/>
            </a:solidFill>
            <a:prstDash val="solid"/>
          </a:ln>
        </p:spPr>
      </p:sp>
      <p:sp>
        <p:nvSpPr>
          <p:cNvPr id="5" name="Shape 3"/>
          <p:cNvSpPr/>
          <p:nvPr/>
        </p:nvSpPr>
        <p:spPr>
          <a:xfrm>
            <a:off x="5010912" y="2298802"/>
            <a:ext cx="4133088" cy="0"/>
          </a:xfrm>
          <a:prstGeom prst="line">
            <a:avLst/>
          </a:prstGeom>
          <a:noFill/>
          <a:ln w="19050">
            <a:solidFill>
              <a:srgbClr val="17173A"/>
            </a:solidFill>
            <a:prstDash val="solid"/>
          </a:ln>
        </p:spPr>
      </p:sp>
      <p:sp>
        <p:nvSpPr>
          <p:cNvPr id="6" name="Text 4"/>
          <p:cNvSpPr/>
          <p:nvPr/>
        </p:nvSpPr>
        <p:spPr>
          <a:xfrm>
            <a:off x="5565953" y="685800"/>
            <a:ext cx="333756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Random row split</a:t>
            </a:r>
          </a:p>
        </p:txBody>
      </p:sp>
      <p:sp>
        <p:nvSpPr>
          <p:cNvPr id="7" name="Text 5"/>
          <p:cNvSpPr/>
          <p:nvPr/>
        </p:nvSpPr>
        <p:spPr>
          <a:xfrm>
            <a:off x="5565953" y="1188720"/>
            <a:ext cx="3337560" cy="868680"/>
          </a:xfrm>
          <a:prstGeom prst="rect">
            <a:avLst/>
          </a:prstGeom>
          <a:noFill/>
          <a:ln/>
        </p:spPr>
        <p:txBody>
          <a:bodyPr wrap="square" lIns="68580" tIns="34290" rIns="68580" bIns="34290" rtlCol="0" anchor="t">
            <a:normAutofit/>
          </a:bodyPr>
          <a:lstStyle/>
          <a:p>
            <a:pPr algn="l">
              <a:spcBef>
                <a:spcPts val="0"/>
              </a:spcBef>
              <a:spcAft>
                <a:spcPts val="600"/>
              </a:spcAft>
              <a:buNone/>
            </a:pPr>
            <a:r>
              <a:rPr lang="en-US" sz="1200" b="0" i="0" dirty="0">
                <a:solidFill>
                  <a:srgbClr val="17173A"/>
                </a:solidFill>
                <a:latin typeface="Poppins"/>
                <a:ea typeface="Poppins"/>
                <a:cs typeface="Poppins"/>
              </a:rPr>
              <a:t>Standard practice in prior BEED studies.</a:t>
            </a:r>
          </a:p>
          <a:p>
            <a:pPr algn="l">
              <a:spcBef>
                <a:spcPts val="0"/>
              </a:spcBef>
              <a:spcAft>
                <a:spcPts val="0"/>
              </a:spcAft>
              <a:buNone/>
            </a:pPr>
            <a:r>
              <a:rPr lang="en-US" sz="1200" b="0" i="0" dirty="0">
                <a:solidFill>
                  <a:srgbClr val="17173A"/>
                </a:solidFill>
                <a:latin typeface="Poppins"/>
                <a:ea typeface="Poppins"/>
                <a:cs typeface="Poppins"/>
              </a:rPr>
              <a:t>Adjacent rows can land in train and test.</a:t>
            </a:r>
          </a:p>
        </p:txBody>
      </p:sp>
      <p:sp>
        <p:nvSpPr>
          <p:cNvPr id="8" name="Text 6"/>
          <p:cNvSpPr/>
          <p:nvPr/>
        </p:nvSpPr>
        <p:spPr>
          <a:xfrm>
            <a:off x="5565953" y="2697480"/>
            <a:ext cx="333756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Leakage-safe block split</a:t>
            </a:r>
          </a:p>
        </p:txBody>
      </p:sp>
      <p:sp>
        <p:nvSpPr>
          <p:cNvPr id="9" name="Text 7"/>
          <p:cNvSpPr/>
          <p:nvPr/>
        </p:nvSpPr>
        <p:spPr>
          <a:xfrm>
            <a:off x="5565953" y="3200400"/>
            <a:ext cx="3337560" cy="868680"/>
          </a:xfrm>
          <a:prstGeom prst="rect">
            <a:avLst/>
          </a:prstGeom>
          <a:noFill/>
          <a:ln/>
        </p:spPr>
        <p:txBody>
          <a:bodyPr wrap="square" lIns="68580" tIns="34290" rIns="68580" bIns="34290" rtlCol="0" anchor="t">
            <a:normAutofit/>
          </a:bodyPr>
          <a:lstStyle/>
          <a:p>
            <a:pPr algn="l">
              <a:spcBef>
                <a:spcPts val="0"/>
              </a:spcBef>
              <a:spcAft>
                <a:spcPts val="600"/>
              </a:spcAft>
              <a:buNone/>
            </a:pPr>
            <a:r>
              <a:rPr lang="en-US" sz="1200" b="0" i="0" dirty="0">
                <a:solidFill>
                  <a:srgbClr val="17173A"/>
                </a:solidFill>
                <a:latin typeface="Poppins"/>
                <a:ea typeface="Poppins"/>
                <a:cs typeface="Poppins"/>
              </a:rPr>
              <a:t>Blocked CV: 200-row blocks.</a:t>
            </a:r>
          </a:p>
          <a:p>
            <a:pPr algn="l">
              <a:spcBef>
                <a:spcPts val="0"/>
              </a:spcBef>
              <a:spcAft>
                <a:spcPts val="600"/>
              </a:spcAft>
              <a:buNone/>
            </a:pPr>
            <a:r>
              <a:rPr lang="en-US" sz="1200" b="0" i="0" dirty="0">
                <a:solidFill>
                  <a:srgbClr val="17173A"/>
                </a:solidFill>
                <a:latin typeface="Poppins"/>
                <a:ea typeface="Poppins"/>
                <a:cs typeface="Poppins"/>
              </a:rPr>
              <a:t>Rolling origin: five 20% test blocks.</a:t>
            </a:r>
          </a:p>
          <a:p>
            <a:pPr algn="l">
              <a:spcBef>
                <a:spcPts val="0"/>
              </a:spcBef>
              <a:spcAft>
                <a:spcPts val="0"/>
              </a:spcAft>
              <a:buNone/>
            </a:pPr>
            <a:r>
              <a:rPr lang="en-US" sz="1200" b="0" i="0" dirty="0">
                <a:solidFill>
                  <a:srgbClr val="17173A"/>
                </a:solidFill>
                <a:latin typeface="Poppins"/>
                <a:ea typeface="Poppins"/>
                <a:cs typeface="Poppins"/>
              </a:rPr>
              <a:t>50-row purge gaps on both sides.</a:t>
            </a:r>
          </a:p>
        </p:txBody>
      </p:sp>
      <p:pic>
        <p:nvPicPr>
          <p:cNvPr id="1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1" name="Shape 8"/>
          <p:cNvSpPr/>
          <p:nvPr/>
        </p:nvSpPr>
        <p:spPr>
          <a:xfrm>
            <a:off x="0" y="4796028"/>
            <a:ext cx="9144000" cy="347472"/>
          </a:xfrm>
          <a:prstGeom prst="rect">
            <a:avLst/>
          </a:prstGeom>
          <a:solidFill>
            <a:srgbClr val="EDE6F8"/>
          </a:solidFill>
          <a:ln/>
        </p:spPr>
      </p:sp>
      <p:sp>
        <p:nvSpPr>
          <p:cNvPr id="12" name="Shape 9"/>
          <p:cNvSpPr/>
          <p:nvPr/>
        </p:nvSpPr>
        <p:spPr>
          <a:xfrm>
            <a:off x="0" y="4796028"/>
            <a:ext cx="109728" cy="347472"/>
          </a:xfrm>
          <a:prstGeom prst="rect">
            <a:avLst/>
          </a:prstGeom>
          <a:solidFill>
            <a:srgbClr val="5B2C91"/>
          </a:solidFill>
          <a:ln/>
        </p:spPr>
      </p:sp>
      <p:pic>
        <p:nvPicPr>
          <p:cNvPr id="1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4" name="Text 1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5" name="Text 1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5 / 16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78485" y="502920"/>
            <a:ext cx="4434840" cy="146304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600" b="0" i="0" dirty="0">
                <a:solidFill>
                  <a:srgbClr val="17173A"/>
                </a:solidFill>
                <a:latin typeface="Kanit"/>
                <a:ea typeface="Kanit"/>
                <a:cs typeface="Kanit"/>
              </a:rPr>
              <a:t>2. Dataset Audit:</a:t>
            </a:r>
          </a:p>
          <a:p>
            <a:pPr algn="l">
              <a:lnSpc>
                <a:spcPct val="90000"/>
              </a:lnSpc>
              <a:spcBef>
                <a:spcPts val="0"/>
              </a:spcBef>
              <a:spcAft>
                <a:spcPts val="0"/>
              </a:spcAft>
              <a:buNone/>
            </a:pPr>
            <a:r>
              <a:rPr lang="en-US" sz="2600" b="0" i="0" dirty="0">
                <a:solidFill>
                  <a:srgbClr val="17173A"/>
                </a:solidFill>
                <a:latin typeface="Kanit"/>
                <a:ea typeface="Kanit"/>
                <a:cs typeface="Kanit"/>
              </a:rPr>
              <a:t>Where the Healthy Class Comes From</a:t>
            </a:r>
          </a:p>
        </p:txBody>
      </p:sp>
      <p:sp>
        <p:nvSpPr>
          <p:cNvPr id="3" name="Shape 1"/>
          <p:cNvSpPr/>
          <p:nvPr/>
        </p:nvSpPr>
        <p:spPr>
          <a:xfrm>
            <a:off x="5250485" y="0"/>
            <a:ext cx="0" cy="4596689"/>
          </a:xfrm>
          <a:prstGeom prst="line">
            <a:avLst/>
          </a:prstGeom>
          <a:noFill/>
          <a:ln w="19050">
            <a:solidFill>
              <a:srgbClr val="17173A"/>
            </a:solidFill>
            <a:prstDash val="solid"/>
          </a:ln>
        </p:spPr>
      </p:sp>
      <p:sp>
        <p:nvSpPr>
          <p:cNvPr id="6" name="Text 4"/>
          <p:cNvSpPr/>
          <p:nvPr/>
        </p:nvSpPr>
        <p:spPr>
          <a:xfrm>
            <a:off x="5577840" y="685800"/>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Match</a:t>
            </a:r>
          </a:p>
        </p:txBody>
      </p:sp>
      <p:sp>
        <p:nvSpPr>
          <p:cNvPr id="7" name="Text 5"/>
          <p:cNvSpPr/>
          <p:nvPr/>
        </p:nvSpPr>
        <p:spPr>
          <a:xfrm>
            <a:off x="6675120" y="685800"/>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All 2,000 healthy rows are identical to UCI windows [3], all at samples 159–174; classes 1–3: none.</a:t>
            </a:r>
          </a:p>
        </p:txBody>
      </p:sp>
      <p:sp>
        <p:nvSpPr>
          <p:cNvPr id="8" name="Text 6"/>
          <p:cNvSpPr/>
          <p:nvPr/>
        </p:nvSpPr>
        <p:spPr>
          <a:xfrm>
            <a:off x="5577840" y="1664208"/>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Source</a:t>
            </a:r>
          </a:p>
        </p:txBody>
      </p:sp>
      <p:sp>
        <p:nvSpPr>
          <p:cNvPr id="9" name="Text 7"/>
          <p:cNvSpPr/>
          <p:nvPr/>
        </p:nvSpPr>
        <p:spPr>
          <a:xfrm>
            <a:off x="6675120" y="1664208"/>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Bonn set B, eyes closed, 173.61 Hz [2]; classes 1–3: 256 Hz.</a:t>
            </a:r>
          </a:p>
        </p:txBody>
      </p:sp>
      <p:sp>
        <p:nvSpPr>
          <p:cNvPr id="10" name="Text 8"/>
          <p:cNvSpPr/>
          <p:nvPr/>
        </p:nvSpPr>
        <p:spPr>
          <a:xfrm>
            <a:off x="5577840" y="2642616"/>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UCI page</a:t>
            </a:r>
          </a:p>
        </p:txBody>
      </p:sp>
      <p:sp>
        <p:nvSpPr>
          <p:cNvPr id="11" name="Text 9"/>
          <p:cNvSpPr/>
          <p:nvPr/>
        </p:nvSpPr>
        <p:spPr>
          <a:xfrm>
            <a:off x="6675120" y="2642616"/>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Describes 80 × 200 = 16,000 segments, binary y; file: 8,000 rows, 4 classes, no subject IDs.</a:t>
            </a:r>
          </a:p>
        </p:txBody>
      </p:sp>
      <p:sp>
        <p:nvSpPr>
          <p:cNvPr id="12" name="Text 10"/>
          <p:cNvSpPr/>
          <p:nvPr/>
        </p:nvSpPr>
        <p:spPr>
          <a:xfrm>
            <a:off x="5577840" y="3621024"/>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Effect</a:t>
            </a:r>
          </a:p>
        </p:txBody>
      </p:sp>
      <p:sp>
        <p:nvSpPr>
          <p:cNvPr id="13" name="Text 11"/>
          <p:cNvSpPr/>
          <p:nvPr/>
        </p:nvSpPr>
        <p:spPr>
          <a:xfrm>
            <a:off x="6675120" y="3621024"/>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A single smoothness threshold separates healthy rows (accuracy 0.997).</a:t>
            </a:r>
          </a:p>
        </p:txBody>
      </p:sp>
      <p:pic>
        <p:nvPicPr>
          <p:cNvPr id="1104" name="Figure 3" descr="BEED healthy row matched inside a Bonn segment">    </p:cNvPr>
          <p:cNvPicPr>
            <a:picLocks noChangeAspect="1"/>
          </p:cNvPicPr>
          <p:nvPr/>
        </p:nvPicPr>
        <p:blipFill>
          <a:blip r:embed="rIdFig3"/>
          <a:stretch>
            <a:fillRect/>
          </a:stretch>
        </p:blipFill>
        <p:spPr>
          <a:xfrm>
            <a:off x="182880" y="2514600"/>
            <a:ext cx="4892040" cy="1502910"/>
          </a:xfrm>
          <a:prstGeom prst="rect">
            <a:avLst/>
          </a:prstGeom>
        </p:spPr>
      </p:pic>
      <p:pic>
        <p:nvPicPr>
          <p:cNvPr id="14"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5" name="Shape 12"/>
          <p:cNvSpPr/>
          <p:nvPr/>
        </p:nvSpPr>
        <p:spPr>
          <a:xfrm>
            <a:off x="0" y="4796028"/>
            <a:ext cx="9144000" cy="347472"/>
          </a:xfrm>
          <a:prstGeom prst="rect">
            <a:avLst/>
          </a:prstGeom>
          <a:solidFill>
            <a:srgbClr val="EDE6F8"/>
          </a:solidFill>
          <a:ln/>
        </p:spPr>
      </p:sp>
      <p:sp>
        <p:nvSpPr>
          <p:cNvPr id="16" name="Shape 13"/>
          <p:cNvSpPr/>
          <p:nvPr/>
        </p:nvSpPr>
        <p:spPr>
          <a:xfrm>
            <a:off x="0" y="4796028"/>
            <a:ext cx="109728" cy="347472"/>
          </a:xfrm>
          <a:prstGeom prst="rect">
            <a:avLst/>
          </a:prstGeom>
          <a:solidFill>
            <a:srgbClr val="5B2C91"/>
          </a:solidFill>
          <a:ln/>
        </p:spPr>
      </p:sp>
      <p:pic>
        <p:nvPicPr>
          <p:cNvPr id="17"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8" name="Text 14"/>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9" name="Text 15"/>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6 / 16</a:t>
            </a:r>
            <a:endParaRPr lang="en-US" sz="850" dirty="0"/>
          </a:p>
        </p:txBody>
      </p:sp>
      <p:sp>
        <p:nvSpPr>
          <p:cNvPr id="1105" name="Caption"/>
          <p:cNvSpPr txBox="1"/>
          <p:nvPr/>
        </p:nvSpPr>
        <p:spPr>
          <a:xfrm>
            <a:off x="182880" y="4090662"/>
            <a:ext cx="4892040" cy="41148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3. A BEED healthy row identical to a Bonn set-B window (a); matches per class (b).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20878" y="457200"/>
            <a:ext cx="4480560" cy="105156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FFFFFF"/>
                </a:solidFill>
                <a:latin typeface="Kanit"/>
                <a:ea typeface="Kanit"/>
                <a:cs typeface="Kanit"/>
              </a:rPr>
              <a:t>2. Dataset Audit:</a:t>
            </a:r>
          </a:p>
          <a:p>
            <a:pPr algn="l">
              <a:spcBef>
                <a:spcPts val="0"/>
              </a:spcBef>
              <a:spcAft>
                <a:spcPts val="0"/>
              </a:spcAft>
              <a:buNone/>
            </a:pPr>
            <a:r>
              <a:rPr lang="en-US" sz="3000" b="0" i="0" dirty="0">
                <a:solidFill>
                  <a:srgbClr val="FFFFFF"/>
                </a:solidFill>
                <a:latin typeface="Kanit"/>
                <a:ea typeface="Kanit"/>
                <a:cs typeface="Kanit"/>
              </a:rPr>
              <a:t>Temporal Leakage</a:t>
            </a:r>
          </a:p>
        </p:txBody>
      </p:sp>
      <p:sp>
        <p:nvSpPr>
          <p:cNvPr id="3" name="Text 1"/>
          <p:cNvSpPr/>
          <p:nvPr/>
        </p:nvSpPr>
        <p:spPr>
          <a:xfrm>
            <a:off x="620878" y="1645920"/>
            <a:ext cx="4343400" cy="68580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300" b="0" i="0" dirty="0">
                <a:solidFill>
                  <a:srgbClr val="FFFFFF"/>
                </a:solidFill>
                <a:latin typeface="Poppins"/>
                <a:ea typeface="Poppins"/>
                <a:cs typeface="Poppins"/>
              </a:rPr>
              <a:t>Consecutive seizure-class rows are adjacent time points, hence near-duplicates.</a:t>
            </a:r>
          </a:p>
        </p:txBody>
      </p:sp>
      <p:sp>
        <p:nvSpPr>
          <p:cNvPr id="6" name="Text 4"/>
          <p:cNvSpPr/>
          <p:nvPr/>
        </p:nvSpPr>
        <p:spPr>
          <a:xfrm>
            <a:off x="620878" y="2606040"/>
            <a:ext cx="1280160" cy="36576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500" b="0" i="0" dirty="0">
                <a:solidFill>
                  <a:srgbClr val="F1D5EC"/>
                </a:solidFill>
                <a:latin typeface="Kanit"/>
                <a:ea typeface="Kanit"/>
                <a:cs typeface="Kanit"/>
              </a:rPr>
              <a:t>Random split</a:t>
            </a:r>
          </a:p>
        </p:txBody>
      </p:sp>
      <p:sp>
        <p:nvSpPr>
          <p:cNvPr id="7" name="Text 5"/>
          <p:cNvSpPr/>
          <p:nvPr/>
        </p:nvSpPr>
        <p:spPr>
          <a:xfrm>
            <a:off x="1965960" y="2606040"/>
            <a:ext cx="3017520" cy="73152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88–95% of seizure test rows have their neighbouring row in training.</a:t>
            </a:r>
          </a:p>
        </p:txBody>
      </p:sp>
      <p:sp>
        <p:nvSpPr>
          <p:cNvPr id="8" name="Text 6"/>
          <p:cNvSpPr/>
          <p:nvPr/>
        </p:nvSpPr>
        <p:spPr>
          <a:xfrm>
            <a:off x="620878" y="3474720"/>
            <a:ext cx="1280160" cy="36576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500" b="0" i="0" dirty="0">
                <a:solidFill>
                  <a:srgbClr val="F1D5EC"/>
                </a:solidFill>
                <a:latin typeface="Kanit"/>
                <a:ea typeface="Kanit"/>
                <a:cs typeface="Kanit"/>
              </a:rPr>
              <a:t>Implication</a:t>
            </a:r>
          </a:p>
        </p:txBody>
      </p:sp>
      <p:sp>
        <p:nvSpPr>
          <p:cNvPr id="9" name="Text 7"/>
          <p:cNvSpPr/>
          <p:nvPr/>
        </p:nvSpPr>
        <p:spPr>
          <a:xfrm>
            <a:off x="1965960" y="3474720"/>
            <a:ext cx="3017520" cy="73152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Random-split scores measure interpolation, not generalisation.</a:t>
            </a:r>
          </a:p>
        </p:txBody>
      </p:sp>
      <p:pic>
        <p:nvPicPr>
          <p:cNvPr id="1301" name="Figure 4" descr="Macro-F1 versus block size of folds">    </p:cNvPr>
          <p:cNvPicPr>
            <a:picLocks noChangeAspect="1"/>
          </p:cNvPicPr>
          <p:nvPr/>
        </p:nvPicPr>
        <p:blipFill>
          <a:blip r:embed="rIdFig4"/>
          <a:stretch>
            <a:fillRect/>
          </a:stretch>
        </p:blipFill>
        <p:spPr>
          <a:xfrm>
            <a:off x="5349240" y="731520"/>
            <a:ext cx="3611880" cy="2384987"/>
          </a:xfrm>
          <a:prstGeom prst="rect">
            <a:avLst/>
          </a:prstGeom>
        </p:spPr>
      </p:pic>
      <p:pic>
        <p:nvPicPr>
          <p:cNvPr id="1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1" name="Shape 8"/>
          <p:cNvSpPr/>
          <p:nvPr/>
        </p:nvSpPr>
        <p:spPr>
          <a:xfrm>
            <a:off x="0" y="4796028"/>
            <a:ext cx="9144000" cy="347472"/>
          </a:xfrm>
          <a:prstGeom prst="rect">
            <a:avLst/>
          </a:prstGeom>
          <a:solidFill>
            <a:srgbClr val="EDE6F8"/>
          </a:solidFill>
          <a:ln/>
        </p:spPr>
      </p:sp>
      <p:sp>
        <p:nvSpPr>
          <p:cNvPr id="12" name="Shape 9"/>
          <p:cNvSpPr/>
          <p:nvPr/>
        </p:nvSpPr>
        <p:spPr>
          <a:xfrm>
            <a:off x="0" y="4796028"/>
            <a:ext cx="109728" cy="347472"/>
          </a:xfrm>
          <a:prstGeom prst="rect">
            <a:avLst/>
          </a:prstGeom>
          <a:solidFill>
            <a:srgbClr val="5B2C91"/>
          </a:solidFill>
          <a:ln/>
        </p:spPr>
      </p:sp>
      <p:pic>
        <p:nvPicPr>
          <p:cNvPr id="1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4" name="Text 1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5" name="Text 1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7 / 16</a:t>
            </a:r>
            <a:endParaRPr lang="en-US" sz="850" dirty="0"/>
          </a:p>
        </p:txBody>
      </p:sp>
      <p:sp>
        <p:nvSpPr>
          <p:cNvPr id="1302" name="Caption"/>
          <p:cNvSpPr txBox="1"/>
          <p:nvPr/>
        </p:nvSpPr>
        <p:spPr>
          <a:xfrm>
            <a:off x="5349240" y="3189659"/>
            <a:ext cx="3611880" cy="4572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D9D2F3"/>
                </a:solidFill>
                <a:latin typeface="Poppins"/>
                <a:ea typeface="Poppins"/>
                <a:cs typeface="Poppins"/>
              </a:rPr>
              <a:t>Fig. 4. Macro-F1 falls as folds use longer row blocks.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93115" y="384048"/>
            <a:ext cx="6217920" cy="566928"/>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17173A"/>
                </a:solidFill>
                <a:latin typeface="Kanit"/>
                <a:ea typeface="Kanit"/>
                <a:cs typeface="Kanit"/>
              </a:rPr>
              <a:t>3. Methodology</a:t>
            </a:r>
          </a:p>
        </p:txBody>
      </p:sp>
      <p:sp>
        <p:nvSpPr>
          <p:cNvPr id="3" name="Shape 1"/>
          <p:cNvSpPr/>
          <p:nvPr/>
        </p:nvSpPr>
        <p:spPr>
          <a:xfrm>
            <a:off x="0" y="1481328"/>
            <a:ext cx="7001561" cy="0"/>
          </a:xfrm>
          <a:prstGeom prst="line">
            <a:avLst/>
          </a:prstGeom>
          <a:noFill/>
          <a:ln w="19050">
            <a:solidFill>
              <a:srgbClr val="17173A"/>
            </a:solidFill>
            <a:prstDash val="solid"/>
          </a:ln>
        </p:spPr>
      </p:sp>
      <p:sp>
        <p:nvSpPr>
          <p:cNvPr id="4" name="Shape 2"/>
          <p:cNvSpPr/>
          <p:nvPr/>
        </p:nvSpPr>
        <p:spPr>
          <a:xfrm>
            <a:off x="0" y="3039466"/>
            <a:ext cx="7001561" cy="0"/>
          </a:xfrm>
          <a:prstGeom prst="line">
            <a:avLst/>
          </a:prstGeom>
          <a:noFill/>
          <a:ln w="19050">
            <a:solidFill>
              <a:srgbClr val="17173A"/>
            </a:solidFill>
            <a:prstDash val="solid"/>
          </a:ln>
        </p:spPr>
      </p:sp>
      <p:sp>
        <p:nvSpPr>
          <p:cNvPr id="5" name="Shape 3"/>
          <p:cNvSpPr/>
          <p:nvPr/>
        </p:nvSpPr>
        <p:spPr>
          <a:xfrm>
            <a:off x="7001561" y="0"/>
            <a:ext cx="0" cy="4596689"/>
          </a:xfrm>
          <a:prstGeom prst="line">
            <a:avLst/>
          </a:prstGeom>
          <a:noFill/>
          <a:ln w="19050">
            <a:solidFill>
              <a:srgbClr val="17173A"/>
            </a:solidFill>
            <a:prstDash val="solid"/>
          </a:ln>
        </p:spPr>
      </p:sp>
      <p:sp>
        <p:nvSpPr>
          <p:cNvPr id="6" name="Shape 4"/>
          <p:cNvSpPr/>
          <p:nvPr/>
        </p:nvSpPr>
        <p:spPr>
          <a:xfrm>
            <a:off x="3500323" y="1481328"/>
            <a:ext cx="0" cy="3115361"/>
          </a:xfrm>
          <a:prstGeom prst="line">
            <a:avLst/>
          </a:prstGeom>
          <a:noFill/>
          <a:ln w="19050">
            <a:solidFill>
              <a:srgbClr val="17173A"/>
            </a:solidFill>
            <a:prstDash val="solid"/>
          </a:ln>
        </p:spPr>
      </p:sp>
      <p:sp>
        <p:nvSpPr>
          <p:cNvPr id="9" name="Text 7"/>
          <p:cNvSpPr/>
          <p:nvPr/>
        </p:nvSpPr>
        <p:spPr>
          <a:xfrm>
            <a:off x="706831"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Splits</a:t>
            </a:r>
          </a:p>
        </p:txBody>
      </p:sp>
      <p:sp>
        <p:nvSpPr>
          <p:cNvPr id="10" name="Text 8"/>
          <p:cNvSpPr/>
          <p:nvPr/>
        </p:nvSpPr>
        <p:spPr>
          <a:xfrm>
            <a:off x="706831" y="2236622"/>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Random 80/20 vs blocked 5×2 CV with 200-row blocks and 50-row purge gaps.</a:t>
            </a:r>
          </a:p>
        </p:txBody>
      </p:sp>
      <p:sp>
        <p:nvSpPr>
          <p:cNvPr id="11" name="Text 9"/>
          <p:cNvSpPr/>
          <p:nvPr/>
        </p:nvSpPr>
        <p:spPr>
          <a:xfrm>
            <a:off x="4022446" y="1797710"/>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Models</a:t>
            </a:r>
          </a:p>
        </p:txBody>
      </p:sp>
      <p:sp>
        <p:nvSpPr>
          <p:cNvPr id="12" name="Text 10"/>
          <p:cNvSpPr/>
          <p:nvPr/>
        </p:nvSpPr>
        <p:spPr>
          <a:xfrm>
            <a:off x="4022446" y="2236622"/>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Primary: LightGBM (raw). Also LR, kNN, SVM-RBF, RF, XGBoost, four deep nets.</a:t>
            </a:r>
          </a:p>
        </p:txBody>
      </p:sp>
      <p:sp>
        <p:nvSpPr>
          <p:cNvPr id="13" name="Text 11"/>
          <p:cNvSpPr/>
          <p:nvPr/>
        </p:nvSpPr>
        <p:spPr>
          <a:xfrm>
            <a:off x="706831"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Statistics</a:t>
            </a:r>
          </a:p>
        </p:txBody>
      </p:sp>
      <p:sp>
        <p:nvSpPr>
          <p:cNvPr id="14" name="Text 12"/>
          <p:cNvSpPr/>
          <p:nvPr/>
        </p:nvSpPr>
        <p:spPr>
          <a:xfrm>
            <a:off x="706831" y="3767328"/>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Cluster-bootstrap CIs; corrected t-tests, Holm; Friedman/Nemenyi descriptive (anti-conservative).</a:t>
            </a:r>
          </a:p>
        </p:txBody>
      </p:sp>
      <p:sp>
        <p:nvSpPr>
          <p:cNvPr id="15" name="Text 13"/>
          <p:cNvSpPr/>
          <p:nvPr/>
        </p:nvSpPr>
        <p:spPr>
          <a:xfrm>
            <a:off x="4022446" y="3328416"/>
            <a:ext cx="2979115" cy="43891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900" b="0" i="0" dirty="0">
                <a:solidFill>
                  <a:srgbClr val="17173A"/>
                </a:solidFill>
                <a:latin typeface="Kanit"/>
                <a:ea typeface="Kanit"/>
                <a:cs typeface="Kanit"/>
              </a:rPr>
              <a:t>Estimates</a:t>
            </a:r>
          </a:p>
        </p:txBody>
      </p:sp>
      <p:sp>
        <p:nvSpPr>
          <p:cNvPr id="16" name="Text 14"/>
          <p:cNvSpPr/>
          <p:nvPr/>
        </p:nvSpPr>
        <p:spPr>
          <a:xfrm>
            <a:off x="4022446" y="3767328"/>
            <a:ext cx="2697480" cy="77724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Primary: five-fold rolling origin. Secondary: final-20% hold-out.</a:t>
            </a:r>
          </a:p>
        </p:txBody>
      </p:sp>
      <p:pic>
        <p:nvPicPr>
          <p:cNvPr id="1304" name="Figure 5" descr="Schematic of random versus blocked split">    </p:cNvPr>
          <p:cNvPicPr>
            <a:picLocks noChangeAspect="1"/>
          </p:cNvPicPr>
          <p:nvPr/>
        </p:nvPicPr>
        <p:blipFill>
          <a:blip r:embed="rIdFig5"/>
          <a:stretch>
            <a:fillRect/>
          </a:stretch>
        </p:blipFill>
        <p:spPr>
          <a:xfrm>
            <a:off x="7095744" y="658368"/>
            <a:ext cx="1965960" cy="2455900"/>
          </a:xfrm>
          <a:prstGeom prst="rect">
            <a:avLst/>
          </a:prstGeom>
        </p:spPr>
      </p:pic>
      <p:pic>
        <p:nvPicPr>
          <p:cNvPr id="17"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8" name="Shape 15"/>
          <p:cNvSpPr/>
          <p:nvPr/>
        </p:nvSpPr>
        <p:spPr>
          <a:xfrm>
            <a:off x="0" y="4796028"/>
            <a:ext cx="9144000" cy="347472"/>
          </a:xfrm>
          <a:prstGeom prst="rect">
            <a:avLst/>
          </a:prstGeom>
          <a:solidFill>
            <a:srgbClr val="EDE6F8"/>
          </a:solidFill>
          <a:ln/>
        </p:spPr>
      </p:sp>
      <p:sp>
        <p:nvSpPr>
          <p:cNvPr id="19" name="Shape 16"/>
          <p:cNvSpPr/>
          <p:nvPr/>
        </p:nvSpPr>
        <p:spPr>
          <a:xfrm>
            <a:off x="0" y="4796028"/>
            <a:ext cx="109728" cy="347472"/>
          </a:xfrm>
          <a:prstGeom prst="rect">
            <a:avLst/>
          </a:prstGeom>
          <a:solidFill>
            <a:srgbClr val="5B2C91"/>
          </a:solidFill>
          <a:ln/>
        </p:spPr>
      </p:sp>
      <p:pic>
        <p:nvPicPr>
          <p:cNvPr id="20"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1" name="Text 17"/>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2" name="Text 18"/>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8 / 16</a:t>
            </a:r>
            <a:endParaRPr lang="en-US" sz="850" dirty="0"/>
          </a:p>
        </p:txBody>
      </p:sp>
      <p:sp>
        <p:nvSpPr>
          <p:cNvPr id="1303" name="Facts"/>
          <p:cNvSpPr txBox="1"/>
          <p:nvPr/>
        </p:nvSpPr>
        <p:spPr>
          <a:xfrm>
            <a:off x="693115" y="969264"/>
            <a:ext cx="6217920" cy="384048"/>
          </a:xfrm>
          <a:prstGeom prst="rect">
            <a:avLst/>
          </a:prstGeom>
          <a:noFill/>
        </p:spPr>
        <p:txBody>
          <a:bodyPr wrap="square" lIns="45720" tIns="27432" rIns="45720" bIns="27432" anchor="t">
            <a:normAutofit/>
          </a:bodyPr>
          <a:lstStyle/>
          <a:p>
            <a:pPr algn="l">
              <a:spcBef>
                <a:spcPts val="0"/>
              </a:spcBef>
              <a:spcAft>
                <a:spcPts val="0"/>
              </a:spcAft>
              <a:buNone/>
            </a:pPr>
            <a:r>
              <a:rPr lang="en-US" sz="1200" b="0" i="0" dirty="0">
                <a:solidFill>
                  <a:srgbClr val="5B2C91"/>
                </a:solidFill>
                <a:latin typeface="Poppins"/>
                <a:ea typeface="Poppins"/>
                <a:cs typeface="Poppins"/>
              </a:rPr>
              <a:t>Macro-F1 throughout; model pre-specified by blocked CV on development data</a:t>
            </a:r>
          </a:p>
        </p:txBody>
      </p:sp>
      <p:sp>
        <p:nvSpPr>
          <p:cNvPr id="1305" name="Caption"/>
          <p:cNvSpPr txBox="1"/>
          <p:nvPr/>
        </p:nvSpPr>
        <p:spPr>
          <a:xfrm>
            <a:off x="7095744" y="3169132"/>
            <a:ext cx="1965960" cy="6858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5. Schematic: random versus blocked hold-out with a purge gap.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11480"/>
            <a:ext cx="7132320" cy="6858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600" b="0" i="0" dirty="0">
                <a:solidFill>
                  <a:srgbClr val="17173A"/>
                </a:solidFill>
                <a:latin typeface="Kanit"/>
                <a:ea typeface="Kanit"/>
                <a:cs typeface="Kanit"/>
              </a:rPr>
              <a:t>4. Results: Random vs Leakage-Safe Split</a:t>
            </a:r>
          </a:p>
        </p:txBody>
      </p:sp>
      <p:sp>
        <p:nvSpPr>
          <p:cNvPr id="6" name="Shape 4"/>
          <p:cNvSpPr/>
          <p:nvPr/>
        </p:nvSpPr>
        <p:spPr>
          <a:xfrm>
            <a:off x="4297680" y="1234440"/>
            <a:ext cx="4434840" cy="3383280"/>
          </a:xfrm>
          <a:prstGeom prst="rect">
            <a:avLst/>
          </a:prstGeom>
          <a:solidFill>
            <a:srgbClr val="EEEAFB"/>
          </a:solidFill>
          <a:ln/>
        </p:spPr>
      </p:sp>
      <p:pic>
        <p:nvPicPr>
          <p:cNvPr id="1306" name="Figure 6" descr="Four-class leakage-safe macro-F1 of the top eight models by blocked CV">    </p:cNvPr>
          <p:cNvPicPr>
            <a:picLocks noChangeAspect="1"/>
          </p:cNvPicPr>
          <p:nvPr/>
        </p:nvPicPr>
        <p:blipFill>
          <a:blip r:embed="rIdFig6"/>
          <a:stretch>
            <a:fillRect/>
          </a:stretch>
        </p:blipFill>
        <p:spPr>
          <a:xfrm>
            <a:off x="4480560" y="1298448"/>
            <a:ext cx="3931920" cy="2697480"/>
          </a:xfrm>
          <a:prstGeom prst="rect">
            <a:avLst/>
          </a:prstGeom>
        </p:spPr>
      </p:pic>
      <p:graphicFrame>
        <p:nvGraphicFramePr>
          <p:cNvPr id="1390" name="Results table"/>
          <p:cNvGraphicFramePr>
            <a:graphicFrameLocks noGrp="1"/>
          </p:cNvGraphicFramePr>
          <p:nvPr/>
        </p:nvGraphicFramePr>
        <p:xfrm>
          <a:off x="411480" y="1325880"/>
          <a:ext cx="3749040" cy="1536192"/>
        </p:xfrm>
        <a:graphic>
          <a:graphicData uri="http://schemas.openxmlformats.org/drawingml/2006/table">
            <a:tbl>
              <a:tblPr firstRow="1"/>
              <a:tblGrid>
                <a:gridCol w="1463040"/>
                <a:gridCol w="1051560"/>
                <a:gridCol w="1234440"/>
              </a:tblGrid>
              <a:tr h="384048">
                <a:tc>
                  <a:txBody>
                    <a:bodyPr/>
                    <a:lstStyle/>
                    <a:p>
                      <a:pPr algn="l">
                        <a:spcBef>
                          <a:spcPts val="0"/>
                        </a:spcBef>
                        <a:spcAft>
                          <a:spcPts val="0"/>
                        </a:spcAft>
                        <a:buNone/>
                      </a:pPr>
                      <a:r>
                        <a:rPr lang="en-US" sz="1200" b="1" i="0" dirty="0">
                          <a:solidFill>
                            <a:srgbClr val="FFFFFF"/>
                          </a:solidFill>
                          <a:latin typeface="Poppins"/>
                          <a:ea typeface="Poppins"/>
                          <a:cs typeface="Poppins"/>
                        </a:rPr>
                        <a:t/>
                      </a:r>
                    </a:p>
                  </a:txBody>
                  <a:tcPr marL="45720" marR="45720" marT="27432" marB="27432" anchor="ctr">
                    <a:lnL w="0">
                      <a:noFill/>
                    </a:lnL>
                    <a:lnR w="0">
                      <a:noFill/>
                    </a:lnR>
                    <a:lnT w="0">
                      <a:noFill/>
                    </a:lnT>
                    <a:lnB w="6350">
                      <a:solidFill>
                        <a:srgbClr val="9A86E6"/>
                      </a:solidFill>
                    </a:lnB>
                    <a:solidFill>
                      <a:srgbClr val="2A2C86"/>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Random</a:t>
                      </a:r>
                    </a:p>
                  </a:txBody>
                  <a:tcPr marL="45720" marR="45720" marT="27432" marB="27432" anchor="ctr">
                    <a:lnL w="0">
                      <a:noFill/>
                    </a:lnL>
                    <a:lnR w="0">
                      <a:noFill/>
                    </a:lnR>
                    <a:lnT w="0">
                      <a:noFill/>
                    </a:lnT>
                    <a:lnB w="6350">
                      <a:solidFill>
                        <a:srgbClr val="9A86E6"/>
                      </a:solidFill>
                    </a:lnB>
                    <a:solidFill>
                      <a:srgbClr val="2A2C86"/>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Leakage-safe</a:t>
                      </a:r>
                    </a:p>
                  </a:txBody>
                  <a:tcPr marL="45720" marR="45720" marT="27432" marB="27432" anchor="ctr">
                    <a:lnL w="0">
                      <a:noFill/>
                    </a:lnL>
                    <a:lnR w="0">
                      <a:noFill/>
                    </a:lnR>
                    <a:lnT w="0">
                      <a:noFill/>
                    </a:lnT>
                    <a:lnB w="6350">
                      <a:solidFill>
                        <a:srgbClr val="9A86E6"/>
                      </a:solidFill>
                    </a:lnB>
                    <a:solidFill>
                      <a:srgbClr val="2A2C86"/>
                    </a:solidFill>
                  </a:tcPr>
                </a:tc>
              </a:tr>
              <a:tr h="384048">
                <a:tc>
                  <a:txBody>
                    <a:bodyPr/>
                    <a:lstStyle/>
                    <a:p>
                      <a:pPr algn="l">
                        <a:spcBef>
                          <a:spcPts val="0"/>
                        </a:spcBef>
                        <a:spcAft>
                          <a:spcPts val="0"/>
                        </a:spcAft>
                        <a:buNone/>
                      </a:pPr>
                      <a:r>
                        <a:rPr lang="en-US" sz="1200" b="0" i="0" dirty="0">
                          <a:solidFill>
                            <a:srgbClr val="17173A"/>
                          </a:solidFill>
                          <a:latin typeface="Poppins"/>
                          <a:ea typeface="Poppins"/>
                          <a:cs typeface="Poppins"/>
                        </a:rPr>
                        <a:t>4-class macro-F1</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0.98</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0.75 ± 0.08</a:t>
                      </a:r>
                    </a:p>
                  </a:txBody>
                  <a:tcPr marL="45720" marR="45720" marT="27432" marB="27432" anchor="ctr">
                    <a:lnL w="0">
                      <a:noFill/>
                    </a:lnL>
                    <a:lnR w="0">
                      <a:noFill/>
                    </a:lnR>
                    <a:lnT w="0">
                      <a:noFill/>
                    </a:lnT>
                    <a:lnB w="6350">
                      <a:solidFill>
                        <a:srgbClr val="9A86E6"/>
                      </a:solidFill>
                    </a:lnB>
                    <a:noFill/>
                  </a:tcPr>
                </a:tc>
              </a:tr>
              <a:tr h="384048">
                <a:tc>
                  <a:txBody>
                    <a:bodyPr/>
                    <a:lstStyle/>
                    <a:p>
                      <a:pPr algn="l">
                        <a:spcBef>
                          <a:spcPts val="0"/>
                        </a:spcBef>
                        <a:spcAft>
                          <a:spcPts val="0"/>
                        </a:spcAft>
                        <a:buNone/>
                      </a:pPr>
                      <a:r>
                        <a:rPr lang="en-US" sz="1200" b="0" i="0" dirty="0">
                          <a:solidFill>
                            <a:srgbClr val="17173A"/>
                          </a:solidFill>
                          <a:latin typeface="Poppins"/>
                          <a:ea typeface="Poppins"/>
                          <a:cs typeface="Poppins"/>
                        </a:rPr>
                        <a:t>3-class macro-F1</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0.98</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0.68 ± 0.10</a:t>
                      </a:r>
                    </a:p>
                  </a:txBody>
                  <a:tcPr marL="45720" marR="45720" marT="27432" marB="27432" anchor="ctr">
                    <a:lnL w="0">
                      <a:noFill/>
                    </a:lnL>
                    <a:lnR w="0">
                      <a:noFill/>
                    </a:lnR>
                    <a:lnT w="0">
                      <a:noFill/>
                    </a:lnT>
                    <a:lnB w="6350">
                      <a:solidFill>
                        <a:srgbClr val="9A86E6"/>
                      </a:solidFill>
                    </a:lnB>
                    <a:noFill/>
                  </a:tcPr>
                </a:tc>
              </a:tr>
              <a:tr h="384048">
                <a:tc>
                  <a:txBody>
                    <a:bodyPr/>
                    <a:lstStyle/>
                    <a:p>
                      <a:pPr algn="l">
                        <a:spcBef>
                          <a:spcPts val="0"/>
                        </a:spcBef>
                        <a:spcAft>
                          <a:spcPts val="0"/>
                        </a:spcAft>
                        <a:buNone/>
                      </a:pPr>
                      <a:r>
                        <a:rPr lang="en-US" sz="1200" b="0" i="0" dirty="0">
                          <a:solidFill>
                            <a:srgbClr val="17173A"/>
                          </a:solidFill>
                          <a:latin typeface="Poppins"/>
                          <a:ea typeface="Poppins"/>
                          <a:cs typeface="Poppins"/>
                        </a:rPr>
                        <a:t>Single hold-out</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a:t>
                      </a:r>
                    </a:p>
                  </a:txBody>
                  <a:tcPr marL="45720" marR="45720"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17173A"/>
                          </a:solidFill>
                          <a:latin typeface="Poppins"/>
                          <a:ea typeface="Poppins"/>
                          <a:cs typeface="Poppins"/>
                        </a:rPr>
                        <a:t>0.81 / 0.75</a:t>
                      </a:r>
                    </a:p>
                  </a:txBody>
                  <a:tcPr marL="45720" marR="45720" marT="27432" marB="27432" anchor="ctr">
                    <a:lnL w="0">
                      <a:noFill/>
                    </a:lnL>
                    <a:lnR w="0">
                      <a:noFill/>
                    </a:lnR>
                    <a:lnT w="0">
                      <a:noFill/>
                    </a:lnT>
                    <a:lnB w="6350">
                      <a:solidFill>
                        <a:srgbClr val="9A86E6"/>
                      </a:solidFill>
                    </a:lnB>
                    <a:noFill/>
                  </a:tcPr>
                </a:tc>
              </a:tr>
            </a:tbl>
          </a:graphicData>
        </a:graphic>
      </p:graphicFrame>
      <p:pic>
        <p:nvPicPr>
          <p:cNvPr id="6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61" name="Shape 58"/>
          <p:cNvSpPr/>
          <p:nvPr/>
        </p:nvSpPr>
        <p:spPr>
          <a:xfrm>
            <a:off x="0" y="4796028"/>
            <a:ext cx="9144000" cy="347472"/>
          </a:xfrm>
          <a:prstGeom prst="rect">
            <a:avLst/>
          </a:prstGeom>
          <a:solidFill>
            <a:srgbClr val="EDE6F8"/>
          </a:solidFill>
          <a:ln/>
        </p:spPr>
      </p:sp>
      <p:sp>
        <p:nvSpPr>
          <p:cNvPr id="62" name="Shape 59"/>
          <p:cNvSpPr/>
          <p:nvPr/>
        </p:nvSpPr>
        <p:spPr>
          <a:xfrm>
            <a:off x="0" y="4796028"/>
            <a:ext cx="109728" cy="347472"/>
          </a:xfrm>
          <a:prstGeom prst="rect">
            <a:avLst/>
          </a:prstGeom>
          <a:solidFill>
            <a:srgbClr val="5B2C91"/>
          </a:solidFill>
          <a:ln/>
        </p:spPr>
      </p:sp>
      <p:pic>
        <p:nvPicPr>
          <p:cNvPr id="6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64" name="Text 6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65" name="Text 6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9 / 16</a:t>
            </a:r>
            <a:endParaRPr lang="en-US" sz="850" dirty="0"/>
          </a:p>
        </p:txBody>
      </p:sp>
      <p:sp>
        <p:nvSpPr>
          <p:cNvPr id="1307" name="Caption"/>
          <p:cNvSpPr txBox="1"/>
          <p:nvPr/>
        </p:nvSpPr>
        <p:spPr>
          <a:xfrm>
            <a:off x="4480560" y="4066762"/>
            <a:ext cx="4114800" cy="41148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6. Four-class leakage-safe macro-F1, top eight models by blocked CV; shaded: primary model.</a:t>
            </a:r>
          </a:p>
        </p:txBody>
      </p:sp>
      <p:sp>
        <p:nvSpPr>
          <p:cNvPr id="1308" name="Table note"/>
          <p:cNvSpPr txBox="1"/>
          <p:nvPr/>
        </p:nvSpPr>
        <p:spPr>
          <a:xfrm>
            <a:off x="411480" y="3017520"/>
            <a:ext cx="3749040" cy="100584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Random: best model (kNN, raw), random-split CV. Leakage-safe: LightGBM (raw), chosen by blocked CV; five-fold rolling origin, mean ± SD. Single hold-out: final 20%, secondary (4-class / 3-class). 3-class: seizure types only.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4709160" cy="105156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17173A"/>
                </a:solidFill>
                <a:latin typeface="Kanit"/>
                <a:ea typeface="Kanit"/>
                <a:cs typeface="Kanit"/>
              </a:rPr>
              <a:t>4. Results:</a:t>
            </a:r>
          </a:p>
          <a:p>
            <a:pPr algn="l">
              <a:spcBef>
                <a:spcPts val="0"/>
              </a:spcBef>
              <a:spcAft>
                <a:spcPts val="0"/>
              </a:spcAft>
              <a:buNone/>
            </a:pPr>
            <a:r>
              <a:rPr lang="en-US" sz="2800" b="0" i="0" dirty="0">
                <a:solidFill>
                  <a:srgbClr val="17173A"/>
                </a:solidFill>
                <a:latin typeface="Kanit"/>
                <a:ea typeface="Kanit"/>
                <a:cs typeface="Kanit"/>
              </a:rPr>
              <a:t>What the Models Look At</a:t>
            </a:r>
          </a:p>
        </p:txBody>
      </p:sp>
      <p:sp>
        <p:nvSpPr>
          <p:cNvPr id="3" name="Text 1"/>
          <p:cNvSpPr/>
          <p:nvPr/>
        </p:nvSpPr>
        <p:spPr>
          <a:xfrm>
            <a:off x="548640" y="2926080"/>
            <a:ext cx="4663440" cy="347472"/>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700" b="0" i="0" dirty="0">
                <a:solidFill>
                  <a:srgbClr val="5B2C91"/>
                </a:solidFill>
                <a:latin typeface="Kanit"/>
                <a:ea typeface="Kanit"/>
                <a:cs typeface="Kanit"/>
              </a:rPr>
              <a:t>Healthy class: a recording-source shortcut</a:t>
            </a:r>
          </a:p>
        </p:txBody>
      </p:sp>
      <p:sp>
        <p:nvSpPr>
          <p:cNvPr id="4" name="Text 2"/>
          <p:cNvSpPr/>
          <p:nvPr/>
        </p:nvSpPr>
        <p:spPr>
          <a:xfrm>
            <a:off x="548640" y="3291840"/>
            <a:ext cx="4663440" cy="960120"/>
          </a:xfrm>
          <a:prstGeom prst="rect">
            <a:avLst/>
          </a:prstGeom>
          <a:noFill/>
          <a:ln/>
        </p:spPr>
        <p:txBody>
          <a:bodyPr wrap="square" lIns="68580" tIns="34290" rIns="68580" bIns="34290" rtlCol="0" anchor="t">
            <a:normAutofit/>
          </a:bodyPr>
          <a:lstStyle/>
          <a:p>
            <a:pPr marL="228600" indent="-228600" algn="l">
              <a:lnSpc>
                <a:spcPct val="95000"/>
              </a:lnSpc>
              <a:spcBef>
                <a:spcPts val="0"/>
              </a:spcBef>
              <a:spcAft>
                <a:spcPts val="800"/>
              </a:spcAft>
              <a:buClr>
                <a:srgbClr val="5B2C91"/>
              </a:buClr>
              <a:buSzPct val="150000"/>
              <a:buFont typeface="Kanit"/>
              <a:buChar char="›"/>
            </a:pPr>
            <a:r>
              <a:rPr lang="en-US" sz="1200" b="0" i="0" dirty="0">
                <a:solidFill>
                  <a:srgbClr val="17173A"/>
                </a:solidFill>
                <a:latin typeface="Poppins"/>
                <a:ea typeface="Poppins"/>
                <a:cs typeface="Poppins"/>
              </a:rPr>
              <a:t>Healthy vs seizure: macro-F1 ≥ 0.99 for every model (best 0.999–1.000).</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One lag-1 autocorrelation threshold: accuracy 0.997.</a:t>
            </a:r>
          </a:p>
        </p:txBody>
      </p:sp>
      <p:sp>
        <p:nvSpPr>
          <p:cNvPr id="5" name="Shape 3"/>
          <p:cNvSpPr/>
          <p:nvPr/>
        </p:nvSpPr>
        <p:spPr>
          <a:xfrm>
            <a:off x="5390388" y="546811"/>
            <a:ext cx="3231490" cy="3608222"/>
          </a:xfrm>
          <a:prstGeom prst="rect">
            <a:avLst/>
          </a:prstGeom>
          <a:solidFill>
            <a:srgbClr val="EEEAFB"/>
          </a:solidFill>
          <a:ln/>
        </p:spPr>
      </p:sp>
      <p:pic>
        <p:nvPicPr>
          <p:cNvPr id="1503" name="Figure 7" descr="Top SHAP features of LightGBM, leakage-safe split">    </p:cNvPr>
          <p:cNvPicPr>
            <a:picLocks noChangeAspect="1"/>
          </p:cNvPicPr>
          <p:nvPr/>
        </p:nvPicPr>
        <p:blipFill>
          <a:blip r:embed="rIdFig7"/>
          <a:stretch>
            <a:fillRect/>
          </a:stretch>
        </p:blipFill>
        <p:spPr>
          <a:xfrm>
            <a:off x="5495544" y="658368"/>
            <a:ext cx="3017520" cy="2694592"/>
          </a:xfrm>
          <a:prstGeom prst="rect">
            <a:avLst/>
          </a:prstGeom>
        </p:spPr>
      </p:pic>
      <p:pic>
        <p:nvPicPr>
          <p:cNvPr id="3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31" name="Shape 28"/>
          <p:cNvSpPr/>
          <p:nvPr/>
        </p:nvSpPr>
        <p:spPr>
          <a:xfrm>
            <a:off x="0" y="4796028"/>
            <a:ext cx="9144000" cy="347472"/>
          </a:xfrm>
          <a:prstGeom prst="rect">
            <a:avLst/>
          </a:prstGeom>
          <a:solidFill>
            <a:srgbClr val="EDE6F8"/>
          </a:solidFill>
          <a:ln/>
        </p:spPr>
      </p:sp>
      <p:sp>
        <p:nvSpPr>
          <p:cNvPr id="32" name="Shape 29"/>
          <p:cNvSpPr/>
          <p:nvPr/>
        </p:nvSpPr>
        <p:spPr>
          <a:xfrm>
            <a:off x="0" y="4796028"/>
            <a:ext cx="109728" cy="347472"/>
          </a:xfrm>
          <a:prstGeom prst="rect">
            <a:avLst/>
          </a:prstGeom>
          <a:solidFill>
            <a:srgbClr val="5B2C91"/>
          </a:solidFill>
          <a:ln/>
        </p:spPr>
      </p:sp>
      <p:pic>
        <p:nvPicPr>
          <p:cNvPr id="3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34" name="Text 3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35" name="Text 3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10 / 16</a:t>
            </a:r>
            <a:endParaRPr lang="en-US" sz="850" dirty="0"/>
          </a:p>
        </p:txBody>
      </p:sp>
      <p:sp>
        <p:nvSpPr>
          <p:cNvPr id="1501" name="Sub 1"/>
          <p:cNvSpPr txBox="1"/>
          <p:nvPr/>
        </p:nvSpPr>
        <p:spPr>
          <a:xfrm>
            <a:off x="548640" y="1691640"/>
            <a:ext cx="4663440" cy="347472"/>
          </a:xfrm>
          <a:prstGeom prst="rect">
            <a:avLst/>
          </a:prstGeom>
          <a:noFill/>
        </p:spPr>
        <p:txBody>
          <a:bodyPr wrap="square" lIns="45720" tIns="27432" rIns="45720" bIns="27432" anchor="t">
            <a:normAutofit/>
          </a:bodyPr>
          <a:lstStyle/>
          <a:p>
            <a:pPr algn="l">
              <a:spcBef>
                <a:spcPts val="0"/>
              </a:spcBef>
              <a:spcAft>
                <a:spcPts val="0"/>
              </a:spcAft>
              <a:buNone/>
            </a:pPr>
            <a:r>
              <a:rPr lang="en-US" sz="1700" b="0" i="0" dirty="0">
                <a:solidFill>
                  <a:srgbClr val="5B2C91"/>
                </a:solidFill>
                <a:latin typeface="Kanit"/>
                <a:ea typeface="Kanit"/>
                <a:cs typeface="Kanit"/>
              </a:rPr>
              <a:t>Leakage-safe feature importance</a:t>
            </a:r>
          </a:p>
        </p:txBody>
      </p:sp>
      <p:sp>
        <p:nvSpPr>
          <p:cNvPr id="1502" name="Bullets 1"/>
          <p:cNvSpPr txBox="1"/>
          <p:nvPr/>
        </p:nvSpPr>
        <p:spPr>
          <a:xfrm>
            <a:off x="548640" y="2057400"/>
            <a:ext cx="4663440" cy="777240"/>
          </a:xfrm>
          <a:prstGeom prst="rect">
            <a:avLst/>
          </a:prstGeom>
          <a:noFill/>
        </p:spPr>
        <p:txBody>
          <a:bodyPr wrap="square" lIns="45720" tIns="27432" rIns="45720" bIns="27432" anchor="t">
            <a:normAutofit/>
          </a:bodyPr>
          <a:lstStyle/>
          <a:p>
            <a:pPr marL="228600" indent="-228600" algn="l">
              <a:lnSpc>
                <a:spcPct val="95000"/>
              </a:lnSpc>
              <a:spcBef>
                <a:spcPts val="0"/>
              </a:spcBef>
              <a:spcAft>
                <a:spcPts val="800"/>
              </a:spcAft>
              <a:buClr>
                <a:srgbClr val="5B2C91"/>
              </a:buClr>
              <a:buSzPct val="150000"/>
              <a:buFont typeface="Kanit"/>
              <a:buChar char="›"/>
            </a:pPr>
            <a:r>
              <a:rPr lang="en-US" sz="1200" b="0" i="0" dirty="0">
                <a:solidFill>
                  <a:srgbClr val="17173A"/>
                </a:solidFill>
                <a:latin typeface="Poppins"/>
                <a:ea typeface="Poppins"/>
                <a:cs typeface="Poppins"/>
              </a:rPr>
              <a:t>Seizure types: a per-channel spatial amplitude pattern (X11, X8, X15); see slide 11.</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Healthy class: smoothness, e.g. Hjorth mobility.</a:t>
            </a:r>
          </a:p>
        </p:txBody>
      </p:sp>
      <p:sp>
        <p:nvSpPr>
          <p:cNvPr id="1504" name="Caption"/>
          <p:cNvSpPr txBox="1"/>
          <p:nvPr/>
        </p:nvSpPr>
        <p:spPr>
          <a:xfrm>
            <a:off x="5532120" y="3407824"/>
            <a:ext cx="3017520" cy="4572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7. Top SHAP features, LightGBM, four classes, leakage-safe split.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31520" y="502920"/>
            <a:ext cx="6949440" cy="6858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2800" b="0" i="0" dirty="0">
                <a:solidFill>
                  <a:srgbClr val="FFFFFF"/>
                </a:solidFill>
                <a:latin typeface="Kanit"/>
                <a:ea typeface="Kanit"/>
                <a:cs typeface="Kanit"/>
              </a:rPr>
              <a:t>4. Results: Computational Footprint (Server CPU)</a:t>
            </a:r>
          </a:p>
        </p:txBody>
      </p:sp>
      <p:sp>
        <p:nvSpPr>
          <p:cNvPr id="4" name="Shape 2"/>
          <p:cNvSpPr/>
          <p:nvPr/>
        </p:nvSpPr>
        <p:spPr>
          <a:xfrm>
            <a:off x="0" y="1353312"/>
            <a:ext cx="9144000" cy="0"/>
          </a:xfrm>
          <a:prstGeom prst="line">
            <a:avLst/>
          </a:prstGeom>
          <a:noFill/>
          <a:ln w="19050">
            <a:solidFill>
              <a:srgbClr val="FFFFFF"/>
            </a:solidFill>
            <a:prstDash val="solid"/>
          </a:ln>
        </p:spPr>
      </p:sp>
      <p:graphicFrame>
        <p:nvGraphicFramePr>
          <p:cNvPr id="1590" name="Edge table"/>
          <p:cNvGraphicFramePr>
            <a:graphicFrameLocks noGrp="1"/>
          </p:cNvGraphicFramePr>
          <p:nvPr/>
        </p:nvGraphicFramePr>
        <p:xfrm>
          <a:off x="731520" y="1536192"/>
          <a:ext cx="7680960" cy="1234440"/>
        </p:xfrm>
        <a:graphic>
          <a:graphicData uri="http://schemas.openxmlformats.org/drawingml/2006/table">
            <a:tbl>
              <a:tblPr firstRow="1"/>
              <a:tblGrid>
                <a:gridCol w="2743200"/>
                <a:gridCol w="1188720"/>
                <a:gridCol w="1051560"/>
                <a:gridCol w="1188720"/>
                <a:gridCol w="1508760"/>
              </a:tblGrid>
              <a:tr h="411480">
                <a:tc>
                  <a:txBody>
                    <a:bodyPr/>
                    <a:lstStyle/>
                    <a:p>
                      <a:pPr algn="l">
                        <a:spcBef>
                          <a:spcPts val="0"/>
                        </a:spcBef>
                        <a:spcAft>
                          <a:spcPts val="0"/>
                        </a:spcAft>
                        <a:buNone/>
                      </a:pPr>
                      <a:r>
                        <a:rPr lang="en-US" sz="1200" b="1" i="0" dirty="0">
                          <a:solidFill>
                            <a:srgbClr val="FFFFFF"/>
                          </a:solidFill>
                          <a:latin typeface="Poppins"/>
                          <a:ea typeface="Poppins"/>
                          <a:cs typeface="Poppins"/>
                        </a:rPr>
                        <a:t>Model (input)</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Parameters</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ONNX size</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ms / sample</a:t>
                      </a:r>
                    </a:p>
                  </a:txBody>
                  <a:tcPr marL="54864" marR="54864" marT="27432" marB="27432" anchor="ctr">
                    <a:lnL w="0">
                      <a:noFill/>
                    </a:lnL>
                    <a:lnR w="0">
                      <a:noFill/>
                    </a:lnR>
                    <a:lnT w="0">
                      <a:noFill/>
                    </a:lnT>
                    <a:lnB w="6350">
                      <a:solidFill>
                        <a:srgbClr val="9A86E6"/>
                      </a:solidFill>
                    </a:lnB>
                    <a:solidFill>
                      <a:srgbClr val="5B2C91"/>
                    </a:solidFill>
                  </a:tcPr>
                </a:tc>
                <a:tc>
                  <a:txBody>
                    <a:bodyPr/>
                    <a:lstStyle/>
                    <a:p>
                      <a:pPr algn="ctr">
                        <a:spcBef>
                          <a:spcPts val="0"/>
                        </a:spcBef>
                        <a:spcAft>
                          <a:spcPts val="0"/>
                        </a:spcAft>
                        <a:buNone/>
                      </a:pPr>
                      <a:r>
                        <a:rPr lang="en-US" sz="1200" b="1" i="0" dirty="0">
                          <a:solidFill>
                            <a:srgbClr val="FFFFFF"/>
                          </a:solidFill>
                          <a:latin typeface="Poppins"/>
                          <a:ea typeface="Poppins"/>
                          <a:cs typeface="Poppins"/>
                        </a:rPr>
                        <a:t>Macro-F1</a:t>
                      </a:r>
                    </a:p>
                  </a:txBody>
                  <a:tcPr marL="54864" marR="54864" marT="27432" marB="27432" anchor="ctr">
                    <a:lnL w="0">
                      <a:noFill/>
                    </a:lnL>
                    <a:lnR w="0">
                      <a:noFill/>
                    </a:lnR>
                    <a:lnT w="0">
                      <a:noFill/>
                    </a:lnT>
                    <a:lnB w="6350">
                      <a:solidFill>
                        <a:srgbClr val="9A86E6"/>
                      </a:solidFill>
                    </a:lnB>
                    <a:solidFill>
                      <a:srgbClr val="5B2C91"/>
                    </a:solidFill>
                  </a:tcPr>
                </a:tc>
              </a:tr>
              <a:tr h="411480">
                <a:tc>
                  <a:txBody>
                    <a:bodyPr/>
                    <a:lstStyle/>
                    <a:p>
                      <a:pPr algn="l">
                        <a:spcBef>
                          <a:spcPts val="0"/>
                        </a:spcBef>
                        <a:spcAft>
                          <a:spcPts val="0"/>
                        </a:spcAft>
                        <a:buNone/>
                      </a:pPr>
                      <a:r>
                        <a:rPr lang="en-US" sz="1200" b="0" i="0" dirty="0">
                          <a:solidFill>
                            <a:srgbClr val="FFFFFF"/>
                          </a:solidFill>
                          <a:latin typeface="Poppins"/>
                          <a:ea typeface="Poppins"/>
                          <a:cs typeface="Poppins"/>
                        </a:rPr>
                        <a:t>MLP, tuned (raw 16)</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3.5k</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16 kB</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0.05</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0.77 (CV)</a:t>
                      </a:r>
                    </a:p>
                  </a:txBody>
                  <a:tcPr marL="54864" marR="54864" marT="27432" marB="27432" anchor="ctr">
                    <a:lnL w="0">
                      <a:noFill/>
                    </a:lnL>
                    <a:lnR w="0">
                      <a:noFill/>
                    </a:lnR>
                    <a:lnT w="0">
                      <a:noFill/>
                    </a:lnT>
                    <a:lnB w="6350">
                      <a:solidFill>
                        <a:srgbClr val="9A86E6"/>
                      </a:solidFill>
                    </a:lnB>
                    <a:noFill/>
                  </a:tcPr>
                </a:tc>
              </a:tr>
              <a:tr h="411480">
                <a:tc>
                  <a:txBody>
                    <a:bodyPr/>
                    <a:lstStyle/>
                    <a:p>
                      <a:pPr algn="l">
                        <a:spcBef>
                          <a:spcPts val="0"/>
                        </a:spcBef>
                        <a:spcAft>
                          <a:spcPts val="0"/>
                        </a:spcAft>
                        <a:buNone/>
                      </a:pPr>
                      <a:r>
                        <a:rPr lang="en-US" sz="1200" b="0" i="0" dirty="0">
                          <a:solidFill>
                            <a:srgbClr val="FFFFFF"/>
                          </a:solidFill>
                          <a:latin typeface="Poppins"/>
                          <a:ea typeface="Poppins"/>
                          <a:cs typeface="Poppins"/>
                        </a:rPr>
                        <a:t>LightGBM, tuned (raw+eng., 73)</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28.7k nodes</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1.06 MB</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3.97†</a:t>
                      </a:r>
                    </a:p>
                  </a:txBody>
                  <a:tcPr marL="54864" marR="54864" marT="27432" marB="27432" anchor="ctr">
                    <a:lnL w="0">
                      <a:noFill/>
                    </a:lnL>
                    <a:lnR w="0">
                      <a:noFill/>
                    </a:lnR>
                    <a:lnT w="0">
                      <a:noFill/>
                    </a:lnT>
                    <a:lnB w="6350">
                      <a:solidFill>
                        <a:srgbClr val="9A86E6"/>
                      </a:solidFill>
                    </a:lnB>
                    <a:noFill/>
                  </a:tcPr>
                </a:tc>
                <a:tc>
                  <a:txBody>
                    <a:bodyPr/>
                    <a:lstStyle/>
                    <a:p>
                      <a:pPr algn="ctr">
                        <a:spcBef>
                          <a:spcPts val="0"/>
                        </a:spcBef>
                        <a:spcAft>
                          <a:spcPts val="0"/>
                        </a:spcAft>
                        <a:buNone/>
                      </a:pPr>
                      <a:r>
                        <a:rPr lang="en-US" sz="1200" b="0" i="0" dirty="0">
                          <a:solidFill>
                            <a:srgbClr val="FFFFFF"/>
                          </a:solidFill>
                          <a:latin typeface="Poppins"/>
                          <a:ea typeface="Poppins"/>
                          <a:cs typeface="Poppins"/>
                        </a:rPr>
                        <a:t>0.799 (hold-out)</a:t>
                      </a:r>
                    </a:p>
                  </a:txBody>
                  <a:tcPr marL="54864" marR="54864" marT="27432" marB="27432" anchor="ctr">
                    <a:lnL w="0">
                      <a:noFill/>
                    </a:lnL>
                    <a:lnR w="0">
                      <a:noFill/>
                    </a:lnR>
                    <a:lnT w="0">
                      <a:noFill/>
                    </a:lnT>
                    <a:lnB w="6350">
                      <a:solidFill>
                        <a:srgbClr val="9A86E6"/>
                      </a:solidFill>
                    </a:lnB>
                    <a:noFill/>
                  </a:tcPr>
                </a:tc>
              </a:tr>
            </a:tbl>
          </a:graphicData>
        </a:graphic>
      </p:graphicFrame>
      <p:pic>
        <p:nvPicPr>
          <p:cNvPr id="13"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4" name="Shape 11"/>
          <p:cNvSpPr/>
          <p:nvPr/>
        </p:nvSpPr>
        <p:spPr>
          <a:xfrm>
            <a:off x="0" y="4796028"/>
            <a:ext cx="9144000" cy="347472"/>
          </a:xfrm>
          <a:prstGeom prst="rect">
            <a:avLst/>
          </a:prstGeom>
          <a:solidFill>
            <a:srgbClr val="EDE6F8"/>
          </a:solidFill>
          <a:ln/>
        </p:spPr>
      </p:sp>
      <p:sp>
        <p:nvSpPr>
          <p:cNvPr id="15" name="Shape 12"/>
          <p:cNvSpPr/>
          <p:nvPr/>
        </p:nvSpPr>
        <p:spPr>
          <a:xfrm>
            <a:off x="0" y="4796028"/>
            <a:ext cx="109728" cy="347472"/>
          </a:xfrm>
          <a:prstGeom prst="rect">
            <a:avLst/>
          </a:prstGeom>
          <a:solidFill>
            <a:srgbClr val="5B2C91"/>
          </a:solidFill>
          <a:ln/>
        </p:spPr>
      </p:sp>
      <p:pic>
        <p:nvPicPr>
          <p:cNvPr id="16"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7" name="Text 13"/>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8" name="Text 14"/>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12 / 16</a:t>
            </a:r>
            <a:endParaRPr lang="en-US" sz="850" dirty="0"/>
          </a:p>
        </p:txBody>
      </p:sp>
      <p:sp>
        <p:nvSpPr>
          <p:cNvPr id="1505" name="Table note"/>
          <p:cNvSpPr txBox="1"/>
          <p:nvPr/>
        </p:nvSpPr>
        <p:spPr>
          <a:xfrm>
            <a:off x="731520" y="2880360"/>
            <a:ext cx="7680960" cy="45720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D9D2F3"/>
                </a:solidFill>
                <a:latin typeface="Poppins"/>
                <a:ea typeface="Poppins"/>
                <a:cs typeface="Poppins"/>
              </a:rPr>
              <a:t>Single thread, Intel Xeon server CPU (8-vCPU VM), Python; median of 500 single-sample calls; not edge hardware. †Includes 3.48 ms feature extraction.</a:t>
            </a:r>
          </a:p>
        </p:txBody>
      </p:sp>
      <p:sp>
        <p:nvSpPr>
          <p:cNvPr id="1506" name="Points"/>
          <p:cNvSpPr txBox="1"/>
          <p:nvPr/>
        </p:nvSpPr>
        <p:spPr>
          <a:xfrm>
            <a:off x="731520" y="3383280"/>
            <a:ext cx="7680960" cy="1280160"/>
          </a:xfrm>
          <a:prstGeom prst="rect">
            <a:avLst/>
          </a:prstGeom>
          <a:noFill/>
        </p:spPr>
        <p:txBody>
          <a:bodyPr wrap="square" lIns="45720" tIns="27432" rIns="45720" bIns="27432" anchor="t">
            <a:normAutofit/>
          </a:bodyPr>
          <a:lstStyle/>
          <a:p>
            <a:pPr marL="228600" indent="-228600" algn="l">
              <a:lnSpc>
                <a:spcPct val="95000"/>
              </a:lnSpc>
              <a:spcBef>
                <a:spcPts val="0"/>
              </a:spcBef>
              <a:spcAft>
                <a:spcPts val="600"/>
              </a:spcAft>
              <a:buClr>
                <a:srgbClr val="F1D5EC"/>
              </a:buClr>
              <a:buSzPct val="150000"/>
              <a:buFont typeface="Kanit"/>
              <a:buChar char="›"/>
            </a:pPr>
            <a:r>
              <a:rPr lang="en-US" sz="1200" b="0" i="0" dirty="0">
                <a:solidFill>
                  <a:srgbClr val="FFFFFF"/>
                </a:solidFill>
                <a:latin typeface="Poppins"/>
                <a:ea typeface="Poppins"/>
                <a:cs typeface="Poppins"/>
              </a:rPr>
              <a:t>LightGBM row: the tuned raw+engineered-features model (73 features), not the primary raw-value model; 0.799 is a single hold-out.</a:t>
            </a:r>
          </a:p>
          <a:p>
            <a:pPr marL="228600" indent="-228600" algn="l">
              <a:lnSpc>
                <a:spcPct val="95000"/>
              </a:lnSpc>
              <a:spcBef>
                <a:spcPts val="0"/>
              </a:spcBef>
              <a:spcAft>
                <a:spcPts val="600"/>
              </a:spcAft>
              <a:buClr>
                <a:srgbClr val="F1D5EC"/>
              </a:buClr>
              <a:buSzPct val="150000"/>
              <a:buFont typeface="Kanit"/>
              <a:buChar char="›"/>
            </a:pPr>
            <a:r>
              <a:rPr lang="en-US" sz="1200" b="0" i="0" dirty="0">
                <a:solidFill>
                  <a:srgbClr val="FFFFFF"/>
                </a:solidFill>
                <a:latin typeface="Poppins"/>
                <a:ea typeface="Poppins"/>
                <a:cs typeface="Poppins"/>
              </a:rPr>
              <a:t>MLP 0.77 is its tuned blocked 5×2 CV macro-F1 (0.774 ± 0.054).</a:t>
            </a:r>
          </a:p>
          <a:p>
            <a:pPr marL="228600" indent="-228600" algn="l">
              <a:lnSpc>
                <a:spcPct val="95000"/>
              </a:lnSpc>
              <a:spcBef>
                <a:spcPts val="0"/>
              </a:spcBef>
              <a:spcAft>
                <a:spcPts val="0"/>
              </a:spcAft>
              <a:buClr>
                <a:srgbClr val="F1D5EC"/>
              </a:buClr>
              <a:buSzPct val="150000"/>
              <a:buFont typeface="Kanit"/>
              <a:buChar char="›"/>
            </a:pPr>
            <a:r>
              <a:rPr lang="en-US" sz="1200" b="0" i="0" dirty="0">
                <a:solidFill>
                  <a:srgbClr val="FFFFFF"/>
                </a:solidFill>
                <a:latin typeface="Poppins"/>
                <a:ea typeface="Poppins"/>
                <a:cs typeface="Poppins"/>
              </a:rPr>
              <a:t>LightGBM inference alone: 0.50 ms (0.02 ms in ONNX Runtime); about 87% of its cost is feature extraction.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40664" y="640080"/>
            <a:ext cx="4114800" cy="114300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17173A"/>
                </a:solidFill>
                <a:latin typeface="Kanit"/>
                <a:ea typeface="Kanit"/>
                <a:cs typeface="Kanit"/>
              </a:rPr>
              <a:t>5. Discussion:</a:t>
            </a:r>
          </a:p>
          <a:p>
            <a:pPr algn="l">
              <a:spcBef>
                <a:spcPts val="0"/>
              </a:spcBef>
              <a:spcAft>
                <a:spcPts val="0"/>
              </a:spcAft>
              <a:buNone/>
            </a:pPr>
            <a:r>
              <a:rPr lang="en-US" sz="3000" b="0" i="0" dirty="0">
                <a:solidFill>
                  <a:srgbClr val="17173A"/>
                </a:solidFill>
                <a:latin typeface="Kanit"/>
                <a:ea typeface="Kanit"/>
                <a:cs typeface="Kanit"/>
              </a:rPr>
              <a:t>Limitations</a:t>
            </a:r>
          </a:p>
        </p:txBody>
      </p:sp>
      <p:sp>
        <p:nvSpPr>
          <p:cNvPr id="3" name="Text 1"/>
          <p:cNvSpPr/>
          <p:nvPr/>
        </p:nvSpPr>
        <p:spPr>
          <a:xfrm>
            <a:off x="740664" y="2148840"/>
            <a:ext cx="4023360" cy="2103120"/>
          </a:xfrm>
          <a:prstGeom prst="rect">
            <a:avLst/>
          </a:prstGeom>
          <a:noFill/>
          <a:ln/>
        </p:spPr>
        <p:txBody>
          <a:bodyPr wrap="square" lIns="68580" tIns="34290" rIns="68580" bIns="34290" rtlCol="0" anchor="t">
            <a:normAutofit/>
          </a:bodyPr>
          <a:lstStyle/>
          <a:p>
            <a:pPr algn="l">
              <a:spcBef>
                <a:spcPts val="0"/>
              </a:spcBef>
              <a:spcAft>
                <a:spcPts val="400"/>
              </a:spcAft>
              <a:buNone/>
            </a:pPr>
            <a:r>
              <a:rPr lang="en-US" sz="1700" b="0" i="0" dirty="0">
                <a:solidFill>
                  <a:srgbClr val="5B2C91"/>
                </a:solidFill>
                <a:latin typeface="Kanit"/>
                <a:ea typeface="Kanit"/>
                <a:cs typeface="Kanit"/>
              </a:rPr>
              <a:t>What remains valid</a:t>
            </a:r>
          </a:p>
          <a:p>
            <a:pPr algn="l">
              <a:lnSpc>
                <a:spcPct val="95000"/>
              </a:lnSpc>
              <a:spcBef>
                <a:spcPts val="0"/>
              </a:spcBef>
              <a:spcAft>
                <a:spcPts val="0"/>
              </a:spcAft>
              <a:buNone/>
            </a:pPr>
            <a:r>
              <a:rPr lang="en-US" sz="1400" b="0" i="1" dirty="0">
                <a:solidFill>
                  <a:srgbClr val="5B2C91"/>
                </a:solidFill>
                <a:latin typeface="Poppins"/>
                <a:ea typeface="Poppins"/>
                <a:cs typeface="Poppins"/>
              </a:rPr>
              <a:t>Leakage-safe scores estimate extrapolation to unseen time within the same recordings, not seizure-type generalisation.</a:t>
            </a:r>
          </a:p>
        </p:txBody>
      </p:sp>
      <p:sp>
        <p:nvSpPr>
          <p:cNvPr id="4" name="Shape 2"/>
          <p:cNvSpPr/>
          <p:nvPr/>
        </p:nvSpPr>
        <p:spPr>
          <a:xfrm>
            <a:off x="5010912" y="0"/>
            <a:ext cx="0" cy="4596689"/>
          </a:xfrm>
          <a:prstGeom prst="line">
            <a:avLst/>
          </a:prstGeom>
          <a:noFill/>
          <a:ln w="19050">
            <a:solidFill>
              <a:srgbClr val="17173A"/>
            </a:solidFill>
            <a:prstDash val="solid"/>
          </a:ln>
        </p:spPr>
      </p:sp>
      <p:sp>
        <p:nvSpPr>
          <p:cNvPr id="5" name="Shape 3"/>
          <p:cNvSpPr/>
          <p:nvPr/>
        </p:nvSpPr>
        <p:spPr>
          <a:xfrm>
            <a:off x="5010912" y="2298802"/>
            <a:ext cx="4133088" cy="0"/>
          </a:xfrm>
          <a:prstGeom prst="line">
            <a:avLst/>
          </a:prstGeom>
          <a:noFill/>
          <a:ln w="19050">
            <a:solidFill>
              <a:srgbClr val="17173A"/>
            </a:solidFill>
            <a:prstDash val="solid"/>
          </a:ln>
        </p:spPr>
      </p:sp>
      <p:sp>
        <p:nvSpPr>
          <p:cNvPr id="6" name="Text 4"/>
          <p:cNvSpPr/>
          <p:nvPr/>
        </p:nvSpPr>
        <p:spPr>
          <a:xfrm>
            <a:off x="5486400" y="502920"/>
            <a:ext cx="329184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Data</a:t>
            </a:r>
          </a:p>
        </p:txBody>
      </p:sp>
      <p:sp>
        <p:nvSpPr>
          <p:cNvPr id="7" name="Text 5"/>
          <p:cNvSpPr/>
          <p:nvPr/>
        </p:nvSpPr>
        <p:spPr>
          <a:xfrm>
            <a:off x="5486400" y="960120"/>
            <a:ext cx="3429000" cy="1280160"/>
          </a:xfrm>
          <a:prstGeom prst="rect">
            <a:avLst/>
          </a:prstGeom>
          <a:noFill/>
          <a:ln/>
        </p:spPr>
        <p:txBody>
          <a:bodyPr wrap="square" lIns="68580" tIns="34290" rIns="68580" bIns="34290" rtlCol="0" anchor="t">
            <a:normAutofit/>
          </a:bodyPr>
          <a:lstStyle/>
          <a:p>
            <a:pPr marL="228600" indent="-228600" algn="l">
              <a:lnSpc>
                <a:spcPct val="95000"/>
              </a:lnSpc>
              <a:spcBef>
                <a:spcPts val="0"/>
              </a:spcBef>
              <a:spcAft>
                <a:spcPts val="500"/>
              </a:spcAft>
              <a:buClr>
                <a:srgbClr val="5B2C91"/>
              </a:buClr>
              <a:buSzPct val="150000"/>
              <a:buFont typeface="Kanit"/>
              <a:buChar char="›"/>
            </a:pPr>
            <a:r>
              <a:rPr lang="en-US" sz="1200" b="0" i="0" dirty="0">
                <a:solidFill>
                  <a:srgbClr val="17173A"/>
                </a:solidFill>
                <a:latin typeface="Poppins"/>
                <a:ea typeface="Poppins"/>
                <a:cs typeface="Poppins"/>
              </a:rPr>
              <a:t>No subject IDs, so no patient-level test.</a:t>
            </a:r>
          </a:p>
          <a:p>
            <a:pPr marL="228600" indent="-228600" algn="l">
              <a:lnSpc>
                <a:spcPct val="95000"/>
              </a:lnSpc>
              <a:spcBef>
                <a:spcPts val="0"/>
              </a:spcBef>
              <a:spcAft>
                <a:spcPts val="500"/>
              </a:spcAft>
              <a:buClr>
                <a:srgbClr val="5B2C91"/>
              </a:buClr>
              <a:buSzPct val="150000"/>
              <a:buFont typeface="Kanit"/>
              <a:buChar char="›"/>
            </a:pPr>
            <a:r>
              <a:rPr lang="en-US" sz="1200" b="0" i="0" dirty="0">
                <a:solidFill>
                  <a:srgbClr val="17173A"/>
                </a:solidFill>
                <a:latin typeface="Poppins"/>
                <a:ea typeface="Poppins"/>
                <a:cs typeface="Poppins"/>
              </a:rPr>
              <a:t>Recording identity and seizure type likely confounded (fingerprint result).</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Healthy class from Bonn set B; single dataset, no external test.</a:t>
            </a:r>
          </a:p>
        </p:txBody>
      </p:sp>
      <p:sp>
        <p:nvSpPr>
          <p:cNvPr id="8" name="Text 6"/>
          <p:cNvSpPr/>
          <p:nvPr/>
        </p:nvSpPr>
        <p:spPr>
          <a:xfrm>
            <a:off x="5486400" y="2514600"/>
            <a:ext cx="329184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200" b="0" i="0" dirty="0">
                <a:solidFill>
                  <a:srgbClr val="17173A"/>
                </a:solidFill>
                <a:latin typeface="Kanit"/>
                <a:ea typeface="Kanit"/>
                <a:cs typeface="Kanit"/>
              </a:rPr>
              <a:t>Methods</a:t>
            </a:r>
          </a:p>
        </p:txBody>
      </p:sp>
      <p:sp>
        <p:nvSpPr>
          <p:cNvPr id="9" name="Text 7"/>
          <p:cNvSpPr/>
          <p:nvPr/>
        </p:nvSpPr>
        <p:spPr>
          <a:xfrm>
            <a:off x="5486400" y="2971800"/>
            <a:ext cx="3429000" cy="1645920"/>
          </a:xfrm>
          <a:prstGeom prst="rect">
            <a:avLst/>
          </a:prstGeom>
          <a:noFill/>
          <a:ln/>
        </p:spPr>
        <p:txBody>
          <a:bodyPr wrap="square" lIns="68580" tIns="34290" rIns="68580" bIns="34290" rtlCol="0" anchor="t">
            <a:normAutofit/>
          </a:bodyPr>
          <a:lstStyle/>
          <a:p>
            <a:pPr marL="228600" indent="-228600" algn="l">
              <a:lnSpc>
                <a:spcPct val="95000"/>
              </a:lnSpc>
              <a:spcBef>
                <a:spcPts val="0"/>
              </a:spcBef>
              <a:spcAft>
                <a:spcPts val="500"/>
              </a:spcAft>
              <a:buClr>
                <a:srgbClr val="5B2C91"/>
              </a:buClr>
              <a:buSzPct val="150000"/>
              <a:buFont typeface="Kanit"/>
              <a:buChar char="›"/>
            </a:pPr>
            <a:r>
              <a:rPr lang="en-US" sz="1200" b="0" i="0" dirty="0">
                <a:solidFill>
                  <a:srgbClr val="17173A"/>
                </a:solidFill>
                <a:latin typeface="Poppins"/>
                <a:ea typeface="Poppins"/>
                <a:cs typeface="Poppins"/>
              </a:rPr>
              <a:t>CHB-MIT search for classes 1–3 found no match but was partial: 246 of 686 files, all 24 subjects; best 0.42 vs 0.80 threshold [5].</a:t>
            </a:r>
          </a:p>
          <a:p>
            <a:pPr marL="228600" indent="-228600" algn="l">
              <a:lnSpc>
                <a:spcPct val="95000"/>
              </a:lnSpc>
              <a:spcBef>
                <a:spcPts val="0"/>
              </a:spcBef>
              <a:spcAft>
                <a:spcPts val="0"/>
              </a:spcAft>
              <a:buClr>
                <a:srgbClr val="5B2C91"/>
              </a:buClr>
              <a:buSzPct val="150000"/>
              <a:buFont typeface="Kanit"/>
              <a:buChar char="›"/>
            </a:pPr>
            <a:r>
              <a:rPr lang="en-US" sz="1200" b="0" i="0" dirty="0">
                <a:solidFill>
                  <a:srgbClr val="17173A"/>
                </a:solidFill>
                <a:latin typeface="Poppins"/>
                <a:ea typeface="Poppins"/>
                <a:cs typeface="Poppins"/>
              </a:rPr>
              <a:t>Friedman/Nemenyi anti-conservative; deep models tuned on one inner hold-out; no edge hardware.</a:t>
            </a:r>
          </a:p>
        </p:txBody>
      </p:sp>
      <p:pic>
        <p:nvPicPr>
          <p:cNvPr id="10"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1" name="Shape 8"/>
          <p:cNvSpPr/>
          <p:nvPr/>
        </p:nvSpPr>
        <p:spPr>
          <a:xfrm>
            <a:off x="0" y="4796028"/>
            <a:ext cx="9144000" cy="347472"/>
          </a:xfrm>
          <a:prstGeom prst="rect">
            <a:avLst/>
          </a:prstGeom>
          <a:solidFill>
            <a:srgbClr val="EDE6F8"/>
          </a:solidFill>
          <a:ln/>
        </p:spPr>
      </p:sp>
      <p:sp>
        <p:nvSpPr>
          <p:cNvPr id="12" name="Shape 9"/>
          <p:cNvSpPr/>
          <p:nvPr/>
        </p:nvSpPr>
        <p:spPr>
          <a:xfrm>
            <a:off x="0" y="4796028"/>
            <a:ext cx="109728" cy="347472"/>
          </a:xfrm>
          <a:prstGeom prst="rect">
            <a:avLst/>
          </a:prstGeom>
          <a:solidFill>
            <a:srgbClr val="5B2C91"/>
          </a:solidFill>
          <a:ln/>
        </p:spPr>
      </p:sp>
      <p:pic>
        <p:nvPicPr>
          <p:cNvPr id="13"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4" name="Text 10"/>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5" name="Text 11"/>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13 / 16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31266" y="566928"/>
            <a:ext cx="7223760" cy="77724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3000" b="0" i="0" dirty="0">
                <a:solidFill>
                  <a:srgbClr val="FFFFFF"/>
                </a:solidFill>
                <a:latin typeface="Kanit"/>
                <a:ea typeface="Kanit"/>
                <a:cs typeface="Kanit"/>
              </a:rPr>
              <a:t>6. Conclusion: Takeaways and Future Work</a:t>
            </a:r>
          </a:p>
        </p:txBody>
      </p:sp>
      <p:sp>
        <p:nvSpPr>
          <p:cNvPr id="3" name="Shape 1"/>
          <p:cNvSpPr/>
          <p:nvPr/>
        </p:nvSpPr>
        <p:spPr>
          <a:xfrm>
            <a:off x="0" y="1417320"/>
            <a:ext cx="9144000" cy="0"/>
          </a:xfrm>
          <a:prstGeom prst="line">
            <a:avLst/>
          </a:prstGeom>
          <a:noFill/>
          <a:ln w="19050">
            <a:solidFill>
              <a:srgbClr val="FFFFFF"/>
            </a:solidFill>
            <a:prstDash val="solid"/>
          </a:ln>
        </p:spPr>
      </p:sp>
      <p:sp>
        <p:nvSpPr>
          <p:cNvPr id="4" name="Shape 2"/>
          <p:cNvSpPr/>
          <p:nvPr/>
        </p:nvSpPr>
        <p:spPr>
          <a:xfrm>
            <a:off x="4572000" y="1417320"/>
            <a:ext cx="0" cy="3172968"/>
          </a:xfrm>
          <a:prstGeom prst="line">
            <a:avLst/>
          </a:prstGeom>
          <a:noFill/>
          <a:ln w="19050">
            <a:solidFill>
              <a:srgbClr val="FFFFFF"/>
            </a:solidFill>
            <a:prstDash val="solid"/>
          </a:ln>
        </p:spPr>
      </p:sp>
      <p:sp>
        <p:nvSpPr>
          <p:cNvPr id="5" name="Text 3"/>
          <p:cNvSpPr/>
          <p:nvPr/>
        </p:nvSpPr>
        <p:spPr>
          <a:xfrm>
            <a:off x="521208" y="1572768"/>
            <a:ext cx="3840480" cy="41148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100" b="0" i="0" dirty="0">
                <a:solidFill>
                  <a:srgbClr val="F1D5EC"/>
                </a:solidFill>
                <a:latin typeface="Kanit"/>
                <a:ea typeface="Kanit"/>
                <a:cs typeface="Kanit"/>
              </a:rPr>
              <a:t>Takeaways</a:t>
            </a:r>
          </a:p>
        </p:txBody>
      </p:sp>
      <p:sp>
        <p:nvSpPr>
          <p:cNvPr id="6" name="Shape 4"/>
          <p:cNvSpPr/>
          <p:nvPr/>
        </p:nvSpPr>
        <p:spPr>
          <a:xfrm>
            <a:off x="576072" y="2212848"/>
            <a:ext cx="166421" cy="166421"/>
          </a:xfrm>
          <a:prstGeom prst="ellipse">
            <a:avLst/>
          </a:prstGeom>
          <a:ln w="18471">
            <a:solidFill>
              <a:srgbClr val="FFFFFF"/>
            </a:solidFill>
            <a:prstDash val="solid"/>
          </a:ln>
        </p:spPr>
      </p:sp>
      <p:sp>
        <p:nvSpPr>
          <p:cNvPr id="7" name="Shape 5"/>
          <p:cNvSpPr/>
          <p:nvPr/>
        </p:nvSpPr>
        <p:spPr>
          <a:xfrm>
            <a:off x="566928" y="2203704"/>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8" name="Text 6"/>
          <p:cNvSpPr/>
          <p:nvPr/>
        </p:nvSpPr>
        <p:spPr>
          <a:xfrm>
            <a:off x="822960" y="2121408"/>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Random split 0.98 vs leakage-safe 0.75 ± 0.08 (3-class: 0.98 vs 0.68 ± 0.10).</a:t>
            </a:r>
          </a:p>
        </p:txBody>
      </p:sp>
      <p:sp>
        <p:nvSpPr>
          <p:cNvPr id="9" name="Shape 7"/>
          <p:cNvSpPr/>
          <p:nvPr/>
        </p:nvSpPr>
        <p:spPr>
          <a:xfrm>
            <a:off x="576072" y="2825496"/>
            <a:ext cx="166421" cy="166421"/>
          </a:xfrm>
          <a:prstGeom prst="ellipse">
            <a:avLst/>
          </a:prstGeom>
          <a:ln w="18471">
            <a:solidFill>
              <a:srgbClr val="FFFFFF"/>
            </a:solidFill>
            <a:prstDash val="solid"/>
          </a:ln>
        </p:spPr>
      </p:sp>
      <p:sp>
        <p:nvSpPr>
          <p:cNvPr id="10" name="Shape 8"/>
          <p:cNvSpPr/>
          <p:nvPr/>
        </p:nvSpPr>
        <p:spPr>
          <a:xfrm>
            <a:off x="566928" y="2816352"/>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1" name="Text 9"/>
          <p:cNvSpPr/>
          <p:nvPr/>
        </p:nvSpPr>
        <p:spPr>
          <a:xfrm>
            <a:off x="822960" y="2734056"/>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Per-channel |x| alone reaches 0.72 / 0.65: mostly a recording fingerprint.</a:t>
            </a:r>
          </a:p>
        </p:txBody>
      </p:sp>
      <p:sp>
        <p:nvSpPr>
          <p:cNvPr id="12" name="Shape 10"/>
          <p:cNvSpPr/>
          <p:nvPr/>
        </p:nvSpPr>
        <p:spPr>
          <a:xfrm>
            <a:off x="576072" y="3438144"/>
            <a:ext cx="166421" cy="166421"/>
          </a:xfrm>
          <a:prstGeom prst="ellipse">
            <a:avLst/>
          </a:prstGeom>
          <a:ln w="18471">
            <a:solidFill>
              <a:srgbClr val="FFFFFF"/>
            </a:solidFill>
            <a:prstDash val="solid"/>
          </a:ln>
        </p:spPr>
      </p:sp>
      <p:sp>
        <p:nvSpPr>
          <p:cNvPr id="1701" name="Shape 10 copy"/>
          <p:cNvSpPr/>
          <p:nvPr/>
        </p:nvSpPr>
        <p:spPr>
          <a:xfrm>
            <a:off x="576072" y="4050792"/>
            <a:ext cx="166421" cy="166421"/>
          </a:xfrm>
          <a:prstGeom prst="ellipse">
            <a:avLst/>
          </a:prstGeom>
          <a:ln w="18471">
            <a:solidFill>
              <a:srgbClr val="FFFFFF"/>
            </a:solidFill>
            <a:prstDash val="solid"/>
          </a:ln>
        </p:spPr>
      </p:sp>
      <p:sp>
        <p:nvSpPr>
          <p:cNvPr id="13" name="Shape 11"/>
          <p:cNvSpPr/>
          <p:nvPr/>
        </p:nvSpPr>
        <p:spPr>
          <a:xfrm>
            <a:off x="566928" y="3429000"/>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702" name="Shape 11 copy"/>
          <p:cNvSpPr/>
          <p:nvPr/>
        </p:nvSpPr>
        <p:spPr>
          <a:xfrm>
            <a:off x="566928" y="4041648"/>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4" name="Text 12"/>
          <p:cNvSpPr/>
          <p:nvPr/>
        </p:nvSpPr>
        <p:spPr>
          <a:xfrm>
            <a:off x="822960" y="3346704"/>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Healthy rows identical to Bonn set B windows [2], [3]: a source shortcut.</a:t>
            </a:r>
          </a:p>
        </p:txBody>
      </p:sp>
      <p:sp>
        <p:nvSpPr>
          <p:cNvPr id="1703" name="Text 12 copy"/>
          <p:cNvSpPr/>
          <p:nvPr/>
        </p:nvSpPr>
        <p:spPr>
          <a:xfrm>
            <a:off x="822960" y="3959352"/>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Report pre-specified, leakage-safe (rolling-origin) estimates for BEED.</a:t>
            </a:r>
          </a:p>
        </p:txBody>
      </p:sp>
      <p:sp>
        <p:nvSpPr>
          <p:cNvPr id="15" name="Text 13"/>
          <p:cNvSpPr/>
          <p:nvPr/>
        </p:nvSpPr>
        <p:spPr>
          <a:xfrm>
            <a:off x="4937760" y="1572768"/>
            <a:ext cx="3840480" cy="41148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100" b="0" i="0" dirty="0">
                <a:solidFill>
                  <a:srgbClr val="F1D5EC"/>
                </a:solidFill>
                <a:latin typeface="Kanit"/>
                <a:ea typeface="Kanit"/>
                <a:cs typeface="Kanit"/>
              </a:rPr>
              <a:t>Future work</a:t>
            </a:r>
          </a:p>
        </p:txBody>
      </p:sp>
      <p:sp>
        <p:nvSpPr>
          <p:cNvPr id="16" name="Shape 14"/>
          <p:cNvSpPr/>
          <p:nvPr/>
        </p:nvSpPr>
        <p:spPr>
          <a:xfrm>
            <a:off x="4992624" y="2212848"/>
            <a:ext cx="166421" cy="166421"/>
          </a:xfrm>
          <a:prstGeom prst="ellipse">
            <a:avLst/>
          </a:prstGeom>
          <a:ln w="18471">
            <a:solidFill>
              <a:srgbClr val="FFFFFF"/>
            </a:solidFill>
            <a:prstDash val="solid"/>
          </a:ln>
        </p:spPr>
      </p:sp>
      <p:sp>
        <p:nvSpPr>
          <p:cNvPr id="17" name="Shape 15"/>
          <p:cNvSpPr/>
          <p:nvPr/>
        </p:nvSpPr>
        <p:spPr>
          <a:xfrm>
            <a:off x="4983480" y="2203704"/>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8" name="Text 16"/>
          <p:cNvSpPr/>
          <p:nvPr/>
        </p:nvSpPr>
        <p:spPr>
          <a:xfrm>
            <a:off x="5239512" y="2121408"/>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Subject and recording metadata from the dataset creators.</a:t>
            </a:r>
          </a:p>
        </p:txBody>
      </p:sp>
      <p:sp>
        <p:nvSpPr>
          <p:cNvPr id="19" name="Shape 17"/>
          <p:cNvSpPr/>
          <p:nvPr/>
        </p:nvSpPr>
        <p:spPr>
          <a:xfrm>
            <a:off x="4992624" y="2825496"/>
            <a:ext cx="166421" cy="166421"/>
          </a:xfrm>
          <a:prstGeom prst="ellipse">
            <a:avLst/>
          </a:prstGeom>
          <a:ln w="18471">
            <a:solidFill>
              <a:srgbClr val="FFFFFF"/>
            </a:solidFill>
            <a:prstDash val="solid"/>
          </a:ln>
        </p:spPr>
      </p:sp>
      <p:sp>
        <p:nvSpPr>
          <p:cNvPr id="20" name="Shape 18"/>
          <p:cNvSpPr/>
          <p:nvPr/>
        </p:nvSpPr>
        <p:spPr>
          <a:xfrm>
            <a:off x="4983480" y="2816352"/>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21" name="Text 19"/>
          <p:cNvSpPr/>
          <p:nvPr/>
        </p:nvSpPr>
        <p:spPr>
          <a:xfrm>
            <a:off x="5239512" y="2734056"/>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Validation on independent public EEG data.</a:t>
            </a:r>
          </a:p>
        </p:txBody>
      </p:sp>
      <p:sp>
        <p:nvSpPr>
          <p:cNvPr id="22" name="Shape 20"/>
          <p:cNvSpPr/>
          <p:nvPr/>
        </p:nvSpPr>
        <p:spPr>
          <a:xfrm>
            <a:off x="4992624" y="3438144"/>
            <a:ext cx="166421" cy="166421"/>
          </a:xfrm>
          <a:prstGeom prst="ellipse">
            <a:avLst/>
          </a:prstGeom>
          <a:ln w="18471">
            <a:solidFill>
              <a:srgbClr val="FFFFFF"/>
            </a:solidFill>
            <a:prstDash val="solid"/>
          </a:ln>
        </p:spPr>
      </p:sp>
      <p:sp>
        <p:nvSpPr>
          <p:cNvPr id="1704" name="Shape 20 copy"/>
          <p:cNvSpPr/>
          <p:nvPr/>
        </p:nvSpPr>
        <p:spPr>
          <a:xfrm>
            <a:off x="4992624" y="4050792"/>
            <a:ext cx="166421" cy="166421"/>
          </a:xfrm>
          <a:prstGeom prst="ellipse">
            <a:avLst/>
          </a:prstGeom>
          <a:ln w="18471">
            <a:solidFill>
              <a:srgbClr val="FFFFFF"/>
            </a:solidFill>
            <a:prstDash val="solid"/>
          </a:ln>
        </p:spPr>
      </p:sp>
      <p:sp>
        <p:nvSpPr>
          <p:cNvPr id="23" name="Shape 21"/>
          <p:cNvSpPr/>
          <p:nvPr/>
        </p:nvSpPr>
        <p:spPr>
          <a:xfrm>
            <a:off x="4983480" y="3429000"/>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1705" name="Shape 21 copy"/>
          <p:cNvSpPr/>
          <p:nvPr/>
        </p:nvSpPr>
        <p:spPr>
          <a:xfrm>
            <a:off x="4983480" y="4041648"/>
            <a:ext cx="184709" cy="184709"/>
          </a:xfrm>
          <a:custGeom>
            <a:avLst/>
            <a:gdLst/>
            <a:ahLst/>
            <a:cxnLst/>
            <a:rect l="l" t="t" r="r" b="b"/>
            <a:pathLst>
              <a:path w="184709" h="184709">
                <a:moveTo>
                  <a:pt x="79425" y="134837"/>
                </a:moveTo>
                <a:lnTo>
                  <a:pt x="144627" y="69820"/>
                </a:lnTo>
                <a:lnTo>
                  <a:pt x="131513" y="56706"/>
                </a:lnTo>
                <a:lnTo>
                  <a:pt x="79425" y="108978"/>
                </a:lnTo>
                <a:lnTo>
                  <a:pt x="53196" y="82565"/>
                </a:lnTo>
                <a:lnTo>
                  <a:pt x="40267" y="95679"/>
                </a:lnTo>
                <a:close/>
              </a:path>
            </a:pathLst>
          </a:custGeom>
          <a:solidFill>
            <a:srgbClr val="FFFFFF"/>
          </a:solidFill>
          <a:ln/>
        </p:spPr>
      </p:sp>
      <p:sp>
        <p:nvSpPr>
          <p:cNvPr id="24" name="Text 22"/>
          <p:cNvSpPr/>
          <p:nvPr/>
        </p:nvSpPr>
        <p:spPr>
          <a:xfrm>
            <a:off x="5239512" y="3346704"/>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Same-source healthy recordings.</a:t>
            </a:r>
          </a:p>
        </p:txBody>
      </p:sp>
      <p:sp>
        <p:nvSpPr>
          <p:cNvPr id="1706" name="Text 22 copy"/>
          <p:cNvSpPr/>
          <p:nvPr/>
        </p:nvSpPr>
        <p:spPr>
          <a:xfrm>
            <a:off x="5239512" y="3959352"/>
            <a:ext cx="3657600" cy="566928"/>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FFFFFF"/>
                </a:solidFill>
                <a:latin typeface="Poppins"/>
                <a:ea typeface="Poppins"/>
                <a:cs typeface="Poppins"/>
              </a:rPr>
              <a:t>Wider source search: TUSZ, Siena, filtered derivatives.</a:t>
            </a:r>
          </a:p>
        </p:txBody>
      </p:sp>
      <p:pic>
        <p:nvPicPr>
          <p:cNvPr id="25"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26" name="Shape 23"/>
          <p:cNvSpPr/>
          <p:nvPr/>
        </p:nvSpPr>
        <p:spPr>
          <a:xfrm>
            <a:off x="0" y="4796028"/>
            <a:ext cx="9144000" cy="347472"/>
          </a:xfrm>
          <a:prstGeom prst="rect">
            <a:avLst/>
          </a:prstGeom>
          <a:solidFill>
            <a:srgbClr val="EDE6F8"/>
          </a:solidFill>
          <a:ln/>
        </p:spPr>
      </p:sp>
      <p:sp>
        <p:nvSpPr>
          <p:cNvPr id="27" name="Shape 24"/>
          <p:cNvSpPr/>
          <p:nvPr/>
        </p:nvSpPr>
        <p:spPr>
          <a:xfrm>
            <a:off x="0" y="4796028"/>
            <a:ext cx="109728" cy="347472"/>
          </a:xfrm>
          <a:prstGeom prst="rect">
            <a:avLst/>
          </a:prstGeom>
          <a:solidFill>
            <a:srgbClr val="5B2C91"/>
          </a:solidFill>
          <a:ln/>
        </p:spPr>
      </p:sp>
      <p:pic>
        <p:nvPicPr>
          <p:cNvPr id="28"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9" name="Text 25"/>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30" name="Text 26"/>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14 / 16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21208" y="602590"/>
            <a:ext cx="8100670" cy="83119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4400" b="0" i="0" dirty="0">
                <a:solidFill>
                  <a:srgbClr val="17173A"/>
                </a:solidFill>
                <a:latin typeface="Kanit"/>
                <a:ea typeface="Kanit"/>
                <a:cs typeface="Kanit"/>
              </a:rPr>
              <a:t>References</a:t>
            </a:r>
          </a:p>
        </p:txBody>
      </p:sp>
      <p:sp>
        <p:nvSpPr>
          <p:cNvPr id="3" name="Shape 1"/>
          <p:cNvSpPr/>
          <p:nvPr/>
        </p:nvSpPr>
        <p:spPr>
          <a:xfrm>
            <a:off x="0" y="1481328"/>
            <a:ext cx="9144000" cy="0"/>
          </a:xfrm>
          <a:prstGeom prst="line">
            <a:avLst/>
          </a:prstGeom>
          <a:noFill/>
          <a:ln w="19050">
            <a:solidFill>
              <a:srgbClr val="17173A"/>
            </a:solidFill>
            <a:prstDash val="solid"/>
          </a:ln>
        </p:spPr>
      </p:sp>
      <p:sp>
        <p:nvSpPr>
          <p:cNvPr id="5" name="Text 3"/>
          <p:cNvSpPr/>
          <p:nvPr/>
        </p:nvSpPr>
        <p:spPr>
          <a:xfrm>
            <a:off x="685800" y="1737360"/>
            <a:ext cx="3749040" cy="2834640"/>
          </a:xfrm>
          <a:prstGeom prst="rect">
            <a:avLst/>
          </a:prstGeom>
          <a:noFill/>
          <a:ln/>
        </p:spPr>
        <p:txBody>
          <a:bodyPr wrap="square" lIns="68580" tIns="34290" rIns="68580" bIns="34290" rtlCol="0" anchor="t">
            <a:normAutofit/>
          </a:bodyPr>
          <a:lstStyle/>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[1]</a:t>
            </a:r>
            <a:r>
              <a:rPr lang="en-US" sz="1100" b="0" i="0" dirty="0">
                <a:solidFill>
                  <a:srgbClr val="17173A"/>
                </a:solidFill>
                <a:latin typeface="Poppins"/>
                <a:ea typeface="Poppins"/>
                <a:cs typeface="Poppins"/>
              </a:rPr>
              <a:t>	Najmusseher N, Nizar Banu PK. BEED: Bangalore EEG Epilepsy Dataset [dataset]. UCI Machine Learning Repository. 2024. doi:10.24432/C5K33B.</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[2]</a:t>
            </a:r>
            <a:r>
              <a:rPr lang="en-US" sz="1100" b="0" i="0" dirty="0">
                <a:solidFill>
                  <a:srgbClr val="17173A"/>
                </a:solidFill>
                <a:latin typeface="Poppins"/>
                <a:ea typeface="Poppins"/>
                <a:cs typeface="Poppins"/>
              </a:rPr>
              <a:t>	Andrzejak RG, Lehnertz K, Mormann F, Rieke C, David P, Elger CE. Indications of nonlinear deterministic and finite-dimensional structures in time series of brain electrical activity: dependence on recording region and brain state. Physical Review E. 2001;64(6):061907. doi:10.1103/PhysRevE.64.061907.</a:t>
            </a:r>
          </a:p>
        </p:txBody>
      </p:sp>
      <p:pic>
        <p:nvPicPr>
          <p:cNvPr id="16"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7" name="Shape 14"/>
          <p:cNvSpPr/>
          <p:nvPr/>
        </p:nvSpPr>
        <p:spPr>
          <a:xfrm>
            <a:off x="0" y="4796028"/>
            <a:ext cx="9144000" cy="347472"/>
          </a:xfrm>
          <a:prstGeom prst="rect">
            <a:avLst/>
          </a:prstGeom>
          <a:solidFill>
            <a:srgbClr val="EDE6F8"/>
          </a:solidFill>
          <a:ln/>
        </p:spPr>
      </p:sp>
      <p:sp>
        <p:nvSpPr>
          <p:cNvPr id="18" name="Shape 15"/>
          <p:cNvSpPr/>
          <p:nvPr/>
        </p:nvSpPr>
        <p:spPr>
          <a:xfrm>
            <a:off x="0" y="4796028"/>
            <a:ext cx="109728" cy="347472"/>
          </a:xfrm>
          <a:prstGeom prst="rect">
            <a:avLst/>
          </a:prstGeom>
          <a:solidFill>
            <a:srgbClr val="5B2C91"/>
          </a:solidFill>
          <a:ln/>
        </p:spPr>
      </p:sp>
      <p:pic>
        <p:nvPicPr>
          <p:cNvPr id="19"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20" name="Text 16"/>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21" name="Text 17"/>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15 / 16</a:t>
            </a:r>
            <a:endParaRPr lang="en-US" sz="850" dirty="0"/>
          </a:p>
        </p:txBody>
      </p:sp>
      <p:sp>
        <p:nvSpPr>
          <p:cNvPr id="1707" name="Refs right"/>
          <p:cNvSpPr txBox="1"/>
          <p:nvPr/>
        </p:nvSpPr>
        <p:spPr>
          <a:xfrm>
            <a:off x="4709160" y="1737360"/>
            <a:ext cx="4069080" cy="2834640"/>
          </a:xfrm>
          <a:prstGeom prst="rect">
            <a:avLst/>
          </a:prstGeom>
          <a:noFill/>
        </p:spPr>
        <p:txBody>
          <a:bodyPr wrap="square" lIns="45720" tIns="27432" rIns="45720" bIns="27432" anchor="t">
            <a:normAutofit/>
          </a:bodyPr>
          <a:lstStyle/>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[3]</a:t>
            </a:r>
            <a:r>
              <a:rPr lang="en-US" sz="1100" b="0" i="0" dirty="0">
                <a:solidFill>
                  <a:srgbClr val="17173A"/>
                </a:solidFill>
                <a:latin typeface="Poppins"/>
                <a:ea typeface="Poppins"/>
                <a:cs typeface="Poppins"/>
              </a:rPr>
              <a:t>	Wu Q, Fokoue E. Epileptic Seizure Recognition [dataset]. UCI Machine Learning Repository. 2017. doi:10.24432/C5G308. Copy distributed by the creators at github.com/QiuyiWu/Epileptic-Seizure-Recognition-Data (accessed 8 October 2026).</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[4]</a:t>
            </a:r>
            <a:r>
              <a:rPr lang="en-US" sz="1100" b="0" i="0" dirty="0">
                <a:solidFill>
                  <a:srgbClr val="17173A"/>
                </a:solidFill>
                <a:latin typeface="Poppins"/>
                <a:ea typeface="Poppins"/>
                <a:cs typeface="Poppins"/>
              </a:rPr>
              <a:t>	World Health Organization. Epilepsy [fact sheet]. who.int/news-room/fact-sheets/detail/epilepsy (accessed 8 October 2026).</a:t>
            </a:r>
          </a:p>
          <a:p>
            <a:pPr marL="320040" indent="-320040" algn="l">
              <a:lnSpc>
                <a:spcPct val="95000"/>
              </a:lnSpc>
              <a:spcBef>
                <a:spcPts val="0"/>
              </a:spcBef>
              <a:spcAft>
                <a:spcPts val="900"/>
              </a:spcAft>
              <a:buNone/>
              <a:tabLst>
                <a:tab pos="320040" algn="l"/>
              </a:tabLst>
            </a:pPr>
            <a:r>
              <a:rPr lang="en-US" sz="1100" b="1" i="0" dirty="0">
                <a:solidFill>
                  <a:srgbClr val="5B2C91"/>
                </a:solidFill>
                <a:latin typeface="Poppins"/>
                <a:ea typeface="Poppins"/>
                <a:cs typeface="Poppins"/>
              </a:rPr>
              <a:t>[5]</a:t>
            </a:r>
            <a:r>
              <a:rPr lang="en-US" sz="1100" b="0" i="0" dirty="0">
                <a:solidFill>
                  <a:srgbClr val="17173A"/>
                </a:solidFill>
                <a:latin typeface="Poppins"/>
                <a:ea typeface="Poppins"/>
                <a:cs typeface="Poppins"/>
              </a:rPr>
              <a:t>	Guttag J. CHB-MIT Scalp EEG Database (version 1.0.0). PhysioNet. 2010. doi:10.13026/C2K01R. Goldberger AL, et al. Circulation. 2000;101(23):e215–e220. doi:10.1161/01.CIR.101.23.e215.</a:t>
            </a:r>
          </a:p>
          <a:p>
            <a:pPr algn="l">
              <a:spcBef>
                <a:spcPts val="0"/>
              </a:spcBef>
              <a:spcAft>
                <a:spcPts val="0"/>
              </a:spcAft>
              <a:buNone/>
            </a:pPr>
            <a:r>
              <a:rPr lang="en-US" sz="1100" b="0" i="1" dirty="0">
                <a:solidFill>
                  <a:srgbClr val="4A4A6A"/>
                </a:solidFill>
                <a:latin typeface="Poppins"/>
                <a:ea typeface="Poppins"/>
                <a:cs typeface="Poppins"/>
              </a:rPr>
              <a:t>Complete reference list: see the full paper.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21208" y="502920"/>
            <a:ext cx="7132320" cy="1051560"/>
          </a:xfrm>
          <a:prstGeom prst="rect">
            <a:avLst/>
          </a:prstGeom>
          <a:noFill/>
          <a:ln/>
        </p:spPr>
        <p:txBody>
          <a:bodyPr wrap="square" lIns="68580" tIns="34290" rIns="68580" bIns="34290" rtlCol="0" anchor="b">
            <a:normAutofit/>
          </a:bodyPr>
          <a:lstStyle/>
          <a:p>
            <a:pPr algn="l">
              <a:spcBef>
                <a:spcPts val="0"/>
              </a:spcBef>
              <a:spcAft>
                <a:spcPts val="0"/>
              </a:spcAft>
              <a:buNone/>
            </a:pPr>
            <a:r>
              <a:rPr lang="en-US" sz="6600" b="0" i="0" dirty="0">
                <a:solidFill>
                  <a:srgbClr val="17173A"/>
                </a:solidFill>
                <a:latin typeface="Kanit"/>
                <a:ea typeface="Kanit"/>
                <a:cs typeface="Kanit"/>
              </a:rPr>
              <a:t>THANK YOU</a:t>
            </a:r>
          </a:p>
        </p:txBody>
      </p:sp>
      <p:sp>
        <p:nvSpPr>
          <p:cNvPr id="3" name="Text 1"/>
          <p:cNvSpPr/>
          <p:nvPr/>
        </p:nvSpPr>
        <p:spPr>
          <a:xfrm>
            <a:off x="548640" y="2194560"/>
            <a:ext cx="4572000" cy="54864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800" b="0" i="0" dirty="0">
                <a:solidFill>
                  <a:srgbClr val="5B2C91"/>
                </a:solidFill>
                <a:latin typeface="Kanit"/>
                <a:ea typeface="Kanit"/>
                <a:cs typeface="Kanit"/>
              </a:rPr>
              <a:t>Questions?</a:t>
            </a:r>
          </a:p>
        </p:txBody>
      </p:sp>
      <p:sp>
        <p:nvSpPr>
          <p:cNvPr id="4" name="Text 2"/>
          <p:cNvSpPr/>
          <p:nvPr/>
        </p:nvSpPr>
        <p:spPr>
          <a:xfrm>
            <a:off x="548640" y="1536192"/>
            <a:ext cx="6400800" cy="4572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000" b="0" i="0" dirty="0">
                <a:solidFill>
                  <a:srgbClr val="17173A"/>
                </a:solidFill>
                <a:latin typeface="Poppins"/>
                <a:ea typeface="Poppins"/>
                <a:cs typeface="Poppins"/>
              </a:rPr>
              <a:t>FOR YOUR ATTENTION</a:t>
            </a:r>
          </a:p>
        </p:txBody>
      </p:sp>
      <p:sp>
        <p:nvSpPr>
          <p:cNvPr id="5" name="Shape 3"/>
          <p:cNvSpPr/>
          <p:nvPr/>
        </p:nvSpPr>
        <p:spPr>
          <a:xfrm>
            <a:off x="603504" y="2084832"/>
            <a:ext cx="2157984" cy="0"/>
          </a:xfrm>
          <a:prstGeom prst="line">
            <a:avLst/>
          </a:prstGeom>
          <a:noFill/>
          <a:ln w="28575">
            <a:solidFill>
              <a:srgbClr val="17173A"/>
            </a:solidFill>
            <a:prstDash val="solid"/>
          </a:ln>
        </p:spPr>
      </p:sp>
      <p:pic>
        <p:nvPicPr>
          <p:cNvPr id="6"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7" name="Shape 4"/>
          <p:cNvSpPr/>
          <p:nvPr/>
        </p:nvSpPr>
        <p:spPr>
          <a:xfrm>
            <a:off x="0" y="4796028"/>
            <a:ext cx="9144000" cy="347472"/>
          </a:xfrm>
          <a:prstGeom prst="rect">
            <a:avLst/>
          </a:prstGeom>
          <a:solidFill>
            <a:srgbClr val="EDE6F8"/>
          </a:solidFill>
          <a:ln/>
        </p:spPr>
      </p:sp>
      <p:sp>
        <p:nvSpPr>
          <p:cNvPr id="8" name="Shape 5"/>
          <p:cNvSpPr/>
          <p:nvPr/>
        </p:nvSpPr>
        <p:spPr>
          <a:xfrm>
            <a:off x="0" y="4796028"/>
            <a:ext cx="109728" cy="347472"/>
          </a:xfrm>
          <a:prstGeom prst="rect">
            <a:avLst/>
          </a:prstGeom>
          <a:solidFill>
            <a:srgbClr val="5B2C91"/>
          </a:solidFill>
          <a:ln/>
        </p:spPr>
      </p:sp>
      <p:pic>
        <p:nvPicPr>
          <p:cNvPr id="9"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0" name="Text 6"/>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1" name="Text 7"/>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16 / 16</a:t>
            </a:r>
            <a:endParaRPr lang="en-US" sz="850" dirty="0"/>
          </a:p>
        </p:txBody>
      </p:sp>
      <p:sp>
        <p:nvSpPr>
          <p:cNvPr id="1708" name="Contact"/>
          <p:cNvSpPr txBox="1"/>
          <p:nvPr/>
        </p:nvSpPr>
        <p:spPr>
          <a:xfrm>
            <a:off x="548640" y="2880360"/>
            <a:ext cx="8046720" cy="1691640"/>
          </a:xfrm>
          <a:prstGeom prst="rect">
            <a:avLst/>
          </a:prstGeom>
          <a:noFill/>
        </p:spPr>
        <p:txBody>
          <a:bodyPr wrap="square" lIns="45720" tIns="27432" rIns="45720" bIns="27432" anchor="t">
            <a:normAutofit/>
          </a:bodyPr>
          <a:lstStyle/>
          <a:p>
            <a:pPr algn="l">
              <a:spcBef>
                <a:spcPts val="0"/>
              </a:spcBef>
              <a:spcAft>
                <a:spcPts val="300"/>
              </a:spcAft>
              <a:buNone/>
            </a:pPr>
            <a:r>
              <a:rPr lang="en-US" sz="1600" b="1" i="0" dirty="0">
                <a:solidFill>
                  <a:srgbClr val="2A2C86"/>
                </a:solidFill>
                <a:latin typeface="Kanit"/>
                <a:ea typeface="Kanit"/>
                <a:cs typeface="Kanit"/>
              </a:rPr>
              <a:t>Er. Rishabh Aryan</a:t>
            </a:r>
          </a:p>
          <a:p>
            <a:pPr algn="l">
              <a:spcBef>
                <a:spcPts val="0"/>
              </a:spcBef>
              <a:spcAft>
                <a:spcPts val="100"/>
              </a:spcAft>
              <a:buNone/>
            </a:pPr>
            <a:r>
              <a:rPr lang="en-US" sz="1200" b="0" i="0" dirty="0">
                <a:solidFill>
                  <a:srgbClr val="17173A"/>
                </a:solidFill>
                <a:latin typeface="Poppins"/>
                <a:ea typeface="Poppins"/>
                <a:cs typeface="Poppins"/>
              </a:rPr>
              <a:t>M.Tech (Artificial Intelligence and Data Science), Department of Computer Science and Engineering</a:t>
            </a:r>
          </a:p>
          <a:p>
            <a:pPr algn="l">
              <a:spcBef>
                <a:spcPts val="0"/>
              </a:spcBef>
              <a:spcAft>
                <a:spcPts val="100"/>
              </a:spcAft>
              <a:buNone/>
            </a:pPr>
            <a:r>
              <a:rPr lang="en-US" sz="1200" b="0" i="0" dirty="0">
                <a:solidFill>
                  <a:srgbClr val="17173A"/>
                </a:solidFill>
                <a:latin typeface="Poppins"/>
                <a:ea typeface="Poppins"/>
                <a:cs typeface="Poppins"/>
              </a:rPr>
              <a:t>Indian Institute of Information Technology, Bhagalpur (Bihar)</a:t>
            </a:r>
          </a:p>
          <a:p>
            <a:pPr algn="l">
              <a:spcBef>
                <a:spcPts val="0"/>
              </a:spcBef>
              <a:spcAft>
                <a:spcPts val="100"/>
              </a:spcAft>
              <a:buNone/>
            </a:pPr>
            <a:r>
              <a:rPr lang="en-US" sz="1200" b="0" i="0" dirty="0">
                <a:solidFill>
                  <a:srgbClr val="17173A"/>
                </a:solidFill>
                <a:latin typeface="Poppins"/>
                <a:ea typeface="Poppins"/>
                <a:cs typeface="Poppins"/>
              </a:rPr>
              <a:t>E-mail: rishabh.250201011@iiitbh.ac.in</a:t>
            </a:r>
          </a:p>
          <a:p>
            <a:pPr algn="l">
              <a:spcBef>
                <a:spcPts val="0"/>
              </a:spcBef>
              <a:spcAft>
                <a:spcPts val="0"/>
              </a:spcAft>
              <a:buNone/>
            </a:pPr>
            <a:r>
              <a:rPr lang="en-US" sz="1200" b="0" i="0" dirty="0">
                <a:solidFill>
                  <a:srgbClr val="17173A"/>
                </a:solidFill>
                <a:latin typeface="Poppins"/>
                <a:ea typeface="Poppins"/>
                <a:cs typeface="Poppins"/>
              </a:rPr>
              <a:t>ORCID ID: https://orcid.org/0009-0004-7595-9440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78485" y="502920"/>
            <a:ext cx="4434840" cy="914400"/>
          </a:xfrm>
          <a:prstGeom prst="rect">
            <a:avLst/>
          </a:prstGeom>
          <a:noFill/>
          <a:ln/>
        </p:spPr>
        <p:txBody>
          <a:bodyPr wrap="square" lIns="68580" tIns="34290" rIns="68580" bIns="34290" rtlCol="0" anchor="t">
            <a:normAutofit/>
          </a:bodyPr>
          <a:lstStyle/>
          <a:p>
            <a:pPr algn="l">
              <a:spcBef>
                <a:spcPts val="0"/>
              </a:spcBef>
              <a:spcAft>
                <a:spcPts val="0"/>
              </a:spcAft>
              <a:buNone/>
            </a:pPr>
            <a:r>
              <a:rPr lang="en-US" sz="2600" b="0" i="0" dirty="0">
                <a:solidFill>
                  <a:srgbClr val="17173A"/>
                </a:solidFill>
                <a:latin typeface="Kanit"/>
                <a:ea typeface="Kanit"/>
                <a:cs typeface="Kanit"/>
              </a:rPr>
              <a:t>4. Results:</a:t>
            </a:r>
          </a:p>
          <a:p>
            <a:pPr algn="l">
              <a:lnSpc>
                <a:spcPct val="90000"/>
              </a:lnSpc>
              <a:spcBef>
                <a:spcPts val="0"/>
              </a:spcBef>
              <a:spcAft>
                <a:spcPts val="0"/>
              </a:spcAft>
              <a:buNone/>
            </a:pPr>
            <a:r>
              <a:rPr lang="en-US" sz="2600" b="0" i="0" dirty="0">
                <a:solidFill>
                  <a:srgbClr val="17173A"/>
                </a:solidFill>
                <a:latin typeface="Kanit"/>
                <a:ea typeface="Kanit"/>
                <a:cs typeface="Kanit"/>
              </a:rPr>
              <a:t>A Recording Fingerprint</a:t>
            </a:r>
          </a:p>
        </p:txBody>
      </p:sp>
      <p:sp>
        <p:nvSpPr>
          <p:cNvPr id="3" name="Shape 1"/>
          <p:cNvSpPr/>
          <p:nvPr/>
        </p:nvSpPr>
        <p:spPr>
          <a:xfrm>
            <a:off x="5250485" y="0"/>
            <a:ext cx="0" cy="4596689"/>
          </a:xfrm>
          <a:prstGeom prst="line">
            <a:avLst/>
          </a:prstGeom>
          <a:noFill/>
          <a:ln w="19050">
            <a:solidFill>
              <a:srgbClr val="17173A"/>
            </a:solidFill>
            <a:prstDash val="solid"/>
          </a:ln>
        </p:spPr>
      </p:sp>
      <p:sp>
        <p:nvSpPr>
          <p:cNvPr id="6" name="Text 4"/>
          <p:cNvSpPr/>
          <p:nvPr/>
        </p:nvSpPr>
        <p:spPr>
          <a:xfrm>
            <a:off x="5577840" y="685800"/>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Feature</a:t>
            </a:r>
          </a:p>
        </p:txBody>
      </p:sp>
      <p:sp>
        <p:nvSpPr>
          <p:cNvPr id="7" name="Text 5"/>
          <p:cNvSpPr/>
          <p:nvPr/>
        </p:nvSpPr>
        <p:spPr>
          <a:xfrm>
            <a:off x="6675120" y="685800"/>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Per-channel |x| only: 16 sign-free amplitudes, LightGBM.</a:t>
            </a:r>
          </a:p>
        </p:txBody>
      </p:sp>
      <p:sp>
        <p:nvSpPr>
          <p:cNvPr id="8" name="Text 6"/>
          <p:cNvSpPr/>
          <p:nvPr/>
        </p:nvSpPr>
        <p:spPr>
          <a:xfrm>
            <a:off x="5577840" y="1664208"/>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4-class</a:t>
            </a:r>
          </a:p>
        </p:txBody>
      </p:sp>
      <p:sp>
        <p:nvSpPr>
          <p:cNvPr id="9" name="Text 7"/>
          <p:cNvSpPr/>
          <p:nvPr/>
        </p:nvSpPr>
        <p:spPr>
          <a:xfrm>
            <a:off x="6675120" y="1664208"/>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0.72 ± 0.07 vs 0.75 ± 0.08 (full model).</a:t>
            </a:r>
          </a:p>
        </p:txBody>
      </p:sp>
      <p:sp>
        <p:nvSpPr>
          <p:cNvPr id="10" name="Text 8"/>
          <p:cNvSpPr/>
          <p:nvPr/>
        </p:nvSpPr>
        <p:spPr>
          <a:xfrm>
            <a:off x="5577840" y="2642616"/>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3-class</a:t>
            </a:r>
          </a:p>
        </p:txBody>
      </p:sp>
      <p:sp>
        <p:nvSpPr>
          <p:cNvPr id="11" name="Text 9"/>
          <p:cNvSpPr/>
          <p:nvPr/>
        </p:nvSpPr>
        <p:spPr>
          <a:xfrm>
            <a:off x="6675120" y="2642616"/>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0.65 ± 0.09 vs 0.68 ± 0.10 (full model).</a:t>
            </a:r>
          </a:p>
        </p:txBody>
      </p:sp>
      <p:sp>
        <p:nvSpPr>
          <p:cNvPr id="12" name="Text 10"/>
          <p:cNvSpPr/>
          <p:nvPr/>
        </p:nvSpPr>
        <p:spPr>
          <a:xfrm>
            <a:off x="5577840" y="3621024"/>
            <a:ext cx="1097280" cy="384048"/>
          </a:xfrm>
          <a:prstGeom prst="rect">
            <a:avLst/>
          </a:prstGeom>
          <a:noFill/>
          <a:ln/>
        </p:spPr>
        <p:txBody>
          <a:bodyPr wrap="square" lIns="68580" tIns="34290" rIns="68580" bIns="34290" rtlCol="0" anchor="t">
            <a:normAutofit/>
          </a:bodyPr>
          <a:lstStyle/>
          <a:p>
            <a:pPr algn="l">
              <a:spcBef>
                <a:spcPts val="0"/>
              </a:spcBef>
              <a:spcAft>
                <a:spcPts val="0"/>
              </a:spcAft>
              <a:buNone/>
            </a:pPr>
            <a:r>
              <a:rPr lang="en-US" sz="1800" b="0" i="0" dirty="0">
                <a:solidFill>
                  <a:srgbClr val="5B2C91"/>
                </a:solidFill>
                <a:latin typeface="Kanit"/>
                <a:ea typeface="Kanit"/>
                <a:cs typeface="Kanit"/>
              </a:rPr>
              <a:t>Test</a:t>
            </a:r>
          </a:p>
        </p:txBody>
      </p:sp>
      <p:sp>
        <p:nvSpPr>
          <p:cNvPr id="13" name="Text 11"/>
          <p:cNvSpPr/>
          <p:nvPr/>
        </p:nvSpPr>
        <p:spPr>
          <a:xfrm>
            <a:off x="6675120" y="3621024"/>
            <a:ext cx="2286000" cy="822960"/>
          </a:xfrm>
          <a:prstGeom prst="rect">
            <a:avLst/>
          </a:prstGeom>
          <a:noFill/>
          <a:ln/>
        </p:spPr>
        <p:txBody>
          <a:bodyPr wrap="square" lIns="68580" tIns="34290" rIns="68580" bIns="34290" rtlCol="0" anchor="t">
            <a:normAutofit/>
          </a:bodyPr>
          <a:lstStyle/>
          <a:p>
            <a:pPr algn="l">
              <a:lnSpc>
                <a:spcPct val="95000"/>
              </a:lnSpc>
              <a:spcBef>
                <a:spcPts val="0"/>
              </a:spcBef>
              <a:spcAft>
                <a:spcPts val="0"/>
              </a:spcAft>
              <a:buNone/>
            </a:pPr>
            <a:r>
              <a:rPr lang="en-US" sz="1200" b="0" i="0" dirty="0">
                <a:solidFill>
                  <a:srgbClr val="17173A"/>
                </a:solidFill>
                <a:latin typeface="Poppins"/>
                <a:ea typeface="Poppins"/>
                <a:cs typeface="Poppins"/>
              </a:rPr>
              <a:t>About 90% of above-chance score. Primary vs LR on |x|: +0.05, Holm p = 0.15–0.16, not significant.</a:t>
            </a:r>
          </a:p>
        </p:txBody>
      </p:sp>
      <p:pic>
        <p:nvPicPr>
          <p:cNvPr id="1104" name="Figure 3" descr="Rolling-origin macro-F1 of the primary model and amplitude-only baselines">    </p:cNvPr>
          <p:cNvPicPr>
            <a:picLocks noChangeAspect="1"/>
          </p:cNvPicPr>
          <p:nvPr/>
        </p:nvPicPr>
        <p:blipFill>
          <a:blip r:embed="rIdFig3"/>
          <a:stretch>
            <a:fillRect/>
          </a:stretch>
        </p:blipFill>
        <p:spPr>
          <a:xfrm>
            <a:off x="182880" y="1481328"/>
            <a:ext cx="4892040" cy="2468880"/>
          </a:xfrm>
          <a:prstGeom prst="rect">
            <a:avLst/>
          </a:prstGeom>
        </p:spPr>
      </p:pic>
      <p:pic>
        <p:nvPicPr>
          <p:cNvPr id="14" name="Image 0" descr="/workspace/slides/beed-deck-3SjUFH/family/assets/bioai_logo.png">    </p:cNvPr>
          <p:cNvPicPr>
            <a:picLocks noChangeAspect="1"/>
          </p:cNvPicPr>
          <p:nvPr/>
        </p:nvPicPr>
        <p:blipFill>
          <a:blip r:embed="rId2"/>
          <a:stretch>
            <a:fillRect/>
          </a:stretch>
        </p:blipFill>
        <p:spPr>
          <a:xfrm>
            <a:off x="7882128" y="164592"/>
            <a:ext cx="859536" cy="347472"/>
          </a:xfrm>
          <a:prstGeom prst="rect">
            <a:avLst/>
          </a:prstGeom>
        </p:spPr>
      </p:pic>
      <p:sp>
        <p:nvSpPr>
          <p:cNvPr id="15" name="Shape 12"/>
          <p:cNvSpPr/>
          <p:nvPr/>
        </p:nvSpPr>
        <p:spPr>
          <a:xfrm>
            <a:off x="0" y="4796028"/>
            <a:ext cx="9144000" cy="347472"/>
          </a:xfrm>
          <a:prstGeom prst="rect">
            <a:avLst/>
          </a:prstGeom>
          <a:solidFill>
            <a:srgbClr val="EDE6F8"/>
          </a:solidFill>
          <a:ln/>
        </p:spPr>
      </p:sp>
      <p:sp>
        <p:nvSpPr>
          <p:cNvPr id="16" name="Shape 13"/>
          <p:cNvSpPr/>
          <p:nvPr/>
        </p:nvSpPr>
        <p:spPr>
          <a:xfrm>
            <a:off x="0" y="4796028"/>
            <a:ext cx="109728" cy="347472"/>
          </a:xfrm>
          <a:prstGeom prst="rect">
            <a:avLst/>
          </a:prstGeom>
          <a:solidFill>
            <a:srgbClr val="5B2C91"/>
          </a:solidFill>
          <a:ln/>
        </p:spPr>
      </p:sp>
      <p:pic>
        <p:nvPicPr>
          <p:cNvPr id="17" name="Image 1" descr="/workspace/slides/beed-deck-3SjUFH/family/assets/nielit_logo.png">    </p:cNvPr>
          <p:cNvPicPr>
            <a:picLocks noChangeAspect="1"/>
          </p:cNvPicPr>
          <p:nvPr/>
        </p:nvPicPr>
        <p:blipFill>
          <a:blip r:embed="rId3"/>
          <a:stretch>
            <a:fillRect/>
          </a:stretch>
        </p:blipFill>
        <p:spPr>
          <a:xfrm>
            <a:off x="274320" y="4823460"/>
            <a:ext cx="576072" cy="292608"/>
          </a:xfrm>
          <a:prstGeom prst="rect">
            <a:avLst/>
          </a:prstGeom>
        </p:spPr>
      </p:pic>
      <p:sp>
        <p:nvSpPr>
          <p:cNvPr id="18" name="Text 14"/>
          <p:cNvSpPr/>
          <p:nvPr/>
        </p:nvSpPr>
        <p:spPr>
          <a:xfrm>
            <a:off x="960120" y="4846320"/>
            <a:ext cx="4572000" cy="246888"/>
          </a:xfrm>
          <a:prstGeom prst="rect">
            <a:avLst/>
          </a:prstGeom>
          <a:noFill/>
          <a:ln/>
        </p:spPr>
        <p:txBody>
          <a:bodyPr wrap="square" lIns="68580" tIns="34290" rIns="68580" bIns="34290" rtlCol="0" anchor="t"/>
          <a:lstStyle/>
          <a:p>
            <a:pPr algn="l" indent="0" marL="0">
              <a:buNone/>
            </a:pPr>
            <a:r>
              <a:rPr lang="en-US" sz="850" dirty="0">
                <a:solidFill>
                  <a:srgbClr val="2A2C86"/>
                </a:solidFill>
                <a:latin typeface="Poppins" pitchFamily="34" charset="0"/>
                <a:ea typeface="Poppins" pitchFamily="34" charset="-122"/>
                <a:cs typeface="Poppins" pitchFamily="34" charset="-120"/>
              </a:rPr>
              <a:t>NIELIT Bio-AI Conclave 2026  ·  Track 5</a:t>
            </a:r>
            <a:endParaRPr lang="en-US" sz="850" dirty="0"/>
          </a:p>
        </p:txBody>
      </p:sp>
      <p:sp>
        <p:nvSpPr>
          <p:cNvPr id="19" name="Text 15"/>
          <p:cNvSpPr/>
          <p:nvPr/>
        </p:nvSpPr>
        <p:spPr>
          <a:xfrm>
            <a:off x="7360920" y="4846320"/>
            <a:ext cx="1371600" cy="246888"/>
          </a:xfrm>
          <a:prstGeom prst="rect">
            <a:avLst/>
          </a:prstGeom>
          <a:noFill/>
          <a:ln/>
        </p:spPr>
        <p:txBody>
          <a:bodyPr wrap="square" lIns="68580" tIns="34290" rIns="68580" bIns="34290" rtlCol="0" anchor="t"/>
          <a:lstStyle/>
          <a:p>
            <a:pPr algn="r" indent="0" marL="0">
              <a:buNone/>
            </a:pPr>
            <a:r>
              <a:rPr lang="en-US" sz="850" b="1" dirty="0">
                <a:solidFill>
                  <a:srgbClr val="2A2C86"/>
                </a:solidFill>
                <a:latin typeface="Poppins" pitchFamily="34" charset="0"/>
                <a:ea typeface="Poppins" pitchFamily="34" charset="-122"/>
                <a:cs typeface="Poppins" pitchFamily="34" charset="-120"/>
              </a:rPr>
              <a:t>11 / 16</a:t>
            </a:r>
            <a:endParaRPr lang="en-US" sz="850" dirty="0"/>
          </a:p>
        </p:txBody>
      </p:sp>
      <p:sp>
        <p:nvSpPr>
          <p:cNvPr id="1105" name="Caption"/>
          <p:cNvSpPr txBox="1"/>
          <p:nvPr/>
        </p:nvSpPr>
        <p:spPr>
          <a:xfrm>
            <a:off x="182880" y="4023360"/>
            <a:ext cx="4892040" cy="411480"/>
          </a:xfrm>
          <a:prstGeom prst="rect">
            <a:avLst/>
          </a:prstGeom>
          <a:noFill/>
        </p:spPr>
        <p:txBody>
          <a:bodyPr wrap="square" lIns="45720" tIns="27432" rIns="45720" bIns="27432" anchor="t">
            <a:normAutofit/>
          </a:bodyPr>
          <a:lstStyle/>
          <a:p>
            <a:pPr algn="l">
              <a:spcBef>
                <a:spcPts val="0"/>
              </a:spcBef>
              <a:spcAft>
                <a:spcPts val="0"/>
              </a:spcAft>
              <a:buNone/>
            </a:pPr>
            <a:r>
              <a:rPr lang="en-US" sz="1000" b="0" i="1" dirty="0">
                <a:solidFill>
                  <a:srgbClr val="4A4A6A"/>
                </a:solidFill>
                <a:latin typeface="Poppins"/>
                <a:ea typeface="Poppins"/>
                <a:cs typeface="Poppins"/>
              </a:rPr>
              <a:t>Fig. 8. Rolling-origin macro-F1 (mean ± SD) of the primary model and amplitude-only baselines.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Kani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Shortcuts and Temporal Leakage in the Bangalore EEG Epilepsy Dataset</dc:title>
  <dc:subject>PptxGenJS Presentation</dc:subject>
  <dc:creator>PptxGenJS</dc:creator>
  <cp:lastModifiedBy>PptxGenJS</cp:lastModifiedBy>
  <cp:revision>1</cp:revision>
  <dcterms:created xsi:type="dcterms:W3CDTF">2026-10-08T06:48:21Z</dcterms:created>
  <dcterms:modified xsi:type="dcterms:W3CDTF">2026-10-08T06:48:21Z</dcterms:modified>
</cp:coreProperties>
</file>