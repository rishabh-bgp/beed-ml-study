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3" r:id="rId19"/>
    <p:sldId id="261" r:id="rId7"/>
    <p:sldId id="267" r:id="rId13"/>
    <p:sldId id="258" r:id="rId4"/>
    <p:sldId id="263" r:id="rId9"/>
    <p:sldId id="274" r:id="rId20"/>
    <p:sldId id="276" r:id="rId27"/>
    <p:sldId id="270" r:id="rId16"/>
    <p:sldId id="264" r:id="rId10"/>
    <p:sldId id="268" r:id="rId14"/>
    <p:sldId id="277" r:id="rId28"/>
    <p:sldId id="262" r:id="rId8"/>
    <p:sldId id="278" r:id="rId29"/>
    <p:sldId id="275" r:id="rId2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5.xml"/><Relationship Id="rId7" Type="http://schemas.openxmlformats.org/officeDocument/2006/relationships/slide" Target="slides/slide3.xml"/><Relationship Id="rId8" Type="http://schemas.openxmlformats.org/officeDocument/2006/relationships/slide" Target="slides/slide13.xml"/><Relationship Id="rId9" Type="http://schemas.openxmlformats.org/officeDocument/2006/relationships/slide" Target="slides/slide6.xml"/><Relationship Id="rId10" Type="http://schemas.openxmlformats.org/officeDocument/2006/relationships/slide" Target="slides/slide10.xml"/><Relationship Id="rId13" Type="http://schemas.openxmlformats.org/officeDocument/2006/relationships/slide" Target="slides/slide4.xml"/><Relationship Id="rId14" Type="http://schemas.openxmlformats.org/officeDocument/2006/relationships/slide" Target="slides/slide11.xml"/><Relationship Id="rId16" Type="http://schemas.openxmlformats.org/officeDocument/2006/relationships/slide" Target="slides/slide9.xml"/><Relationship Id="rId19" Type="http://schemas.openxmlformats.org/officeDocument/2006/relationships/slide" Target="slides/slide2.xml"/><Relationship Id="rId20" Type="http://schemas.openxmlformats.org/officeDocument/2006/relationships/slide" Target="slides/slide7.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8.xml"/><Relationship Id="rId28" Type="http://schemas.openxmlformats.org/officeDocument/2006/relationships/slide" Target="slides/slide12.xml"/><Relationship Id="rId2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Good morning. I am Rishabh Aryan from IIIT Bhagalpur. This talk presents a provenance audit and a leakage-aware benchmark of the Bangalore EEG Epilepsy Dataset, BEED, and asks how much of its reported performance survives once two shortcuts are removed: the origin of the healthy class and temporal leakage between neighbouring rows.</a:t>
            </a:r>
          </a:p>
          <a:p/>
          <a:p>
            <a:r>
              <a:t>Sources: Title and subtitle: BEED_paper_camera_ready.docx (title line); Presenter, affiliation, e-mail and ORCID: as supplied by the presenter; Conclave name, Track 5, dates and venue: NIELIT Bio-AI Conclave 2026 call for papers.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Our central question is how well models classify the BEED seizure types once the test set is free of leakage. Most prior BEED work uses a random row split, so neighbouring rows from the same recording can sit on both sides of the split. We compare this with a leakage-safe protocol that holds out 200-row blocks separated by 50-row gaps, so no test row has a near-duplicate neighbour in training. Along the way we also ask where the healthy class comes from.</a:t>
            </a:r>
          </a:p>
          <a:p>
            <a:r>
              <a:rPr lang="en-US" dirty="0"/>
              <a:t/>
            </a:r>
          </a:p>
          <a:p>
            <a:r>
              <a:rPr lang="en-US" dirty="0"/>
              <a:t>Sources: research questions and protocols — BEED_paper_camera_ready.docx (Introduction, Methods: random and blocked protocols).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Epilepsy affects about 50 million people worldwide. Visual EEG review is expert-intensive and slow, so automated seizure-type classification could support clinicians. Public benchmarks such as BEED drive which models get built, so their validity matters. The figure shows 512 consecutive rows of the BEED focal-seizure class drawn as 16 traces.</a:t>
            </a:r>
          </a:p>
          <a:p/>
          <a:p>
            <a:r>
              <a:t>Sources: Epilepsy prevalence (about 50 million people worldwide) [4]: WHO epilepsy fact sheet, https://www.who.int/news-room/fact-sheets/detail/epilepsy; [1] Najmusseher N, Nizar Banu PK. BEED: Bangalore EEG Epilepsy Dataset [dataset]. UCI Machine Learning Repository. 2024. doi:10.24432/C5K33B; Figure: /workspace/beed/deliverables/code/figures/fig_examples.png, panel (b), cropped.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To conclude: the healthy class of BEED is identical to windows of Bonn set B, so healthy-versus-seizure scores largely reflect recording source. Random row splits leak information; under a leakage-safe split the best four-class macro-F1 falls from 0.986 to 0.842, and for the three seizure types from 0.990 to 0.776, so blocked splits should be reported as the benchmark. A small MLP with about 11 thousand parameters runs in 0.077 ms per sample and is ready for edge hardware. Next steps are subject identifiers for patient-independent testing, same-source healthy recordings, cross-dataset validation and clinical or wearable deployment studies.</a:t>
            </a:r>
          </a:p>
          <a:p>
            <a:r>
              <a:rPr lang="en-US" dirty="0"/>
              <a:t/>
            </a:r>
          </a:p>
          <a:p>
            <a:r>
              <a:rPr lang="en-US" dirty="0"/>
              <a:t>Sources: holdout_metrics.csv (0.986/0.842; 3-class 0.990/0.776); edge_deployment.csv (11,076 params, 0.077 ms); provenance results, BEED_paper_camera_ready.docx Results 4.2 and Discussion/Conclusion; references [2] Andrzejak et al. 2001, [3] Wu &amp; Fokoue 2017.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When we searched for the healthy rows in older public data, every one of the 2,000 rows was identical to a 16-sample window of the UCI Epileptic Seizure Recognition file, which is derived from Bonn set B, healthy volunteers with eyes closed. Every match sits at the same position, samples 159 to 174 of a one-second chunk, and no row from the three seizure classes matches. The healthy class therefore appears to be taken from a different recording source, sampled at 173.61 Hz rather than 256 Hz. As a consequence, healthy and seizure rows can be told apart by recording source alone: one smoothness threshold reaches 0.997 accuracy.</a:t>
            </a:r>
          </a:p>
          <a:p>
            <a:r>
              <a:rPr lang="en-US" dirty="0"/>
              <a:t/>
            </a:r>
          </a:p>
          <a:p>
            <a:r>
              <a:rPr lang="en-US" dirty="0"/>
              <a:t>Sources: [2] Andrzejak RG, Lehnertz K, Mormann F, Rieke C, David P, Elger CE. Physical Review E. 2001;64(6):061907. doi:10.1103/PhysRevE.64.061907. [3] Wu Q, Fokoue E. Epileptic Seizure Recognition data set [dataset]. UCI Machine Learning Repository. 2017. Match results, positions, 173.61 Hz, 0.997 threshold accuracy: BEED_paper_camera_ready.docx (Results 4.2, 4.4; paper Fig. 2). Figure: code/figures/fig_provenance.png.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Under the leakage-safe split, the seizure classes are separated mainly by the raw voltages of particular channels, X11, X8 and X15, that is, by the spatial pattern across electrodes. The healthy class is separated almost entirely by smoothness descriptors such as Hjorth mobility and lag-1 autocorrelation. Healthy versus seizure is solved with macro-F1 of at least 0.999 under both splits, but a single threshold on lag-1 autocorrelation alone reaches 0.997 accuracy. This is a recording-source shortcut, not a clinical signal.</a:t>
            </a:r>
          </a:p>
          <a:p>
            <a:r>
              <a:rPr lang="en-US" dirty="0"/>
              <a:t/>
            </a:r>
          </a:p>
          <a:p>
            <a:r>
              <a:rPr lang="en-US" dirty="0"/>
              <a:t>Sources: shap_4class_blocked.csv (top summed |SHAP|: X11 3.32, X8 3.28, t_hjorth_mob 2.73, t_lag1_ac 2.23, n_svd_entropy 2.08, n_higuchi_fd 1.94, X15 1.68); shap/Results 4.7 of BEED_paper_camera_ready.docx (3-class blocked leaders X11, X8, X15, X12, X6); holdout_metrics.csv binary blocked best macro-F1 0.9992; shortcut_stumps.csv blocked t_lag1_ac accuracy 0.9975. Figure redrawn from shap_4class_blocked.csv (figs/make_fig7.py).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BEED is distributed as a single table of 8,000 rows, each holding 16 integer values labelled X1 to X16. There are four classes of 2,000 rows each: healthy, generalised seizures, focal seizures and seizure events with behaviours such as blinking or staring. The documentation describes 16-channel recordings at 256 Hz from a neurological centre in Bangalore. Note the much larger amplitude of the healthy row in the figure; we return to this in the audit.</a:t>
            </a:r>
          </a:p>
          <a:p>
            <a:r>
              <a:rPr lang="en-US" dirty="0"/>
              <a:t/>
            </a:r>
          </a:p>
          <a:p>
            <a:r>
              <a:rPr lang="en-US" dirty="0"/>
              <a:t>Sources: [1] Najmusseher N, Nizar Banu PK. BEED: Bangalore EEG Epilepsy Dataset [dataset]. UCI Machine Learning Repository. 2024. doi:10.24432/C5K33B. Row/class counts, X1–X16, 256 Hz, class definitions: BEED_paper_camera_ready.docx (Introduction, Methods 3.1). Figure: redrawn for the slide from /workspace/beed/raw/BEED_Data.csv (4th row of each class, as in code/figures/fig_examples.png panel a) by figs/make_figs.py.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deployment we profiled the small models on a single CPU thread. The MLP has 11,076 parameters, about 43 kB, and classifies one 16-value sample in 0.077 ms, with a leakage-safe macro-F1 of 0.770. That is far below the 3.9 ms between samples at 256 Hz, so it is suitable for wearable or edge hardware; LightGBM scores slightly higher but needs 4.35 ms because of feature extraction. In repeated blocked cross-validation, LightGBM had the best mean macro-F1, 0.767 plus or minus 0.057, and the Friedman test rejected equal performance across models.</a:t>
            </a:r>
          </a:p>
          <a:p>
            <a:r>
              <a:rPr lang="en-US" dirty="0"/>
              <a:t/>
            </a:r>
          </a:p>
          <a:p>
            <a:r>
              <a:rPr lang="en-US" dirty="0"/>
              <a:t>Sources: edge_deployment.csv (MLP 11,076 params, 43.27 kB fp32, 0.0771 ms, macro-F1 0.7700; 1D-CNN 19,524 / 76.3 kB / 0.145 ms / 0.714; Transformer 17,796 / 69.5 kB / 0.249 ms / 0.745; LightGBM 62,720 / 735 kB (approx.) / 4.35 ms / 0.794). BEED_paper_camera_ready.docx 3.8 and Table 5 note (median of 500 single-sample predictions on one Intel Xeon virtual CPU thread; deep models retrained for profiling, so F1 may differ slightly from Table 3). cv_summary.csv 4class blocked LightGBM 0.7665 ± 0.0565; stats_friedman.csv 4class blocked chi2 57.2, p = 5.4e-10. SVM-RBF 0.842: holdout_metrics.csv.</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Under the random split the best model, kNN, reaches a macro-F1 of 0.986; under the leakage-safe split the best model, SVM-RBF, reaches 0.842, with a 95% confidence interval of 0.800 to 0.880. Accuracy falls from 0.986 to 0.844 and kappa from 0.982 to 0.792. For the three seizure types alone, the drop is larger, from 0.990 to 0.776, and the median calibration error triples, from 0.029 to 0.093. Every model in the chart loses performance, and the ranking of models changes.</a:t>
            </a:r>
          </a:p>
          <a:p>
            <a:r>
              <a:rPr lang="en-US" dirty="0"/>
              <a:t/>
            </a:r>
          </a:p>
          <a:p>
            <a:r>
              <a:rPr lang="en-US" dirty="0"/>
              <a:t>Sources: code/results/holdout_metrics.csv (task 4class/3class, features raw; kNN random macro-F1 0.9863, acc 0.9863, kappa 0.9817, cluster CI 0.980–0.992; SVM-RBF blocked 0.8415, CI 0.7998–0.8801, acc 0.8437, kappa 0.7915; 3class kNN random 0.9900, SVM-RBF blocked 0.7756; median ECE over non-baseline 4-class models, all feature sets: 0.0292 random, 0.0932 blocked). BEED_paper_camera_ready.docx Results 4.4–4.6, Table 3. Figure drawn from holdout_metrics.csv (figs/make_figs.py).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The talk has six parts. I first introduce the motivation, the BEED dataset and the research question. Then I present the dataset audit: where the healthy class comes from and how temporal leakage arises. After the methodology, I show the results under random and leakage-safe splits, discuss the limitations, and close with the takeaways and future work.</a:t>
            </a:r>
          </a:p>
          <a:p/>
          <a:p>
            <a:r>
              <a:t>Sources: Outline of the talk: six numbered sections; Section structure follows BEED_paper_camera_ready.docx.</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 the three seizure classes, each row is one time point of a continuous recording, so neighbouring rows are almost identical. With a random row split, between 88 and 95 percent of seizure test rows have their immediate neighbour in the training set. A classifier can then simply look up the neighbour, so random-split scores measure interpolation rather than generalisation. The figure shows macro-F1 falling steadily as folds are built from longer contiguous blocks.</a:t>
            </a:r>
          </a:p>
          <a:p>
            <a:r>
              <a:rPr lang="en-US" dirty="0"/>
              <a:t/>
            </a:r>
          </a:p>
          <a:p>
            <a:r>
              <a:rPr lang="en-US" dirty="0"/>
              <a:t>Sources: leakage_nearest_neighbour.csv (nn_within_1_row 0.878–0.953 for classes 1–3); BEED_paper_camera_ready.docx Results 4.3 (87.8%–95.2%); figure code/figures/fig_block_curve.png.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Thank you for your attention. I am happy to take questions, and the code and full results are described in the paper. My contact details are on the slide.</a:t>
            </a:r>
          </a:p>
          <a:p>
            <a:r>
              <a:rPr lang="en-US" dirty="0"/>
              <a:t/>
            </a:r>
          </a:p>
          <a:p>
            <a:r>
              <a:rPr lang="en-US" dirty="0"/>
              <a:t>Sources: presenter and contact details as supplied by the presenter.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 compare two protocols. The random protocol is a stratified 80/20 row split, as in most prior work; the blocked protocol holds out whole 200-row blocks, or whole Bonn segments for the healthy class, and purges training rows within 50 rows of any test row. We benchmark six classical models and four small deep networks, with nested tuning on macro-F1, and compare them with cluster-bootstrap confidence intervals, corrected resampled t-tests and Friedman plus Nemenyi tests. Macro-F1 is the primary metric, with accuracy, kappa, AUC and calibration error alongside.</a:t>
            </a:r>
          </a:p>
          <a:p>
            <a:r>
              <a:rPr lang="en-US" dirty="0"/>
              <a:t/>
            </a:r>
          </a:p>
          <a:p>
            <a:r>
              <a:rPr lang="en-US" dirty="0"/>
              <a:t>Sources: BEED_paper_camera_ready.docx Methods 3.3 (protocols), 3.5 (models: LR, kNN, SVM-RBF, RF, XGBoost, LightGBM + majority baseline; MLP, 1D-CNN, BiLSTM, Transformer), 3.6 (metrics, bootstrap CIs, Nadeau–Bengio corrected t-test with Holm, Friedman + Nemenyi). Figure: schematic drawn for this talk (figs/make_figs.py).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public file has no subject identifiers, so no protocol, including ours, can test generalisation to new patients, and recording identity is confounded with class. Because the healthy rows come from a different source sampled at 173.61 Hz rather than 256 Hz, healthy-versus-seizure results say little about clinical detection. We searched only the Bonn data, so classes 1 to 3 were not checked against other public databases, and this is a single-dataset study. What remains valid is the blocked benchmark as a lower-leakage estimate of generalisation to unseen time within the same recordings.</a:t>
            </a:r>
          </a:p>
          <a:p>
            <a:r>
              <a:rPr lang="en-US" dirty="0"/>
              <a:t/>
            </a:r>
          </a:p>
          <a:p>
            <a:r>
              <a:rPr lang="en-US" dirty="0"/>
              <a:t>Sources: BEED_paper_camera_ready.docx Discussion 5.x 'Limitations' paragraph (no subject identifiers; blocked protocol measures generalisation to unseen time within recordings; provenance match covers only the Bonn file; future cross-dataset transfer e.g. CHB-MIT); Results 4.2 (173.61 Hz Bonn vs 256 Hz).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These are the four sources cited on the slides: the BEED dataset itself, the original Bonn EEG study, the UCI Epileptic Seizure Recognition file derived from it, and the WHO epilepsy fact sheet. The full reference list, including the methods and statistics references, is in the paper.</a:t>
            </a:r>
          </a:p>
          <a:p>
            <a:r>
              <a:rPr lang="en-US" dirty="0"/>
              <a:t/>
            </a:r>
          </a:p>
          <a:p>
            <a:r>
              <a:rPr lang="en-US" dirty="0"/>
              <a:t>Sources: [1]-[3] exact text from BEED_paper_camera_ready.docx reference list (paper refs [7], [5], [18]); [4] WHO fact sheet, https://www.who.int/news-room/fact-sheets/detail/epilepsy, checked 8 October 2026 ('affecting around 50 million people worldwide').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3.xml.rels><?xml version="1.0" encoding="UTF-8" standalone="yes"?>
<Relationships xmlns="http://schemas.openxmlformats.org/package/2006/relationships"><Relationship Id="rIdFig1" Type="http://schemas.openxmlformats.org/officeDocument/2006/relationships/image" Target="../media/fig_examples_b.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Fig2" Type="http://schemas.openxmlformats.org/officeDocument/2006/relationships/image" Target="../media/fig_examples_a2.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Fig3" Type="http://schemas.openxmlformats.org/officeDocument/2006/relationships/image" Target="../media/fig_provenance.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Fig4" Type="http://schemas.openxmlformats.org/officeDocument/2006/relationships/image" Target="../media/fig_block_curve.png"/><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8.xml.rels><?xml version="1.0" encoding="UTF-8" standalone="yes"?>
<Relationships xmlns="http://schemas.openxmlformats.org/package/2006/relationships"><Relationship Id="rIdFig5" Type="http://schemas.openxmlformats.org/officeDocument/2006/relationships/image" Target="../media/fig_split_scheme.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9.xml.rels><?xml version="1.0" encoding="UTF-8" standalone="yes"?>
<Relationships xmlns="http://schemas.openxmlformats.org/package/2006/relationships"><Relationship Id="rIdFig6" Type="http://schemas.openxmlformats.org/officeDocument/2006/relationships/image" Target="../media/fig_split_bars.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Fig7" Type="http://schemas.openxmlformats.org/officeDocument/2006/relationships/image" Target="../media/fig_shap_top7.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13.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workspace/slides/beed-deck-3SjUFH/family/assets/bioai_logo.png">    </p:cNvPr>
          <p:cNvPicPr>
            <a:picLocks noChangeAspect="1"/>
          </p:cNvPicPr>
          <p:nvPr/>
        </p:nvPicPr>
        <p:blipFill>
          <a:blip r:embed="rId2"/>
          <a:stretch>
            <a:fillRect/>
          </a:stretch>
        </p:blipFill>
        <p:spPr>
          <a:xfrm>
            <a:off x="457200" y="320040"/>
            <a:ext cx="1828800" cy="740664"/>
          </a:xfrm>
          <a:prstGeom prst="rect">
            <a:avLst/>
          </a:prstGeom>
        </p:spPr>
      </p:pic>
      <p:sp>
        <p:nvSpPr>
          <p:cNvPr id="3" name="Text 0"/>
          <p:cNvSpPr/>
          <p:nvPr/>
        </p:nvSpPr>
        <p:spPr>
          <a:xfrm>
            <a:off x="2926080" y="329184"/>
            <a:ext cx="5760720" cy="274320"/>
          </a:xfrm>
          <a:prstGeom prst="rect">
            <a:avLst/>
          </a:prstGeom>
          <a:noFill/>
          <a:ln/>
        </p:spPr>
        <p:txBody>
          <a:bodyPr wrap="square" lIns="68580" tIns="34290" rIns="68580" bIns="34290" rtlCol="0" anchor="t"/>
          <a:lstStyle/>
          <a:p>
            <a:pPr algn="r" indent="0" marL="0">
              <a:buNone/>
            </a:pPr>
            <a:r>
              <a:rPr lang="en-US" sz="1000" dirty="0">
                <a:solidFill>
                  <a:srgbClr val="FFFFFF"/>
                </a:solidFill>
                <a:latin typeface="Poppins" pitchFamily="34" charset="0"/>
                <a:ea typeface="Poppins" pitchFamily="34" charset="-122"/>
                <a:cs typeface="Poppins" pitchFamily="34" charset="-120"/>
              </a:rPr>
              <a:t>Track 5 – Digital Life Sciences, Health, Agriculture &amp; Biodiversity</a:t>
            </a:r>
            <a:endParaRPr lang="en-US" sz="1000" dirty="0"/>
          </a:p>
        </p:txBody>
      </p:sp>
      <p:sp>
        <p:nvSpPr>
          <p:cNvPr id="4" name="Text 1"/>
          <p:cNvSpPr/>
          <p:nvPr/>
        </p:nvSpPr>
        <p:spPr>
          <a:xfrm>
            <a:off x="2926080" y="630936"/>
            <a:ext cx="5760720" cy="256032"/>
          </a:xfrm>
          <a:prstGeom prst="rect">
            <a:avLst/>
          </a:prstGeom>
          <a:noFill/>
          <a:ln/>
        </p:spPr>
        <p:txBody>
          <a:bodyPr wrap="square" lIns="68580" tIns="34290" rIns="68580" bIns="34290" rtlCol="0" anchor="t"/>
          <a:lstStyle/>
          <a:p>
            <a:pPr algn="r" indent="0" marL="0">
              <a:buNone/>
            </a:pPr>
            <a:r>
              <a:rPr lang="en-US" sz="900" dirty="0">
                <a:solidFill>
                  <a:srgbClr val="D9D2F3"/>
                </a:solidFill>
                <a:latin typeface="Poppins" pitchFamily="34" charset="0"/>
                <a:ea typeface="Poppins" pitchFamily="34" charset="-122"/>
                <a:cs typeface="Poppins" pitchFamily="34" charset="-120"/>
              </a:rPr>
              <a:t>11–12 December 2026  ·  NIELIT Guwahati, Gauhati University Campus</a:t>
            </a:r>
            <a:endParaRPr lang="en-US" sz="900" dirty="0"/>
          </a:p>
        </p:txBody>
      </p:sp>
      <p:sp>
        <p:nvSpPr>
          <p:cNvPr id="5" name="Text 2"/>
          <p:cNvSpPr/>
          <p:nvPr/>
        </p:nvSpPr>
        <p:spPr>
          <a:xfrm>
            <a:off x="411480" y="1115568"/>
            <a:ext cx="8321040" cy="932688"/>
          </a:xfrm>
          <a:prstGeom prst="rect">
            <a:avLst/>
          </a:prstGeom>
          <a:noFill/>
          <a:ln/>
        </p:spPr>
        <p:txBody>
          <a:bodyPr wrap="square" lIns="68580" tIns="34290" rIns="68580" bIns="34290" rtlCol="0" anchor="t"/>
          <a:lstStyle/>
          <a:p>
            <a:pPr algn="l" indent="0" marL="0">
              <a:lnSpc>
                <a:spcPct val="95000"/>
              </a:lnSpc>
              <a:buNone/>
            </a:pPr>
            <a:r>
              <a:rPr lang="en-US" sz="2900" b="1" dirty="0">
                <a:solidFill>
                  <a:srgbClr val="FFFFFF"/>
                </a:solidFill>
                <a:latin typeface="Kanit" pitchFamily="34" charset="0"/>
                <a:ea typeface="Kanit" pitchFamily="34" charset="-122"/>
                <a:cs typeface="Kanit" pitchFamily="34" charset="-120"/>
              </a:rPr>
              <a:t>Shortcuts and Temporal Leakage in the Bangalore EEG Epilepsy Dataset</a:t>
            </a:r>
            <a:endParaRPr lang="en-US" sz="2900" dirty="0"/>
          </a:p>
        </p:txBody>
      </p:sp>
      <p:sp>
        <p:nvSpPr>
          <p:cNvPr id="6" name="Text 3"/>
          <p:cNvSpPr/>
          <p:nvPr/>
        </p:nvSpPr>
        <p:spPr>
          <a:xfrm>
            <a:off x="411480" y="2066544"/>
            <a:ext cx="8321040" cy="365760"/>
          </a:xfrm>
          <a:prstGeom prst="rect">
            <a:avLst/>
          </a:prstGeom>
          <a:noFill/>
          <a:ln/>
        </p:spPr>
        <p:txBody>
          <a:bodyPr wrap="square" lIns="68580" tIns="34290" rIns="68580" bIns="34290" rtlCol="0" anchor="t"/>
          <a:lstStyle/>
          <a:p>
            <a:pPr algn="l" indent="0" marL="0">
              <a:buNone/>
            </a:pPr>
            <a:r>
              <a:rPr lang="en-US" sz="1300" dirty="0">
                <a:solidFill>
                  <a:srgbClr val="F1D5EC"/>
                </a:solidFill>
                <a:latin typeface="Poppins" pitchFamily="34" charset="0"/>
                <a:ea typeface="Poppins" pitchFamily="34" charset="-122"/>
                <a:cs typeface="Poppins" pitchFamily="34" charset="-120"/>
              </a:rPr>
              <a:t>A Provenance Audit and Leakage-Aware Benchmark of Lightweight Seizure-Type Classifiers</a:t>
            </a:r>
            <a:endParaRPr lang="en-US" sz="1300" dirty="0"/>
          </a:p>
        </p:txBody>
      </p:sp>
      <p:pic>
        <p:nvPicPr>
          <p:cNvPr id="7" name="Image 1" descr="/workspace/slides/beed-deck-3SjUFH/family/assets/pill.png">    </p:cNvPr>
          <p:cNvPicPr>
            <a:picLocks noChangeAspect="1"/>
          </p:cNvPicPr>
          <p:nvPr/>
        </p:nvPicPr>
        <p:blipFill>
          <a:blip r:embed="rId3"/>
          <a:stretch>
            <a:fillRect/>
          </a:stretch>
        </p:blipFill>
        <p:spPr>
          <a:xfrm>
            <a:off x="411480" y="2560320"/>
            <a:ext cx="2148840" cy="347472"/>
          </a:xfrm>
          <a:prstGeom prst="rect">
            <a:avLst/>
          </a:prstGeom>
        </p:spPr>
      </p:pic>
      <p:sp>
        <p:nvSpPr>
          <p:cNvPr id="8" name="Text 4"/>
          <p:cNvSpPr/>
          <p:nvPr/>
        </p:nvSpPr>
        <p:spPr>
          <a:xfrm>
            <a:off x="411480" y="2578608"/>
            <a:ext cx="2148840" cy="310896"/>
          </a:xfrm>
          <a:prstGeom prst="rect">
            <a:avLst/>
          </a:prstGeom>
          <a:noFill/>
          <a:ln/>
        </p:spPr>
        <p:txBody>
          <a:bodyPr wrap="square" lIns="68580" tIns="34290" rIns="68580" bIns="34290" rtlCol="0" anchor="t"/>
          <a:lstStyle/>
          <a:p>
            <a:pPr algn="ctr" indent="0" marL="0">
              <a:buNone/>
            </a:pPr>
            <a:r>
              <a:rPr lang="en-US" sz="1400" b="1" dirty="0">
                <a:solidFill>
                  <a:srgbClr val="2A2C86"/>
                </a:solidFill>
                <a:latin typeface="Kanit" pitchFamily="34" charset="0"/>
                <a:ea typeface="Kanit" pitchFamily="34" charset="-122"/>
                <a:cs typeface="Kanit" pitchFamily="34" charset="-120"/>
              </a:rPr>
              <a:t>Er. Rishabh Aryan</a:t>
            </a:r>
            <a:endParaRPr lang="en-US" sz="1400" dirty="0"/>
          </a:p>
        </p:txBody>
      </p:sp>
      <p:sp>
        <p:nvSpPr>
          <p:cNvPr id="9" name="Text 5"/>
          <p:cNvSpPr/>
          <p:nvPr/>
        </p:nvSpPr>
        <p:spPr>
          <a:xfrm>
            <a:off x="411480" y="2990088"/>
            <a:ext cx="8321040" cy="62179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000" b="0" i="0" dirty="0">
                <a:solidFill>
                  <a:srgbClr val="FFFFFF"/>
                </a:solidFill>
                <a:latin typeface="Poppins"/>
                <a:ea typeface="Poppins"/>
                <a:cs typeface="Poppins"/>
              </a:rPr>
              <a:t>M.Tech (Artificial Intelligence and Data Science),</a:t>
            </a:r>
          </a:p>
          <a:p>
            <a:pPr algn="l">
              <a:spcBef>
                <a:spcPts val="0"/>
              </a:spcBef>
              <a:spcAft>
                <a:spcPts val="0"/>
              </a:spcAft>
              <a:buNone/>
            </a:pPr>
            <a:r>
              <a:rPr lang="en-US" sz="1000" b="0" i="0" dirty="0">
                <a:solidFill>
                  <a:srgbClr val="FFFFFF"/>
                </a:solidFill>
                <a:latin typeface="Poppins"/>
                <a:ea typeface="Poppins"/>
                <a:cs typeface="Poppins"/>
              </a:rPr>
              <a:t>Department of Computer Science and Engineering,</a:t>
            </a:r>
          </a:p>
          <a:p>
            <a:pPr algn="l">
              <a:spcBef>
                <a:spcPts val="0"/>
              </a:spcBef>
              <a:spcAft>
                <a:spcPts val="0"/>
              </a:spcAft>
              <a:buNone/>
            </a:pPr>
            <a:r>
              <a:rPr lang="en-US" sz="1000" b="0" i="0" dirty="0">
                <a:solidFill>
                  <a:srgbClr val="FFFFFF"/>
                </a:solidFill>
                <a:latin typeface="Poppins"/>
                <a:ea typeface="Poppins"/>
                <a:cs typeface="Poppins"/>
              </a:rPr>
              <a:t>Indian Institute of Information Technology, Bhagalpur (Bihar)</a:t>
            </a:r>
          </a:p>
        </p:txBody>
      </p:sp>
      <p:sp>
        <p:nvSpPr>
          <p:cNvPr id="10" name="Text 6"/>
          <p:cNvSpPr/>
          <p:nvPr/>
        </p:nvSpPr>
        <p:spPr>
          <a:xfrm>
            <a:off x="411480" y="3639312"/>
            <a:ext cx="8321040"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000" b="0" i="0" dirty="0">
                <a:solidFill>
                  <a:srgbClr val="D9D2F3"/>
                </a:solidFill>
                <a:latin typeface="Poppins"/>
                <a:ea typeface="Poppins"/>
                <a:cs typeface="Poppins"/>
              </a:rPr>
              <a:t>E-mail: rishabh.250201011@iiitbh.ac.in</a:t>
            </a:r>
          </a:p>
          <a:p>
            <a:pPr algn="l">
              <a:spcBef>
                <a:spcPts val="0"/>
              </a:spcBef>
              <a:spcAft>
                <a:spcPts val="0"/>
              </a:spcAft>
              <a:buNone/>
            </a:pPr>
            <a:r>
              <a:rPr lang="en-US" sz="1000" b="0" i="0" dirty="0">
                <a:solidFill>
                  <a:srgbClr val="D9D2F3"/>
                </a:solidFill>
                <a:latin typeface="Poppins"/>
                <a:ea typeface="Poppins"/>
                <a:cs typeface="Poppins"/>
              </a:rPr>
              <a:t>ORCID ID: https://orcid.org/0009-0004-7595-9440</a:t>
            </a:r>
          </a:p>
        </p:txBody>
      </p:sp>
      <p:sp>
        <p:nvSpPr>
          <p:cNvPr id="11" name="Shape 7"/>
          <p:cNvSpPr/>
          <p:nvPr/>
        </p:nvSpPr>
        <p:spPr>
          <a:xfrm>
            <a:off x="0" y="4315968"/>
            <a:ext cx="9144000" cy="827532"/>
          </a:xfrm>
          <a:prstGeom prst="rect">
            <a:avLst/>
          </a:prstGeom>
          <a:solidFill>
            <a:srgbClr val="EDE6F8"/>
          </a:solidFill>
          <a:ln/>
        </p:spPr>
      </p:sp>
      <p:pic>
        <p:nvPicPr>
          <p:cNvPr id="12" name="Image 2" descr="/workspace/slides/beed-deck-3SjUFH/family/assets/organiser_strip.png">    </p:cNvPr>
          <p:cNvPicPr>
            <a:picLocks noChangeAspect="1"/>
          </p:cNvPicPr>
          <p:nvPr/>
        </p:nvPicPr>
        <p:blipFill>
          <a:blip r:embed="rId4"/>
          <a:stretch>
            <a:fillRect/>
          </a:stretch>
        </p:blipFill>
        <p:spPr>
          <a:xfrm>
            <a:off x="1828800" y="4389120"/>
            <a:ext cx="4572000" cy="685800"/>
          </a:xfrm>
          <a:prstGeom prst="rect">
            <a:avLst/>
          </a:prstGeom>
        </p:spPr>
      </p:pic>
      <p:sp>
        <p:nvSpPr>
          <p:cNvPr id="13" name="Text 8"/>
          <p:cNvSpPr/>
          <p:nvPr/>
        </p:nvSpPr>
        <p:spPr>
          <a:xfrm>
            <a:off x="6492240" y="4572000"/>
            <a:ext cx="2286000" cy="320040"/>
          </a:xfrm>
          <a:prstGeom prst="rect">
            <a:avLst/>
          </a:prstGeom>
          <a:noFill/>
          <a:ln/>
        </p:spPr>
        <p:txBody>
          <a:bodyPr wrap="square" lIns="68580" tIns="34290" rIns="68580" bIns="34290" rtlCol="0" anchor="t"/>
          <a:lstStyle/>
          <a:p>
            <a:pPr algn="r" indent="0" marL="0">
              <a:buNone/>
            </a:pPr>
            <a:r>
              <a:rPr lang="en-US" sz="1100" b="1" dirty="0">
                <a:solidFill>
                  <a:srgbClr val="2A2C86"/>
                </a:solidFill>
                <a:latin typeface="Kanit" pitchFamily="34" charset="0"/>
                <a:ea typeface="Kanit" pitchFamily="34" charset="-122"/>
                <a:cs typeface="Kanit" pitchFamily="34" charset="-120"/>
              </a:rPr>
              <a:t>NIELIT Bio-AI Conclave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602590"/>
            <a:ext cx="8100670" cy="83119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4400" b="0" i="0" dirty="0">
                <a:solidFill>
                  <a:srgbClr val="17173A"/>
                </a:solidFill>
                <a:latin typeface="Kanit"/>
                <a:ea typeface="Kanit"/>
                <a:cs typeface="Kanit"/>
              </a:rPr>
              <a:t>Outline</a:t>
            </a:r>
          </a:p>
        </p:txBody>
      </p:sp>
      <p:sp>
        <p:nvSpPr>
          <p:cNvPr id="3" name="Shape 1"/>
          <p:cNvSpPr/>
          <p:nvPr/>
        </p:nvSpPr>
        <p:spPr>
          <a:xfrm>
            <a:off x="0" y="1481328"/>
            <a:ext cx="9144000" cy="0"/>
          </a:xfrm>
          <a:prstGeom prst="line">
            <a:avLst/>
          </a:prstGeom>
          <a:noFill/>
          <a:ln w="19050">
            <a:solidFill>
              <a:srgbClr val="17173A"/>
            </a:solidFill>
            <a:prstDash val="solid"/>
          </a:ln>
        </p:spPr>
      </p:sp>
      <p:pic>
        <p:nvPicPr>
          <p:cNvPr id="1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7" name="Shape 14"/>
          <p:cNvSpPr/>
          <p:nvPr/>
        </p:nvSpPr>
        <p:spPr>
          <a:xfrm>
            <a:off x="0" y="4796028"/>
            <a:ext cx="9144000" cy="347472"/>
          </a:xfrm>
          <a:prstGeom prst="rect">
            <a:avLst/>
          </a:prstGeom>
          <a:solidFill>
            <a:srgbClr val="EDE6F8"/>
          </a:solidFill>
          <a:ln/>
        </p:spPr>
      </p:sp>
      <p:sp>
        <p:nvSpPr>
          <p:cNvPr id="18" name="Shape 15"/>
          <p:cNvSpPr/>
          <p:nvPr/>
        </p:nvSpPr>
        <p:spPr>
          <a:xfrm>
            <a:off x="0" y="4796028"/>
            <a:ext cx="109728" cy="347472"/>
          </a:xfrm>
          <a:prstGeom prst="rect">
            <a:avLst/>
          </a:prstGeom>
          <a:solidFill>
            <a:srgbClr val="5B2C91"/>
          </a:solidFill>
          <a:ln/>
        </p:spPr>
      </p:sp>
      <p:pic>
        <p:nvPicPr>
          <p:cNvPr id="1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0" name="Text 1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1" name="Text 1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2 / 15</a:t>
            </a:r>
            <a:endParaRPr lang="en-US" sz="850" dirty="0"/>
          </a:p>
        </p:txBody>
      </p:sp>
      <p:sp>
        <p:nvSpPr>
          <p:cNvPr id="901" name="Outline 1"/>
          <p:cNvSpPr txBox="1"/>
          <p:nvPr/>
        </p:nvSpPr>
        <p:spPr>
          <a:xfrm>
            <a:off x="731520" y="1783080"/>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1.  </a:t>
            </a:r>
            <a:r>
              <a:rPr lang="en-US" sz="2000" b="0" i="0" dirty="0">
                <a:solidFill>
                  <a:srgbClr val="17173A"/>
                </a:solidFill>
                <a:latin typeface="Kanit"/>
                <a:ea typeface="Kanit"/>
                <a:cs typeface="Kanit"/>
              </a:rPr>
              <a:t>Introduction</a:t>
            </a:r>
          </a:p>
          <a:p>
            <a:pPr algn="l">
              <a:spcBef>
                <a:spcPts val="0"/>
              </a:spcBef>
              <a:spcAft>
                <a:spcPts val="0"/>
              </a:spcAft>
              <a:buNone/>
            </a:pPr>
            <a:r>
              <a:rPr lang="en-US" sz="1200" b="0" i="0" dirty="0">
                <a:solidFill>
                  <a:srgbClr val="17173A"/>
                </a:solidFill>
                <a:latin typeface="Poppins"/>
                <a:ea typeface="Poppins"/>
                <a:cs typeface="Poppins"/>
              </a:rPr>
              <a:t>Motivation, the BEED dataset, research question</a:t>
            </a:r>
          </a:p>
        </p:txBody>
      </p:sp>
      <p:sp>
        <p:nvSpPr>
          <p:cNvPr id="902" name="Outline 2"/>
          <p:cNvSpPr txBox="1"/>
          <p:nvPr/>
        </p:nvSpPr>
        <p:spPr>
          <a:xfrm>
            <a:off x="731520" y="2679192"/>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2.  </a:t>
            </a:r>
            <a:r>
              <a:rPr lang="en-US" sz="2000" b="0" i="0" dirty="0">
                <a:solidFill>
                  <a:srgbClr val="17173A"/>
                </a:solidFill>
                <a:latin typeface="Kanit"/>
                <a:ea typeface="Kanit"/>
                <a:cs typeface="Kanit"/>
              </a:rPr>
              <a:t>Dataset Audit</a:t>
            </a:r>
          </a:p>
          <a:p>
            <a:pPr algn="l">
              <a:spcBef>
                <a:spcPts val="0"/>
              </a:spcBef>
              <a:spcAft>
                <a:spcPts val="0"/>
              </a:spcAft>
              <a:buNone/>
            </a:pPr>
            <a:r>
              <a:rPr lang="en-US" sz="1200" b="0" i="0" dirty="0">
                <a:solidFill>
                  <a:srgbClr val="17173A"/>
                </a:solidFill>
                <a:latin typeface="Poppins"/>
                <a:ea typeface="Poppins"/>
                <a:cs typeface="Poppins"/>
              </a:rPr>
              <a:t>Healthy-class provenance, temporal leakage</a:t>
            </a:r>
          </a:p>
        </p:txBody>
      </p:sp>
      <p:sp>
        <p:nvSpPr>
          <p:cNvPr id="903" name="Outline 3"/>
          <p:cNvSpPr txBox="1"/>
          <p:nvPr/>
        </p:nvSpPr>
        <p:spPr>
          <a:xfrm>
            <a:off x="731520" y="3575304"/>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3.  </a:t>
            </a:r>
            <a:r>
              <a:rPr lang="en-US" sz="2000" b="0" i="0" dirty="0">
                <a:solidFill>
                  <a:srgbClr val="17173A"/>
                </a:solidFill>
                <a:latin typeface="Kanit"/>
                <a:ea typeface="Kanit"/>
                <a:cs typeface="Kanit"/>
              </a:rPr>
              <a:t>Methodology</a:t>
            </a:r>
          </a:p>
          <a:p>
            <a:pPr algn="l">
              <a:spcBef>
                <a:spcPts val="0"/>
              </a:spcBef>
              <a:spcAft>
                <a:spcPts val="0"/>
              </a:spcAft>
              <a:buNone/>
            </a:pPr>
            <a:r>
              <a:rPr lang="en-US" sz="1200" b="0" i="0" dirty="0">
                <a:solidFill>
                  <a:srgbClr val="17173A"/>
                </a:solidFill>
                <a:latin typeface="Poppins"/>
                <a:ea typeface="Poppins"/>
                <a:cs typeface="Poppins"/>
              </a:rPr>
              <a:t>Leakage-safe splits, models and statistical tests</a:t>
            </a:r>
          </a:p>
        </p:txBody>
      </p:sp>
      <p:sp>
        <p:nvSpPr>
          <p:cNvPr id="904" name="Outline 4"/>
          <p:cNvSpPr txBox="1"/>
          <p:nvPr/>
        </p:nvSpPr>
        <p:spPr>
          <a:xfrm>
            <a:off x="4754880" y="1783080"/>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4.  </a:t>
            </a:r>
            <a:r>
              <a:rPr lang="en-US" sz="2000" b="0" i="0" dirty="0">
                <a:solidFill>
                  <a:srgbClr val="17173A"/>
                </a:solidFill>
                <a:latin typeface="Kanit"/>
                <a:ea typeface="Kanit"/>
                <a:cs typeface="Kanit"/>
              </a:rPr>
              <a:t>Results</a:t>
            </a:r>
          </a:p>
          <a:p>
            <a:pPr algn="l">
              <a:spcBef>
                <a:spcPts val="0"/>
              </a:spcBef>
              <a:spcAft>
                <a:spcPts val="0"/>
              </a:spcAft>
              <a:buNone/>
            </a:pPr>
            <a:r>
              <a:rPr lang="en-US" sz="1200" b="0" i="0" dirty="0">
                <a:solidFill>
                  <a:srgbClr val="17173A"/>
                </a:solidFill>
                <a:latin typeface="Poppins"/>
                <a:ea typeface="Poppins"/>
                <a:cs typeface="Poppins"/>
              </a:rPr>
              <a:t>Split comparison, model behaviour, edge model</a:t>
            </a:r>
          </a:p>
        </p:txBody>
      </p:sp>
      <p:sp>
        <p:nvSpPr>
          <p:cNvPr id="905" name="Outline 5"/>
          <p:cNvSpPr txBox="1"/>
          <p:nvPr/>
        </p:nvSpPr>
        <p:spPr>
          <a:xfrm>
            <a:off x="4754880" y="2679192"/>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5.  </a:t>
            </a:r>
            <a:r>
              <a:rPr lang="en-US" sz="2000" b="0" i="0" dirty="0">
                <a:solidFill>
                  <a:srgbClr val="17173A"/>
                </a:solidFill>
                <a:latin typeface="Kanit"/>
                <a:ea typeface="Kanit"/>
                <a:cs typeface="Kanit"/>
              </a:rPr>
              <a:t>Discussion</a:t>
            </a:r>
          </a:p>
          <a:p>
            <a:pPr algn="l">
              <a:spcBef>
                <a:spcPts val="0"/>
              </a:spcBef>
              <a:spcAft>
                <a:spcPts val="0"/>
              </a:spcAft>
              <a:buNone/>
            </a:pPr>
            <a:r>
              <a:rPr lang="en-US" sz="1200" b="0" i="0" dirty="0">
                <a:solidFill>
                  <a:srgbClr val="17173A"/>
                </a:solidFill>
                <a:latin typeface="Poppins"/>
                <a:ea typeface="Poppins"/>
                <a:cs typeface="Poppins"/>
              </a:rPr>
              <a:t>Limitations of the dataset and the study</a:t>
            </a:r>
          </a:p>
        </p:txBody>
      </p:sp>
      <p:sp>
        <p:nvSpPr>
          <p:cNvPr id="906" name="Outline 6"/>
          <p:cNvSpPr txBox="1"/>
          <p:nvPr/>
        </p:nvSpPr>
        <p:spPr>
          <a:xfrm>
            <a:off x="4754880" y="3575304"/>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6.  </a:t>
            </a:r>
            <a:r>
              <a:rPr lang="en-US" sz="2000" b="0" i="0" dirty="0">
                <a:solidFill>
                  <a:srgbClr val="17173A"/>
                </a:solidFill>
                <a:latin typeface="Kanit"/>
                <a:ea typeface="Kanit"/>
                <a:cs typeface="Kanit"/>
              </a:rPr>
              <a:t>Conclusion</a:t>
            </a:r>
          </a:p>
          <a:p>
            <a:pPr algn="l">
              <a:spcBef>
                <a:spcPts val="0"/>
              </a:spcBef>
              <a:spcAft>
                <a:spcPts val="0"/>
              </a:spcAft>
              <a:buNone/>
            </a:pPr>
            <a:r>
              <a:rPr lang="en-US" sz="1200" b="0" i="0" dirty="0">
                <a:solidFill>
                  <a:srgbClr val="17173A"/>
                </a:solidFill>
                <a:latin typeface="Poppins"/>
                <a:ea typeface="Poppins"/>
                <a:cs typeface="Poppins"/>
              </a:rPr>
              <a:t>Takeaways and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7921" y="502920"/>
            <a:ext cx="694944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200" b="0" i="0" dirty="0">
                <a:solidFill>
                  <a:srgbClr val="17173A"/>
                </a:solidFill>
                <a:latin typeface="Kanit"/>
                <a:ea typeface="Kanit"/>
                <a:cs typeface="Kanit"/>
              </a:rPr>
              <a:t>1. Introduction: Motivation</a:t>
            </a:r>
          </a:p>
        </p:txBody>
      </p:sp>
      <p:pic>
        <p:nvPicPr>
          <p:cNvPr id="990" name="Figure 1" descr="BEED class 2 rows plotted as 16 traces">    </p:cNvPr>
          <p:cNvPicPr>
            <a:picLocks noChangeAspect="1"/>
          </p:cNvPicPr>
          <p:nvPr/>
        </p:nvPicPr>
        <p:blipFill>
          <a:blip r:embed="rIdFig1"/>
          <a:stretch>
            <a:fillRect/>
          </a:stretch>
        </p:blipFill>
        <p:spPr>
          <a:xfrm>
            <a:off x="5074920" y="1325880"/>
            <a:ext cx="3398008" cy="2651760"/>
          </a:xfrm>
          <a:prstGeom prst="rect">
            <a:avLst/>
          </a:prstGeom>
        </p:spPr>
      </p:pic>
      <p:pic>
        <p:nvPicPr>
          <p:cNvPr id="15"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6" name="Shape 13"/>
          <p:cNvSpPr/>
          <p:nvPr/>
        </p:nvSpPr>
        <p:spPr>
          <a:xfrm>
            <a:off x="0" y="4796028"/>
            <a:ext cx="9144000" cy="347472"/>
          </a:xfrm>
          <a:prstGeom prst="rect">
            <a:avLst/>
          </a:prstGeom>
          <a:solidFill>
            <a:srgbClr val="EDE6F8"/>
          </a:solidFill>
          <a:ln/>
        </p:spPr>
      </p:sp>
      <p:sp>
        <p:nvSpPr>
          <p:cNvPr id="17" name="Shape 14"/>
          <p:cNvSpPr/>
          <p:nvPr/>
        </p:nvSpPr>
        <p:spPr>
          <a:xfrm>
            <a:off x="0" y="4796028"/>
            <a:ext cx="109728" cy="347472"/>
          </a:xfrm>
          <a:prstGeom prst="rect">
            <a:avLst/>
          </a:prstGeom>
          <a:solidFill>
            <a:srgbClr val="5B2C91"/>
          </a:solidFill>
          <a:ln/>
        </p:spPr>
      </p:sp>
      <p:pic>
        <p:nvPicPr>
          <p:cNvPr id="18"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9" name="Text 15"/>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0" name="Text 16"/>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3 / 15</a:t>
            </a:r>
            <a:endParaRPr lang="en-US" sz="850" dirty="0"/>
          </a:p>
        </p:txBody>
      </p:sp>
      <p:sp>
        <p:nvSpPr>
          <p:cNvPr id="907" name="Bullets"/>
          <p:cNvSpPr txBox="1"/>
          <p:nvPr/>
        </p:nvSpPr>
        <p:spPr>
          <a:xfrm>
            <a:off x="777240" y="1417320"/>
            <a:ext cx="4206240" cy="2926080"/>
          </a:xfrm>
          <a:prstGeom prst="rect">
            <a:avLst/>
          </a:prstGeom>
          <a:noFill/>
        </p:spPr>
        <p:txBody>
          <a:bodyPr wrap="square" lIns="45720" tIns="27432" rIns="45720" bIns="27432" anchor="t">
            <a:normAutofit/>
          </a:bodyPr>
          <a:lstStyle/>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Epilepsy affects about 50 million people worldwide [4].</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Visual EEG review is expert-intensive and slow.</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Automated seizure-type classification could support clinicians.</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Public benchmarks like BEED [1] drive models; their validity matters.</a:t>
            </a:r>
          </a:p>
        </p:txBody>
      </p:sp>
      <p:sp>
        <p:nvSpPr>
          <p:cNvPr id="911" name="Caption 1"/>
          <p:cNvSpPr txBox="1"/>
          <p:nvPr/>
        </p:nvSpPr>
        <p:spPr>
          <a:xfrm>
            <a:off x="5074920" y="4023360"/>
            <a:ext cx="3398008" cy="384048"/>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1. BEED focal-seizure class: 512 consecutive rows drawn as 16 traces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93115" y="384048"/>
            <a:ext cx="6217920" cy="566928"/>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1. Introduction: The BEED Dataset</a:t>
            </a:r>
          </a:p>
        </p:txBody>
      </p:sp>
      <p:sp>
        <p:nvSpPr>
          <p:cNvPr id="3" name="Shape 1"/>
          <p:cNvSpPr/>
          <p:nvPr/>
        </p:nvSpPr>
        <p:spPr>
          <a:xfrm>
            <a:off x="0" y="1481328"/>
            <a:ext cx="7001561" cy="0"/>
          </a:xfrm>
          <a:prstGeom prst="line">
            <a:avLst/>
          </a:prstGeom>
          <a:noFill/>
          <a:ln w="19050">
            <a:solidFill>
              <a:srgbClr val="17173A"/>
            </a:solidFill>
            <a:prstDash val="solid"/>
          </a:ln>
        </p:spPr>
      </p:sp>
      <p:sp>
        <p:nvSpPr>
          <p:cNvPr id="4" name="Shape 2"/>
          <p:cNvSpPr/>
          <p:nvPr/>
        </p:nvSpPr>
        <p:spPr>
          <a:xfrm>
            <a:off x="0" y="3039466"/>
            <a:ext cx="7001561" cy="0"/>
          </a:xfrm>
          <a:prstGeom prst="line">
            <a:avLst/>
          </a:prstGeom>
          <a:noFill/>
          <a:ln w="19050">
            <a:solidFill>
              <a:srgbClr val="17173A"/>
            </a:solidFill>
            <a:prstDash val="solid"/>
          </a:ln>
        </p:spPr>
      </p:sp>
      <p:sp>
        <p:nvSpPr>
          <p:cNvPr id="5" name="Shape 3"/>
          <p:cNvSpPr/>
          <p:nvPr/>
        </p:nvSpPr>
        <p:spPr>
          <a:xfrm>
            <a:off x="7001561" y="0"/>
            <a:ext cx="0" cy="4596689"/>
          </a:xfrm>
          <a:prstGeom prst="line">
            <a:avLst/>
          </a:prstGeom>
          <a:noFill/>
          <a:ln w="19050">
            <a:solidFill>
              <a:srgbClr val="17173A"/>
            </a:solidFill>
            <a:prstDash val="solid"/>
          </a:ln>
        </p:spPr>
      </p:sp>
      <p:sp>
        <p:nvSpPr>
          <p:cNvPr id="6" name="Shape 4"/>
          <p:cNvSpPr/>
          <p:nvPr/>
        </p:nvSpPr>
        <p:spPr>
          <a:xfrm>
            <a:off x="3500323" y="1481328"/>
            <a:ext cx="0" cy="3115361"/>
          </a:xfrm>
          <a:prstGeom prst="line">
            <a:avLst/>
          </a:prstGeom>
          <a:noFill/>
          <a:ln w="19050">
            <a:solidFill>
              <a:srgbClr val="17173A"/>
            </a:solidFill>
            <a:prstDash val="solid"/>
          </a:ln>
        </p:spPr>
      </p:sp>
      <p:sp>
        <p:nvSpPr>
          <p:cNvPr id="9" name="Text 7"/>
          <p:cNvSpPr/>
          <p:nvPr/>
        </p:nvSpPr>
        <p:spPr>
          <a:xfrm>
            <a:off x="706831"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0 · Healthy</a:t>
            </a:r>
          </a:p>
        </p:txBody>
      </p:sp>
      <p:sp>
        <p:nvSpPr>
          <p:cNvPr id="10" name="Text 8"/>
          <p:cNvSpPr/>
          <p:nvPr/>
        </p:nvSpPr>
        <p:spPr>
          <a:xfrm>
            <a:off x="706831" y="2236622"/>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2,000 rows; documented as healthy adult subjects [1].</a:t>
            </a:r>
          </a:p>
        </p:txBody>
      </p:sp>
      <p:sp>
        <p:nvSpPr>
          <p:cNvPr id="11" name="Text 9"/>
          <p:cNvSpPr/>
          <p:nvPr/>
        </p:nvSpPr>
        <p:spPr>
          <a:xfrm>
            <a:off x="4022446"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1 · Generalised seizures</a:t>
            </a:r>
          </a:p>
        </p:txBody>
      </p:sp>
      <p:sp>
        <p:nvSpPr>
          <p:cNvPr id="12" name="Text 10"/>
          <p:cNvSpPr/>
          <p:nvPr/>
        </p:nvSpPr>
        <p:spPr>
          <a:xfrm>
            <a:off x="4022446" y="2236622"/>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2,000 rows; seizures involving both hemispheres.</a:t>
            </a:r>
          </a:p>
        </p:txBody>
      </p:sp>
      <p:sp>
        <p:nvSpPr>
          <p:cNvPr id="13" name="Text 11"/>
          <p:cNvSpPr/>
          <p:nvPr/>
        </p:nvSpPr>
        <p:spPr>
          <a:xfrm>
            <a:off x="706831"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2 · Focal seizures</a:t>
            </a:r>
          </a:p>
        </p:txBody>
      </p:sp>
      <p:sp>
        <p:nvSpPr>
          <p:cNvPr id="14" name="Text 12"/>
          <p:cNvSpPr/>
          <p:nvPr/>
        </p:nvSpPr>
        <p:spPr>
          <a:xfrm>
            <a:off x="706831" y="3767328"/>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2,000 rows; onset in a restricted brain region.</a:t>
            </a:r>
          </a:p>
        </p:txBody>
      </p:sp>
      <p:sp>
        <p:nvSpPr>
          <p:cNvPr id="15" name="Text 13"/>
          <p:cNvSpPr/>
          <p:nvPr/>
        </p:nvSpPr>
        <p:spPr>
          <a:xfrm>
            <a:off x="4022446"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3 · Seizure events</a:t>
            </a:r>
          </a:p>
        </p:txBody>
      </p:sp>
      <p:sp>
        <p:nvSpPr>
          <p:cNvPr id="16" name="Text 14"/>
          <p:cNvSpPr/>
          <p:nvPr/>
        </p:nvSpPr>
        <p:spPr>
          <a:xfrm>
            <a:off x="4022446" y="3767328"/>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2,000 rows; events with blinking or staring behaviours.</a:t>
            </a:r>
          </a:p>
        </p:txBody>
      </p:sp>
      <p:pic>
        <p:nvPicPr>
          <p:cNvPr id="1102" name="Figure 2" descr="One BEED row per class">    </p:cNvPr>
          <p:cNvPicPr>
            <a:picLocks noChangeAspect="1"/>
          </p:cNvPicPr>
          <p:nvPr/>
        </p:nvPicPr>
        <p:blipFill>
          <a:blip r:embed="rIdFig2"/>
          <a:stretch>
            <a:fillRect/>
          </a:stretch>
        </p:blipFill>
        <p:spPr>
          <a:xfrm>
            <a:off x="7132320" y="640080"/>
            <a:ext cx="1856000" cy="2926080"/>
          </a:xfrm>
          <a:prstGeom prst="rect">
            <a:avLst/>
          </a:prstGeom>
        </p:spPr>
      </p:pic>
      <p:pic>
        <p:nvPicPr>
          <p:cNvPr id="17"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8" name="Shape 15"/>
          <p:cNvSpPr/>
          <p:nvPr/>
        </p:nvSpPr>
        <p:spPr>
          <a:xfrm>
            <a:off x="0" y="4796028"/>
            <a:ext cx="9144000" cy="347472"/>
          </a:xfrm>
          <a:prstGeom prst="rect">
            <a:avLst/>
          </a:prstGeom>
          <a:solidFill>
            <a:srgbClr val="EDE6F8"/>
          </a:solidFill>
          <a:ln/>
        </p:spPr>
      </p:sp>
      <p:sp>
        <p:nvSpPr>
          <p:cNvPr id="19" name="Shape 16"/>
          <p:cNvSpPr/>
          <p:nvPr/>
        </p:nvSpPr>
        <p:spPr>
          <a:xfrm>
            <a:off x="0" y="4796028"/>
            <a:ext cx="109728" cy="347472"/>
          </a:xfrm>
          <a:prstGeom prst="rect">
            <a:avLst/>
          </a:prstGeom>
          <a:solidFill>
            <a:srgbClr val="5B2C91"/>
          </a:solidFill>
          <a:ln/>
        </p:spPr>
      </p:sp>
      <p:pic>
        <p:nvPicPr>
          <p:cNvPr id="20"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1" name="Text 17"/>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2" name="Text 18"/>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4 / 15</a:t>
            </a:r>
            <a:endParaRPr lang="en-US" sz="850" dirty="0"/>
          </a:p>
        </p:txBody>
      </p:sp>
      <p:sp>
        <p:nvSpPr>
          <p:cNvPr id="1101" name="Facts"/>
          <p:cNvSpPr txBox="1"/>
          <p:nvPr/>
        </p:nvSpPr>
        <p:spPr>
          <a:xfrm>
            <a:off x="693115" y="969264"/>
            <a:ext cx="6217920" cy="384048"/>
          </a:xfrm>
          <a:prstGeom prst="rect">
            <a:avLst/>
          </a:prstGeom>
          <a:noFill/>
        </p:spPr>
        <p:txBody>
          <a:bodyPr wrap="square" lIns="45720" tIns="27432" rIns="45720" bIns="27432" anchor="t">
            <a:normAutofit/>
          </a:bodyPr>
          <a:lstStyle/>
          <a:p>
            <a:pPr algn="l">
              <a:spcBef>
                <a:spcPts val="0"/>
              </a:spcBef>
              <a:spcAft>
                <a:spcPts val="0"/>
              </a:spcAft>
              <a:buNone/>
            </a:pPr>
            <a:r>
              <a:rPr lang="en-US" sz="1200" b="0" i="0" dirty="0">
                <a:solidFill>
                  <a:srgbClr val="5B2C91"/>
                </a:solidFill>
                <a:latin typeface="Poppins"/>
                <a:ea typeface="Poppins"/>
                <a:cs typeface="Poppins"/>
              </a:rPr>
              <a:t>8,000 rows · 16 values per row (X1–X16) · 256 Hz, 16 channels [1]</a:t>
            </a:r>
          </a:p>
        </p:txBody>
      </p:sp>
      <p:sp>
        <p:nvSpPr>
          <p:cNvPr id="1103" name="Caption"/>
          <p:cNvSpPr txBox="1"/>
          <p:nvPr/>
        </p:nvSpPr>
        <p:spPr>
          <a:xfrm>
            <a:off x="7095744" y="3611880"/>
            <a:ext cx="1965960" cy="6858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2. One BEED row per class; healthy rows show far larger amplitude.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0664" y="640080"/>
            <a:ext cx="4114800" cy="11430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17173A"/>
                </a:solidFill>
                <a:latin typeface="Kanit"/>
                <a:ea typeface="Kanit"/>
                <a:cs typeface="Kanit"/>
              </a:rPr>
              <a:t>1. Introduction:</a:t>
            </a:r>
          </a:p>
          <a:p>
            <a:pPr algn="l">
              <a:spcBef>
                <a:spcPts val="0"/>
              </a:spcBef>
              <a:spcAft>
                <a:spcPts val="0"/>
              </a:spcAft>
              <a:buNone/>
            </a:pPr>
            <a:r>
              <a:rPr lang="en-US" sz="3000" b="0" i="0" dirty="0">
                <a:solidFill>
                  <a:srgbClr val="17173A"/>
                </a:solidFill>
                <a:latin typeface="Kanit"/>
                <a:ea typeface="Kanit"/>
                <a:cs typeface="Kanit"/>
              </a:rPr>
              <a:t>Research Question</a:t>
            </a:r>
          </a:p>
        </p:txBody>
      </p:sp>
      <p:sp>
        <p:nvSpPr>
          <p:cNvPr id="3" name="Text 1"/>
          <p:cNvSpPr/>
          <p:nvPr/>
        </p:nvSpPr>
        <p:spPr>
          <a:xfrm>
            <a:off x="740664" y="2148840"/>
            <a:ext cx="4160520" cy="2286000"/>
          </a:xfrm>
          <a:prstGeom prst="rect">
            <a:avLst/>
          </a:prstGeom>
          <a:noFill/>
          <a:ln/>
        </p:spPr>
        <p:txBody>
          <a:bodyPr wrap="square" lIns="68580" tIns="34290" rIns="68580" bIns="34290" rtlCol="0" anchor="t">
            <a:normAutofit/>
          </a:bodyPr>
          <a:lstStyle/>
          <a:p>
            <a:pPr algn="l">
              <a:lnSpc>
                <a:spcPct val="95000"/>
              </a:lnSpc>
              <a:spcBef>
                <a:spcPts val="0"/>
              </a:spcBef>
              <a:spcAft>
                <a:spcPts val="1600"/>
              </a:spcAft>
              <a:buNone/>
            </a:pPr>
            <a:r>
              <a:rPr lang="en-US" sz="1700" b="0" i="1" dirty="0">
                <a:solidFill>
                  <a:srgbClr val="5B2C91"/>
                </a:solidFill>
                <a:latin typeface="Poppins"/>
                <a:ea typeface="Poppins"/>
                <a:cs typeface="Poppins"/>
              </a:rPr>
              <a:t>How well do models classify BEED seizure types when tested without leakage?</a:t>
            </a:r>
          </a:p>
          <a:p>
            <a:pPr algn="l">
              <a:spcBef>
                <a:spcPts val="0"/>
              </a:spcBef>
              <a:spcAft>
                <a:spcPts val="0"/>
              </a:spcAft>
              <a:buNone/>
            </a:pPr>
            <a:r>
              <a:rPr lang="en-US" sz="1200" b="0" i="0" dirty="0">
                <a:solidFill>
                  <a:srgbClr val="17173A"/>
                </a:solidFill>
                <a:latin typeface="Poppins"/>
                <a:ea typeface="Poppins"/>
                <a:cs typeface="Poppins"/>
              </a:rPr>
              <a:t>Sub-question: the origin of the healthy rows.</a:t>
            </a:r>
          </a:p>
        </p:txBody>
      </p:sp>
      <p:sp>
        <p:nvSpPr>
          <p:cNvPr id="4" name="Shape 2"/>
          <p:cNvSpPr/>
          <p:nvPr/>
        </p:nvSpPr>
        <p:spPr>
          <a:xfrm>
            <a:off x="5010912" y="0"/>
            <a:ext cx="0" cy="4596689"/>
          </a:xfrm>
          <a:prstGeom prst="line">
            <a:avLst/>
          </a:prstGeom>
          <a:noFill/>
          <a:ln w="19050">
            <a:solidFill>
              <a:srgbClr val="17173A"/>
            </a:solidFill>
            <a:prstDash val="solid"/>
          </a:ln>
        </p:spPr>
      </p:sp>
      <p:sp>
        <p:nvSpPr>
          <p:cNvPr id="5" name="Shape 3"/>
          <p:cNvSpPr/>
          <p:nvPr/>
        </p:nvSpPr>
        <p:spPr>
          <a:xfrm>
            <a:off x="5010912" y="2298802"/>
            <a:ext cx="4133088" cy="0"/>
          </a:xfrm>
          <a:prstGeom prst="line">
            <a:avLst/>
          </a:prstGeom>
          <a:noFill/>
          <a:ln w="19050">
            <a:solidFill>
              <a:srgbClr val="17173A"/>
            </a:solidFill>
            <a:prstDash val="solid"/>
          </a:ln>
        </p:spPr>
      </p:sp>
      <p:sp>
        <p:nvSpPr>
          <p:cNvPr id="6" name="Text 4"/>
          <p:cNvSpPr/>
          <p:nvPr/>
        </p:nvSpPr>
        <p:spPr>
          <a:xfrm>
            <a:off x="5565953" y="685800"/>
            <a:ext cx="333756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Random row split</a:t>
            </a:r>
          </a:p>
        </p:txBody>
      </p:sp>
      <p:sp>
        <p:nvSpPr>
          <p:cNvPr id="7" name="Text 5"/>
          <p:cNvSpPr/>
          <p:nvPr/>
        </p:nvSpPr>
        <p:spPr>
          <a:xfrm>
            <a:off x="5565953" y="1188720"/>
            <a:ext cx="3337560" cy="868680"/>
          </a:xfrm>
          <a:prstGeom prst="rect">
            <a:avLst/>
          </a:prstGeom>
          <a:noFill/>
          <a:ln/>
        </p:spPr>
        <p:txBody>
          <a:bodyPr wrap="square" lIns="68580" tIns="34290" rIns="68580" bIns="34290" rtlCol="0" anchor="t">
            <a:normAutofit/>
          </a:bodyPr>
          <a:lstStyle/>
          <a:p>
            <a:pPr algn="l">
              <a:spcBef>
                <a:spcPts val="0"/>
              </a:spcBef>
              <a:spcAft>
                <a:spcPts val="600"/>
              </a:spcAft>
              <a:buNone/>
            </a:pPr>
            <a:r>
              <a:rPr lang="en-US" sz="1200" b="0" i="0" dirty="0">
                <a:solidFill>
                  <a:srgbClr val="17173A"/>
                </a:solidFill>
                <a:latin typeface="Poppins"/>
                <a:ea typeface="Poppins"/>
                <a:cs typeface="Poppins"/>
              </a:rPr>
              <a:t>Standard practice in prior BEED studies.</a:t>
            </a:r>
          </a:p>
          <a:p>
            <a:pPr algn="l">
              <a:spcBef>
                <a:spcPts val="0"/>
              </a:spcBef>
              <a:spcAft>
                <a:spcPts val="0"/>
              </a:spcAft>
              <a:buNone/>
            </a:pPr>
            <a:r>
              <a:rPr lang="en-US" sz="1200" b="0" i="0" dirty="0">
                <a:solidFill>
                  <a:srgbClr val="17173A"/>
                </a:solidFill>
                <a:latin typeface="Poppins"/>
                <a:ea typeface="Poppins"/>
                <a:cs typeface="Poppins"/>
              </a:rPr>
              <a:t>Adjacent rows can land in train and test.</a:t>
            </a:r>
          </a:p>
        </p:txBody>
      </p:sp>
      <p:sp>
        <p:nvSpPr>
          <p:cNvPr id="8" name="Text 6"/>
          <p:cNvSpPr/>
          <p:nvPr/>
        </p:nvSpPr>
        <p:spPr>
          <a:xfrm>
            <a:off x="5565953" y="2697480"/>
            <a:ext cx="333756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Leakage-safe block split</a:t>
            </a:r>
          </a:p>
        </p:txBody>
      </p:sp>
      <p:sp>
        <p:nvSpPr>
          <p:cNvPr id="9" name="Text 7"/>
          <p:cNvSpPr/>
          <p:nvPr/>
        </p:nvSpPr>
        <p:spPr>
          <a:xfrm>
            <a:off x="5565953" y="3200400"/>
            <a:ext cx="3337560" cy="868680"/>
          </a:xfrm>
          <a:prstGeom prst="rect">
            <a:avLst/>
          </a:prstGeom>
          <a:noFill/>
          <a:ln/>
        </p:spPr>
        <p:txBody>
          <a:bodyPr wrap="square" lIns="68580" tIns="34290" rIns="68580" bIns="34290" rtlCol="0" anchor="t">
            <a:normAutofit/>
          </a:bodyPr>
          <a:lstStyle/>
          <a:p>
            <a:pPr algn="l">
              <a:spcBef>
                <a:spcPts val="0"/>
              </a:spcBef>
              <a:spcAft>
                <a:spcPts val="600"/>
              </a:spcAft>
              <a:buNone/>
            </a:pPr>
            <a:r>
              <a:rPr lang="en-US" sz="1200" b="0" i="0" dirty="0">
                <a:solidFill>
                  <a:srgbClr val="17173A"/>
                </a:solidFill>
                <a:latin typeface="Poppins"/>
                <a:ea typeface="Poppins"/>
                <a:cs typeface="Poppins"/>
              </a:rPr>
              <a:t>200-row blocks with 50-row gaps.</a:t>
            </a:r>
          </a:p>
          <a:p>
            <a:pPr algn="l">
              <a:spcBef>
                <a:spcPts val="0"/>
              </a:spcBef>
              <a:spcAft>
                <a:spcPts val="0"/>
              </a:spcAft>
              <a:buNone/>
            </a:pPr>
            <a:r>
              <a:rPr lang="en-US" sz="1200" b="0" i="0" dirty="0">
                <a:solidFill>
                  <a:srgbClr val="17173A"/>
                </a:solidFill>
                <a:latin typeface="Poppins"/>
                <a:ea typeface="Poppins"/>
                <a:cs typeface="Poppins"/>
              </a:rPr>
              <a:t>No near-duplicates across the split.</a:t>
            </a:r>
          </a:p>
        </p:txBody>
      </p:sp>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sp>
      <p:sp>
        <p:nvSpPr>
          <p:cNvPr id="12" name="Shape 9"/>
          <p:cNvSpPr/>
          <p:nvPr/>
        </p:nvSpPr>
        <p:spPr>
          <a:xfrm>
            <a:off x="0" y="4796028"/>
            <a:ext cx="109728" cy="347472"/>
          </a:xfrm>
          <a:prstGeom prst="rect">
            <a:avLst/>
          </a:prstGeom>
          <a:solidFill>
            <a:srgbClr val="5B2C91"/>
          </a:solidFill>
          <a:ln/>
        </p:spPr>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5 / 15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78485" y="502920"/>
            <a:ext cx="4434840" cy="146304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600" b="0" i="0" dirty="0">
                <a:solidFill>
                  <a:srgbClr val="17173A"/>
                </a:solidFill>
                <a:latin typeface="Kanit"/>
                <a:ea typeface="Kanit"/>
                <a:cs typeface="Kanit"/>
              </a:rPr>
              <a:t>2. Dataset Audit:</a:t>
            </a:r>
          </a:p>
          <a:p>
            <a:pPr algn="l">
              <a:lnSpc>
                <a:spcPct val="90000"/>
              </a:lnSpc>
              <a:spcBef>
                <a:spcPts val="0"/>
              </a:spcBef>
              <a:spcAft>
                <a:spcPts val="0"/>
              </a:spcAft>
              <a:buNone/>
            </a:pPr>
            <a:r>
              <a:rPr lang="en-US" sz="2600" b="0" i="0" dirty="0">
                <a:solidFill>
                  <a:srgbClr val="17173A"/>
                </a:solidFill>
                <a:latin typeface="Kanit"/>
                <a:ea typeface="Kanit"/>
                <a:cs typeface="Kanit"/>
              </a:rPr>
              <a:t>Where the Healthy Class Comes From</a:t>
            </a:r>
          </a:p>
        </p:txBody>
      </p:sp>
      <p:sp>
        <p:nvSpPr>
          <p:cNvPr id="3" name="Shape 1"/>
          <p:cNvSpPr/>
          <p:nvPr/>
        </p:nvSpPr>
        <p:spPr>
          <a:xfrm>
            <a:off x="5250485" y="0"/>
            <a:ext cx="0" cy="4596689"/>
          </a:xfrm>
          <a:prstGeom prst="line">
            <a:avLst/>
          </a:prstGeom>
          <a:noFill/>
          <a:ln w="19050">
            <a:solidFill>
              <a:srgbClr val="17173A"/>
            </a:solidFill>
            <a:prstDash val="solid"/>
          </a:ln>
        </p:spPr>
      </p:sp>
      <p:sp>
        <p:nvSpPr>
          <p:cNvPr id="6" name="Text 4"/>
          <p:cNvSpPr/>
          <p:nvPr/>
        </p:nvSpPr>
        <p:spPr>
          <a:xfrm>
            <a:off x="5577840" y="685800"/>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Match</a:t>
            </a:r>
          </a:p>
        </p:txBody>
      </p:sp>
      <p:sp>
        <p:nvSpPr>
          <p:cNvPr id="7" name="Text 5"/>
          <p:cNvSpPr/>
          <p:nvPr/>
        </p:nvSpPr>
        <p:spPr>
          <a:xfrm>
            <a:off x="6675120" y="685800"/>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All 2,000 healthy rows match UCI data exactly [3]; classes 1–3 do not.</a:t>
            </a:r>
          </a:p>
        </p:txBody>
      </p:sp>
      <p:sp>
        <p:nvSpPr>
          <p:cNvPr id="8" name="Text 6"/>
          <p:cNvSpPr/>
          <p:nvPr/>
        </p:nvSpPr>
        <p:spPr>
          <a:xfrm>
            <a:off x="5577840" y="1664208"/>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Source</a:t>
            </a:r>
          </a:p>
        </p:txBody>
      </p:sp>
      <p:sp>
        <p:nvSpPr>
          <p:cNvPr id="9" name="Text 7"/>
          <p:cNvSpPr/>
          <p:nvPr/>
        </p:nvSpPr>
        <p:spPr>
          <a:xfrm>
            <a:off x="6675120" y="1664208"/>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Bonn set B, eyes closed, 173.61 Hz [2]; classes 1–3: 256 Hz.</a:t>
            </a:r>
          </a:p>
        </p:txBody>
      </p:sp>
      <p:sp>
        <p:nvSpPr>
          <p:cNvPr id="10" name="Text 8"/>
          <p:cNvSpPr/>
          <p:nvPr/>
        </p:nvSpPr>
        <p:spPr>
          <a:xfrm>
            <a:off x="5577840" y="2642616"/>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Position</a:t>
            </a:r>
          </a:p>
        </p:txBody>
      </p:sp>
      <p:sp>
        <p:nvSpPr>
          <p:cNvPr id="11" name="Text 9"/>
          <p:cNvSpPr/>
          <p:nvPr/>
        </p:nvSpPr>
        <p:spPr>
          <a:xfrm>
            <a:off x="6675120" y="2642616"/>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Every match lies at samples 159–174 of a one-second chunk.</a:t>
            </a:r>
          </a:p>
        </p:txBody>
      </p:sp>
      <p:sp>
        <p:nvSpPr>
          <p:cNvPr id="12" name="Text 10"/>
          <p:cNvSpPr/>
          <p:nvPr/>
        </p:nvSpPr>
        <p:spPr>
          <a:xfrm>
            <a:off x="5577840" y="3621024"/>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Effect</a:t>
            </a:r>
          </a:p>
        </p:txBody>
      </p:sp>
      <p:sp>
        <p:nvSpPr>
          <p:cNvPr id="13" name="Text 11"/>
          <p:cNvSpPr/>
          <p:nvPr/>
        </p:nvSpPr>
        <p:spPr>
          <a:xfrm>
            <a:off x="6675120" y="3621024"/>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A single smoothness threshold separates healthy rows (accuracy 0.997).</a:t>
            </a:r>
          </a:p>
        </p:txBody>
      </p:sp>
      <p:pic>
        <p:nvPicPr>
          <p:cNvPr id="1104" name="Figure 3" descr="BEED healthy row matched inside a Bonn segment">    </p:cNvPr>
          <p:cNvPicPr>
            <a:picLocks noChangeAspect="1"/>
          </p:cNvPicPr>
          <p:nvPr/>
        </p:nvPicPr>
        <p:blipFill>
          <a:blip r:embed="rIdFig3"/>
          <a:stretch>
            <a:fillRect/>
          </a:stretch>
        </p:blipFill>
        <p:spPr>
          <a:xfrm>
            <a:off x="182880" y="2514600"/>
            <a:ext cx="4892040" cy="1502910"/>
          </a:xfrm>
          <a:prstGeom prst="rect">
            <a:avLst/>
          </a:prstGeom>
        </p:spPr>
      </p:pic>
      <p:pic>
        <p:nvPicPr>
          <p:cNvPr id="14"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5" name="Shape 12"/>
          <p:cNvSpPr/>
          <p:nvPr/>
        </p:nvSpPr>
        <p:spPr>
          <a:xfrm>
            <a:off x="0" y="4796028"/>
            <a:ext cx="9144000" cy="347472"/>
          </a:xfrm>
          <a:prstGeom prst="rect">
            <a:avLst/>
          </a:prstGeom>
          <a:solidFill>
            <a:srgbClr val="EDE6F8"/>
          </a:solidFill>
          <a:ln/>
        </p:spPr>
      </p:sp>
      <p:sp>
        <p:nvSpPr>
          <p:cNvPr id="16" name="Shape 13"/>
          <p:cNvSpPr/>
          <p:nvPr/>
        </p:nvSpPr>
        <p:spPr>
          <a:xfrm>
            <a:off x="0" y="4796028"/>
            <a:ext cx="109728" cy="347472"/>
          </a:xfrm>
          <a:prstGeom prst="rect">
            <a:avLst/>
          </a:prstGeom>
          <a:solidFill>
            <a:srgbClr val="5B2C91"/>
          </a:solidFill>
          <a:ln/>
        </p:spPr>
      </p:sp>
      <p:pic>
        <p:nvPicPr>
          <p:cNvPr id="17"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8" name="Text 14"/>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9" name="Text 15"/>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6 / 15</a:t>
            </a:r>
            <a:endParaRPr lang="en-US" sz="850" dirty="0"/>
          </a:p>
        </p:txBody>
      </p:sp>
      <p:sp>
        <p:nvSpPr>
          <p:cNvPr id="1105" name="Caption"/>
          <p:cNvSpPr txBox="1"/>
          <p:nvPr/>
        </p:nvSpPr>
        <p:spPr>
          <a:xfrm>
            <a:off x="182880" y="4090662"/>
            <a:ext cx="4892040" cy="41148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3. A BEED healthy row identical to a Bonn set-B window (a); matches per class (b).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0878" y="457200"/>
            <a:ext cx="448056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FFFFFF"/>
                </a:solidFill>
                <a:latin typeface="Kanit"/>
                <a:ea typeface="Kanit"/>
                <a:cs typeface="Kanit"/>
              </a:rPr>
              <a:t>2. Dataset Audit:</a:t>
            </a:r>
          </a:p>
          <a:p>
            <a:pPr algn="l">
              <a:spcBef>
                <a:spcPts val="0"/>
              </a:spcBef>
              <a:spcAft>
                <a:spcPts val="0"/>
              </a:spcAft>
              <a:buNone/>
            </a:pPr>
            <a:r>
              <a:rPr lang="en-US" sz="3000" b="0" i="0" dirty="0">
                <a:solidFill>
                  <a:srgbClr val="FFFFFF"/>
                </a:solidFill>
                <a:latin typeface="Kanit"/>
                <a:ea typeface="Kanit"/>
                <a:cs typeface="Kanit"/>
              </a:rPr>
              <a:t>Temporal Leakage</a:t>
            </a:r>
          </a:p>
        </p:txBody>
      </p:sp>
      <p:sp>
        <p:nvSpPr>
          <p:cNvPr id="3" name="Text 1"/>
          <p:cNvSpPr/>
          <p:nvPr/>
        </p:nvSpPr>
        <p:spPr>
          <a:xfrm>
            <a:off x="620878" y="1645920"/>
            <a:ext cx="4343400" cy="68580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300" b="0" i="0" dirty="0">
                <a:solidFill>
                  <a:srgbClr val="FFFFFF"/>
                </a:solidFill>
                <a:latin typeface="Poppins"/>
                <a:ea typeface="Poppins"/>
                <a:cs typeface="Poppins"/>
              </a:rPr>
              <a:t>Consecutive seizure-class rows are adjacent time points, hence near-duplicates.</a:t>
            </a:r>
          </a:p>
        </p:txBody>
      </p:sp>
      <p:sp>
        <p:nvSpPr>
          <p:cNvPr id="6" name="Text 4"/>
          <p:cNvSpPr/>
          <p:nvPr/>
        </p:nvSpPr>
        <p:spPr>
          <a:xfrm>
            <a:off x="620878" y="2606040"/>
            <a:ext cx="1280160" cy="36576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500" b="0" i="0" dirty="0">
                <a:solidFill>
                  <a:srgbClr val="F1D5EC"/>
                </a:solidFill>
                <a:latin typeface="Kanit"/>
                <a:ea typeface="Kanit"/>
                <a:cs typeface="Kanit"/>
              </a:rPr>
              <a:t>Random split</a:t>
            </a:r>
          </a:p>
        </p:txBody>
      </p:sp>
      <p:sp>
        <p:nvSpPr>
          <p:cNvPr id="7" name="Text 5"/>
          <p:cNvSpPr/>
          <p:nvPr/>
        </p:nvSpPr>
        <p:spPr>
          <a:xfrm>
            <a:off x="1965960" y="2606040"/>
            <a:ext cx="3017520" cy="73152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88–95% of seizure test rows have their neighbouring row in training.</a:t>
            </a:r>
          </a:p>
        </p:txBody>
      </p:sp>
      <p:sp>
        <p:nvSpPr>
          <p:cNvPr id="8" name="Text 6"/>
          <p:cNvSpPr/>
          <p:nvPr/>
        </p:nvSpPr>
        <p:spPr>
          <a:xfrm>
            <a:off x="620878" y="3474720"/>
            <a:ext cx="1280160" cy="36576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500" b="0" i="0" dirty="0">
                <a:solidFill>
                  <a:srgbClr val="F1D5EC"/>
                </a:solidFill>
                <a:latin typeface="Kanit"/>
                <a:ea typeface="Kanit"/>
                <a:cs typeface="Kanit"/>
              </a:rPr>
              <a:t>Implication</a:t>
            </a:r>
          </a:p>
        </p:txBody>
      </p:sp>
      <p:sp>
        <p:nvSpPr>
          <p:cNvPr id="9" name="Text 7"/>
          <p:cNvSpPr/>
          <p:nvPr/>
        </p:nvSpPr>
        <p:spPr>
          <a:xfrm>
            <a:off x="1965960" y="3474720"/>
            <a:ext cx="3017520" cy="73152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Random-split scores measure interpolation, not generalisation.</a:t>
            </a:r>
          </a:p>
        </p:txBody>
      </p:sp>
      <p:pic>
        <p:nvPicPr>
          <p:cNvPr id="1301" name="Figure 4" descr="Macro-F1 versus block size of folds">    </p:cNvPr>
          <p:cNvPicPr>
            <a:picLocks noChangeAspect="1"/>
          </p:cNvPicPr>
          <p:nvPr/>
        </p:nvPicPr>
        <p:blipFill>
          <a:blip r:embed="rIdFig4"/>
          <a:stretch>
            <a:fillRect/>
          </a:stretch>
        </p:blipFill>
        <p:spPr>
          <a:xfrm>
            <a:off x="5349240" y="731520"/>
            <a:ext cx="3611880" cy="2384987"/>
          </a:xfrm>
          <a:prstGeom prst="rect">
            <a:avLst/>
          </a:prstGeom>
        </p:spPr>
      </p:pic>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sp>
      <p:sp>
        <p:nvSpPr>
          <p:cNvPr id="12" name="Shape 9"/>
          <p:cNvSpPr/>
          <p:nvPr/>
        </p:nvSpPr>
        <p:spPr>
          <a:xfrm>
            <a:off x="0" y="4796028"/>
            <a:ext cx="109728" cy="347472"/>
          </a:xfrm>
          <a:prstGeom prst="rect">
            <a:avLst/>
          </a:prstGeom>
          <a:solidFill>
            <a:srgbClr val="5B2C91"/>
          </a:solidFill>
          <a:ln/>
        </p:spPr>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7 / 15</a:t>
            </a:r>
            <a:endParaRPr lang="en-US" sz="850" dirty="0"/>
          </a:p>
        </p:txBody>
      </p:sp>
      <p:sp>
        <p:nvSpPr>
          <p:cNvPr id="1302" name="Caption"/>
          <p:cNvSpPr txBox="1"/>
          <p:nvPr/>
        </p:nvSpPr>
        <p:spPr>
          <a:xfrm>
            <a:off x="5349240" y="3189659"/>
            <a:ext cx="3611880" cy="4572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D9D2F3"/>
                </a:solidFill>
                <a:latin typeface="Poppins"/>
                <a:ea typeface="Poppins"/>
                <a:cs typeface="Poppins"/>
              </a:rPr>
              <a:t>Fig. 4. Macro-F1 falls as folds use longer row blocks.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93115" y="384048"/>
            <a:ext cx="6217920" cy="566928"/>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3. Methodology</a:t>
            </a:r>
          </a:p>
        </p:txBody>
      </p:sp>
      <p:sp>
        <p:nvSpPr>
          <p:cNvPr id="3" name="Shape 1"/>
          <p:cNvSpPr/>
          <p:nvPr/>
        </p:nvSpPr>
        <p:spPr>
          <a:xfrm>
            <a:off x="0" y="1481328"/>
            <a:ext cx="7001561" cy="0"/>
          </a:xfrm>
          <a:prstGeom prst="line">
            <a:avLst/>
          </a:prstGeom>
          <a:noFill/>
          <a:ln w="19050">
            <a:solidFill>
              <a:srgbClr val="17173A"/>
            </a:solidFill>
            <a:prstDash val="solid"/>
          </a:ln>
        </p:spPr>
      </p:sp>
      <p:sp>
        <p:nvSpPr>
          <p:cNvPr id="4" name="Shape 2"/>
          <p:cNvSpPr/>
          <p:nvPr/>
        </p:nvSpPr>
        <p:spPr>
          <a:xfrm>
            <a:off x="0" y="3039466"/>
            <a:ext cx="7001561" cy="0"/>
          </a:xfrm>
          <a:prstGeom prst="line">
            <a:avLst/>
          </a:prstGeom>
          <a:noFill/>
          <a:ln w="19050">
            <a:solidFill>
              <a:srgbClr val="17173A"/>
            </a:solidFill>
            <a:prstDash val="solid"/>
          </a:ln>
        </p:spPr>
      </p:sp>
      <p:sp>
        <p:nvSpPr>
          <p:cNvPr id="5" name="Shape 3"/>
          <p:cNvSpPr/>
          <p:nvPr/>
        </p:nvSpPr>
        <p:spPr>
          <a:xfrm>
            <a:off x="7001561" y="0"/>
            <a:ext cx="0" cy="4596689"/>
          </a:xfrm>
          <a:prstGeom prst="line">
            <a:avLst/>
          </a:prstGeom>
          <a:noFill/>
          <a:ln w="19050">
            <a:solidFill>
              <a:srgbClr val="17173A"/>
            </a:solidFill>
            <a:prstDash val="solid"/>
          </a:ln>
        </p:spPr>
      </p:sp>
      <p:sp>
        <p:nvSpPr>
          <p:cNvPr id="6" name="Shape 4"/>
          <p:cNvSpPr/>
          <p:nvPr/>
        </p:nvSpPr>
        <p:spPr>
          <a:xfrm>
            <a:off x="3500323" y="1481328"/>
            <a:ext cx="0" cy="3115361"/>
          </a:xfrm>
          <a:prstGeom prst="line">
            <a:avLst/>
          </a:prstGeom>
          <a:noFill/>
          <a:ln w="19050">
            <a:solidFill>
              <a:srgbClr val="17173A"/>
            </a:solidFill>
            <a:prstDash val="solid"/>
          </a:ln>
        </p:spPr>
      </p:sp>
      <p:sp>
        <p:nvSpPr>
          <p:cNvPr id="9" name="Text 7"/>
          <p:cNvSpPr/>
          <p:nvPr/>
        </p:nvSpPr>
        <p:spPr>
          <a:xfrm>
            <a:off x="706831"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Splits</a:t>
            </a:r>
          </a:p>
        </p:txBody>
      </p:sp>
      <p:sp>
        <p:nvSpPr>
          <p:cNvPr id="10" name="Text 8"/>
          <p:cNvSpPr/>
          <p:nvPr/>
        </p:nvSpPr>
        <p:spPr>
          <a:xfrm>
            <a:off x="706831" y="2236622"/>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Random 80/20 vs blocked hold-out: 200-row blocks, 50-row purge; 5×2 CV.</a:t>
            </a:r>
          </a:p>
        </p:txBody>
      </p:sp>
      <p:sp>
        <p:nvSpPr>
          <p:cNvPr id="11" name="Text 9"/>
          <p:cNvSpPr/>
          <p:nvPr/>
        </p:nvSpPr>
        <p:spPr>
          <a:xfrm>
            <a:off x="4022446"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Models</a:t>
            </a:r>
          </a:p>
        </p:txBody>
      </p:sp>
      <p:sp>
        <p:nvSpPr>
          <p:cNvPr id="12" name="Text 10"/>
          <p:cNvSpPr/>
          <p:nvPr/>
        </p:nvSpPr>
        <p:spPr>
          <a:xfrm>
            <a:off x="4022446" y="2236622"/>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LR, kNN, SVM-RBF, RF, XGBoost, LightGBM; MLP, 1D-CNN, BiLSTM, Transformer.</a:t>
            </a:r>
          </a:p>
        </p:txBody>
      </p:sp>
      <p:sp>
        <p:nvSpPr>
          <p:cNvPr id="13" name="Text 11"/>
          <p:cNvSpPr/>
          <p:nvPr/>
        </p:nvSpPr>
        <p:spPr>
          <a:xfrm>
            <a:off x="706831"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Statistics</a:t>
            </a:r>
          </a:p>
        </p:txBody>
      </p:sp>
      <p:sp>
        <p:nvSpPr>
          <p:cNvPr id="14" name="Text 12"/>
          <p:cNvSpPr/>
          <p:nvPr/>
        </p:nvSpPr>
        <p:spPr>
          <a:xfrm>
            <a:off x="706831" y="3767328"/>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Cluster-bootstrap 95% CIs; corrected resampled t-test; Friedman + Nemenyi.</a:t>
            </a:r>
          </a:p>
        </p:txBody>
      </p:sp>
      <p:sp>
        <p:nvSpPr>
          <p:cNvPr id="15" name="Text 13"/>
          <p:cNvSpPr/>
          <p:nvPr/>
        </p:nvSpPr>
        <p:spPr>
          <a:xfrm>
            <a:off x="4022446"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Metrics</a:t>
            </a:r>
          </a:p>
        </p:txBody>
      </p:sp>
      <p:sp>
        <p:nvSpPr>
          <p:cNvPr id="16" name="Text 14"/>
          <p:cNvSpPr/>
          <p:nvPr/>
        </p:nvSpPr>
        <p:spPr>
          <a:xfrm>
            <a:off x="4022446" y="3767328"/>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Macro-F1 (primary), accuracy, Cohen’s kappa, AUC, calibration (ECE).</a:t>
            </a:r>
          </a:p>
        </p:txBody>
      </p:sp>
      <p:pic>
        <p:nvPicPr>
          <p:cNvPr id="1304" name="Figure 5" descr="Schematic of random versus blocked split">    </p:cNvPr>
          <p:cNvPicPr>
            <a:picLocks noChangeAspect="1"/>
          </p:cNvPicPr>
          <p:nvPr/>
        </p:nvPicPr>
        <p:blipFill>
          <a:blip r:embed="rIdFig5"/>
          <a:stretch>
            <a:fillRect/>
          </a:stretch>
        </p:blipFill>
        <p:spPr>
          <a:xfrm>
            <a:off x="7095744" y="658368"/>
            <a:ext cx="1965960" cy="2455900"/>
          </a:xfrm>
          <a:prstGeom prst="rect">
            <a:avLst/>
          </a:prstGeom>
        </p:spPr>
      </p:pic>
      <p:pic>
        <p:nvPicPr>
          <p:cNvPr id="17"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8" name="Shape 15"/>
          <p:cNvSpPr/>
          <p:nvPr/>
        </p:nvSpPr>
        <p:spPr>
          <a:xfrm>
            <a:off x="0" y="4796028"/>
            <a:ext cx="9144000" cy="347472"/>
          </a:xfrm>
          <a:prstGeom prst="rect">
            <a:avLst/>
          </a:prstGeom>
          <a:solidFill>
            <a:srgbClr val="EDE6F8"/>
          </a:solidFill>
          <a:ln/>
        </p:spPr>
      </p:sp>
      <p:sp>
        <p:nvSpPr>
          <p:cNvPr id="19" name="Shape 16"/>
          <p:cNvSpPr/>
          <p:nvPr/>
        </p:nvSpPr>
        <p:spPr>
          <a:xfrm>
            <a:off x="0" y="4796028"/>
            <a:ext cx="109728" cy="347472"/>
          </a:xfrm>
          <a:prstGeom prst="rect">
            <a:avLst/>
          </a:prstGeom>
          <a:solidFill>
            <a:srgbClr val="5B2C91"/>
          </a:solidFill>
          <a:ln/>
        </p:spPr>
      </p:sp>
      <p:pic>
        <p:nvPicPr>
          <p:cNvPr id="20"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1" name="Text 17"/>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2" name="Text 18"/>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8 / 15</a:t>
            </a:r>
            <a:endParaRPr lang="en-US" sz="850" dirty="0"/>
          </a:p>
        </p:txBody>
      </p:sp>
      <p:sp>
        <p:nvSpPr>
          <p:cNvPr id="1303" name="Facts"/>
          <p:cNvSpPr txBox="1"/>
          <p:nvPr/>
        </p:nvSpPr>
        <p:spPr>
          <a:xfrm>
            <a:off x="693115" y="969264"/>
            <a:ext cx="6217920" cy="384048"/>
          </a:xfrm>
          <a:prstGeom prst="rect">
            <a:avLst/>
          </a:prstGeom>
          <a:noFill/>
        </p:spPr>
        <p:txBody>
          <a:bodyPr wrap="square" lIns="45720" tIns="27432" rIns="45720" bIns="27432" anchor="t">
            <a:normAutofit/>
          </a:bodyPr>
          <a:lstStyle/>
          <a:p>
            <a:pPr algn="l">
              <a:spcBef>
                <a:spcPts val="0"/>
              </a:spcBef>
              <a:spcAft>
                <a:spcPts val="0"/>
              </a:spcAft>
              <a:buNone/>
            </a:pPr>
            <a:r>
              <a:rPr lang="en-US" sz="1200" b="0" i="0" dirty="0">
                <a:solidFill>
                  <a:srgbClr val="5B2C91"/>
                </a:solidFill>
                <a:latin typeface="Poppins"/>
                <a:ea typeface="Poppins"/>
                <a:cs typeface="Poppins"/>
              </a:rPr>
              <a:t>Nested tuning on macro-F1; each test set used once</a:t>
            </a:r>
          </a:p>
        </p:txBody>
      </p:sp>
      <p:sp>
        <p:nvSpPr>
          <p:cNvPr id="1305" name="Caption"/>
          <p:cNvSpPr txBox="1"/>
          <p:nvPr/>
        </p:nvSpPr>
        <p:spPr>
          <a:xfrm>
            <a:off x="7095744" y="3169132"/>
            <a:ext cx="1965960" cy="6858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5. Schematic: random versus blocked hold-out with a purge gap.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11480"/>
            <a:ext cx="713232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600" b="0" i="0" dirty="0">
                <a:solidFill>
                  <a:srgbClr val="17173A"/>
                </a:solidFill>
                <a:latin typeface="Kanit"/>
                <a:ea typeface="Kanit"/>
                <a:cs typeface="Kanit"/>
              </a:rPr>
              <a:t>4. Results: Random vs Leakage-Safe Split</a:t>
            </a:r>
          </a:p>
        </p:txBody>
      </p:sp>
      <p:sp>
        <p:nvSpPr>
          <p:cNvPr id="6" name="Shape 4"/>
          <p:cNvSpPr/>
          <p:nvPr/>
        </p:nvSpPr>
        <p:spPr>
          <a:xfrm>
            <a:off x="4297680" y="1234440"/>
            <a:ext cx="4434840" cy="3383280"/>
          </a:xfrm>
          <a:prstGeom prst="rect">
            <a:avLst/>
          </a:prstGeom>
          <a:solidFill>
            <a:srgbClr val="EEEAFB"/>
          </a:solidFill>
          <a:ln/>
        </p:spPr>
      </p:sp>
      <p:pic>
        <p:nvPicPr>
          <p:cNvPr id="1306" name="Figure 6" descr="Macro-F1 per model, random vs leakage-safe split">    </p:cNvPr>
          <p:cNvPicPr>
            <a:picLocks noChangeAspect="1"/>
          </p:cNvPicPr>
          <p:nvPr/>
        </p:nvPicPr>
        <p:blipFill>
          <a:blip r:embed="rIdFig6"/>
          <a:stretch>
            <a:fillRect/>
          </a:stretch>
        </p:blipFill>
        <p:spPr>
          <a:xfrm>
            <a:off x="4480560" y="1298448"/>
            <a:ext cx="3931920" cy="2731738"/>
          </a:xfrm>
          <a:prstGeom prst="rect">
            <a:avLst/>
          </a:prstGeom>
        </p:spPr>
      </p:pic>
      <p:graphicFrame>
        <p:nvGraphicFramePr>
          <p:cNvPr id="1390" name="Results table"/>
          <p:cNvGraphicFramePr>
            <a:graphicFrameLocks noGrp="1"/>
          </p:cNvGraphicFramePr>
          <p:nvPr/>
        </p:nvGraphicFramePr>
        <p:xfrm>
          <a:off x="411480" y="1325880"/>
          <a:ext cx="3749040" cy="2176272"/>
        </p:xfrm>
        <a:graphic>
          <a:graphicData uri="http://schemas.openxmlformats.org/drawingml/2006/table">
            <a:tbl>
              <a:tblPr firstRow="1"/>
              <a:tblGrid>
                <a:gridCol w="1463040"/>
                <a:gridCol w="1051560"/>
                <a:gridCol w="1234440"/>
              </a:tblGrid>
              <a:tr h="310896">
                <a:tc>
                  <a:txBody>
                    <a:bodyPr/>
                    <a:lstStyle/>
                    <a:p>
                      <a:pPr algn="l">
                        <a:spcBef>
                          <a:spcPts val="0"/>
                        </a:spcBef>
                        <a:spcAft>
                          <a:spcPts val="0"/>
                        </a:spcAft>
                        <a:buNone/>
                      </a:pPr>
                      <a:r>
                        <a:rPr lang="en-US" sz="1200" b="1" i="0" dirty="0">
                          <a:solidFill>
                            <a:srgbClr val="FFFFFF"/>
                          </a:solidFill>
                          <a:latin typeface="Poppins"/>
                          <a:ea typeface="Poppins"/>
                          <a:cs typeface="Poppins"/>
                        </a:rPr>
                        <a:t/>
                      </a:r>
                    </a:p>
                  </a:txBody>
                  <a:tcPr marL="45720" marR="45720" marT="27432" marB="27432" anchor="ctr">
                    <a:lnL w="0">
                      <a:noFill/>
                    </a:lnL>
                    <a:lnR w="0">
                      <a:noFill/>
                    </a:lnR>
                    <a:lnT w="0">
                      <a:noFill/>
                    </a:lnT>
                    <a:lnB w="6350">
                      <a:solidFill>
                        <a:srgbClr val="9A86E6"/>
                      </a:solidFill>
                    </a:lnB>
                    <a:solidFill>
                      <a:srgbClr val="2A2C86"/>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Random</a:t>
                      </a:r>
                    </a:p>
                  </a:txBody>
                  <a:tcPr marL="45720" marR="45720" marT="27432" marB="27432" anchor="ctr">
                    <a:lnL w="0">
                      <a:noFill/>
                    </a:lnL>
                    <a:lnR w="0">
                      <a:noFill/>
                    </a:lnR>
                    <a:lnT w="0">
                      <a:noFill/>
                    </a:lnT>
                    <a:lnB w="6350">
                      <a:solidFill>
                        <a:srgbClr val="9A86E6"/>
                      </a:solidFill>
                    </a:lnB>
                    <a:solidFill>
                      <a:srgbClr val="2A2C86"/>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Leakage-safe</a:t>
                      </a:r>
                    </a:p>
                  </a:txBody>
                  <a:tcPr marL="45720" marR="45720" marT="27432" marB="27432" anchor="ctr">
                    <a:lnL w="0">
                      <a:noFill/>
                    </a:lnL>
                    <a:lnR w="0">
                      <a:noFill/>
                    </a:lnR>
                    <a:lnT w="0">
                      <a:noFill/>
                    </a:lnT>
                    <a:lnB w="6350">
                      <a:solidFill>
                        <a:srgbClr val="9A86E6"/>
                      </a:solidFill>
                    </a:lnB>
                    <a:solidFill>
                      <a:srgbClr val="2A2C86"/>
                    </a:solidFill>
                  </a:tcPr>
                </a:tc>
              </a:tr>
              <a:tr h="310896">
                <a:tc>
                  <a:txBody>
                    <a:bodyPr/>
                    <a:lstStyle/>
                    <a:p>
                      <a:pPr algn="l">
                        <a:spcBef>
                          <a:spcPts val="0"/>
                        </a:spcBef>
                        <a:spcAft>
                          <a:spcPts val="0"/>
                        </a:spcAft>
                        <a:buNone/>
                      </a:pPr>
                      <a:r>
                        <a:rPr lang="en-US" sz="1200" b="0" i="0" dirty="0">
                          <a:solidFill>
                            <a:srgbClr val="17173A"/>
                          </a:solidFill>
                          <a:latin typeface="Poppins"/>
                          <a:ea typeface="Poppins"/>
                          <a:cs typeface="Poppins"/>
                        </a:rPr>
                        <a:t>4-class macro-F1</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0.986</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0.842</a:t>
                      </a:r>
                    </a:p>
                  </a:txBody>
                  <a:tcPr marL="45720" marR="45720" marT="27432" marB="27432" anchor="ctr">
                    <a:lnL w="0">
                      <a:noFill/>
                    </a:lnL>
                    <a:lnR w="0">
                      <a:noFill/>
                    </a:lnR>
                    <a:lnT w="0">
                      <a:noFill/>
                    </a:lnT>
                    <a:lnB w="6350">
                      <a:solidFill>
                        <a:srgbClr val="9A86E6"/>
                      </a:solidFill>
                    </a:lnB>
                    <a:noFill/>
                  </a:tcPr>
                </a:tc>
              </a:tr>
              <a:tr h="310896">
                <a:tc>
                  <a:txBody>
                    <a:bodyPr/>
                    <a:lstStyle/>
                    <a:p>
                      <a:pPr algn="l">
                        <a:spcBef>
                          <a:spcPts val="0"/>
                        </a:spcBef>
                        <a:spcAft>
                          <a:spcPts val="0"/>
                        </a:spcAft>
                        <a:buNone/>
                      </a:pPr>
                      <a:r>
                        <a:rPr lang="en-US" sz="1200" b="0" i="0" dirty="0">
                          <a:solidFill>
                            <a:srgbClr val="17173A"/>
                          </a:solidFill>
                          <a:latin typeface="Poppins"/>
                          <a:ea typeface="Poppins"/>
                          <a:cs typeface="Poppins"/>
                        </a:rPr>
                        <a:t>95% CI</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0.980–0.992</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0.800–0.880</a:t>
                      </a:r>
                    </a:p>
                  </a:txBody>
                  <a:tcPr marL="45720" marR="45720" marT="27432" marB="27432" anchor="ctr">
                    <a:lnL w="0">
                      <a:noFill/>
                    </a:lnL>
                    <a:lnR w="0">
                      <a:noFill/>
                    </a:lnR>
                    <a:lnT w="0">
                      <a:noFill/>
                    </a:lnT>
                    <a:lnB w="6350">
                      <a:solidFill>
                        <a:srgbClr val="9A86E6"/>
                      </a:solidFill>
                    </a:lnB>
                    <a:noFill/>
                  </a:tcPr>
                </a:tc>
              </a:tr>
              <a:tr h="310896">
                <a:tc>
                  <a:txBody>
                    <a:bodyPr/>
                    <a:lstStyle/>
                    <a:p>
                      <a:pPr algn="l">
                        <a:spcBef>
                          <a:spcPts val="0"/>
                        </a:spcBef>
                        <a:spcAft>
                          <a:spcPts val="0"/>
                        </a:spcAft>
                        <a:buNone/>
                      </a:pPr>
                      <a:r>
                        <a:rPr lang="en-US" sz="1200" b="0" i="0" dirty="0">
                          <a:solidFill>
                            <a:srgbClr val="17173A"/>
                          </a:solidFill>
                          <a:latin typeface="Poppins"/>
                          <a:ea typeface="Poppins"/>
                          <a:cs typeface="Poppins"/>
                        </a:rPr>
                        <a:t>Accuracy</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0.986</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0.844</a:t>
                      </a:r>
                    </a:p>
                  </a:txBody>
                  <a:tcPr marL="45720" marR="45720" marT="27432" marB="27432" anchor="ctr">
                    <a:lnL w="0">
                      <a:noFill/>
                    </a:lnL>
                    <a:lnR w="0">
                      <a:noFill/>
                    </a:lnR>
                    <a:lnT w="0">
                      <a:noFill/>
                    </a:lnT>
                    <a:lnB w="6350">
                      <a:solidFill>
                        <a:srgbClr val="9A86E6"/>
                      </a:solidFill>
                    </a:lnB>
                    <a:noFill/>
                  </a:tcPr>
                </a:tc>
              </a:tr>
              <a:tr h="310896">
                <a:tc>
                  <a:txBody>
                    <a:bodyPr/>
                    <a:lstStyle/>
                    <a:p>
                      <a:pPr algn="l">
                        <a:spcBef>
                          <a:spcPts val="0"/>
                        </a:spcBef>
                        <a:spcAft>
                          <a:spcPts val="0"/>
                        </a:spcAft>
                        <a:buNone/>
                      </a:pPr>
                      <a:r>
                        <a:rPr lang="en-US" sz="1200" b="0" i="0" dirty="0">
                          <a:solidFill>
                            <a:srgbClr val="17173A"/>
                          </a:solidFill>
                          <a:latin typeface="Poppins"/>
                          <a:ea typeface="Poppins"/>
                          <a:cs typeface="Poppins"/>
                        </a:rPr>
                        <a:t>Cohen’s kappa</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0.982</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0.792</a:t>
                      </a:r>
                    </a:p>
                  </a:txBody>
                  <a:tcPr marL="45720" marR="45720" marT="27432" marB="27432" anchor="ctr">
                    <a:lnL w="0">
                      <a:noFill/>
                    </a:lnL>
                    <a:lnR w="0">
                      <a:noFill/>
                    </a:lnR>
                    <a:lnT w="0">
                      <a:noFill/>
                    </a:lnT>
                    <a:lnB w="6350">
                      <a:solidFill>
                        <a:srgbClr val="9A86E6"/>
                      </a:solidFill>
                    </a:lnB>
                    <a:noFill/>
                  </a:tcPr>
                </a:tc>
              </a:tr>
              <a:tr h="310896">
                <a:tc>
                  <a:txBody>
                    <a:bodyPr/>
                    <a:lstStyle/>
                    <a:p>
                      <a:pPr algn="l">
                        <a:spcBef>
                          <a:spcPts val="0"/>
                        </a:spcBef>
                        <a:spcAft>
                          <a:spcPts val="0"/>
                        </a:spcAft>
                        <a:buNone/>
                      </a:pPr>
                      <a:r>
                        <a:rPr lang="en-US" sz="1200" b="0" i="0" dirty="0">
                          <a:solidFill>
                            <a:srgbClr val="17173A"/>
                          </a:solidFill>
                          <a:latin typeface="Poppins"/>
                          <a:ea typeface="Poppins"/>
                          <a:cs typeface="Poppins"/>
                        </a:rPr>
                        <a:t>3-class macro-F1</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0.990</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0.776</a:t>
                      </a:r>
                    </a:p>
                  </a:txBody>
                  <a:tcPr marL="45720" marR="45720" marT="27432" marB="27432" anchor="ctr">
                    <a:lnL w="0">
                      <a:noFill/>
                    </a:lnL>
                    <a:lnR w="0">
                      <a:noFill/>
                    </a:lnR>
                    <a:lnT w="0">
                      <a:noFill/>
                    </a:lnT>
                    <a:lnB w="6350">
                      <a:solidFill>
                        <a:srgbClr val="9A86E6"/>
                      </a:solidFill>
                    </a:lnB>
                    <a:noFill/>
                  </a:tcPr>
                </a:tc>
              </a:tr>
              <a:tr h="310896">
                <a:tc>
                  <a:txBody>
                    <a:bodyPr/>
                    <a:lstStyle/>
                    <a:p>
                      <a:pPr algn="l">
                        <a:spcBef>
                          <a:spcPts val="0"/>
                        </a:spcBef>
                        <a:spcAft>
                          <a:spcPts val="0"/>
                        </a:spcAft>
                        <a:buNone/>
                      </a:pPr>
                      <a:r>
                        <a:rPr lang="en-US" sz="1200" b="0" i="0" dirty="0">
                          <a:solidFill>
                            <a:srgbClr val="17173A"/>
                          </a:solidFill>
                          <a:latin typeface="Poppins"/>
                          <a:ea typeface="Poppins"/>
                          <a:cs typeface="Poppins"/>
                        </a:rPr>
                        <a:t>Median ECE</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0.029</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0.093</a:t>
                      </a:r>
                    </a:p>
                  </a:txBody>
                  <a:tcPr marL="45720" marR="45720" marT="27432" marB="27432" anchor="ctr">
                    <a:lnL w="0">
                      <a:noFill/>
                    </a:lnL>
                    <a:lnR w="0">
                      <a:noFill/>
                    </a:lnR>
                    <a:lnT w="0">
                      <a:noFill/>
                    </a:lnT>
                    <a:lnB w="6350">
                      <a:solidFill>
                        <a:srgbClr val="9A86E6"/>
                      </a:solidFill>
                    </a:lnB>
                    <a:noFill/>
                  </a:tcPr>
                </a:tc>
              </a:tr>
            </a:tbl>
          </a:graphicData>
        </a:graphic>
      </p:graphicFrame>
      <p:pic>
        <p:nvPicPr>
          <p:cNvPr id="6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61" name="Shape 58"/>
          <p:cNvSpPr/>
          <p:nvPr/>
        </p:nvSpPr>
        <p:spPr>
          <a:xfrm>
            <a:off x="0" y="4796028"/>
            <a:ext cx="9144000" cy="347472"/>
          </a:xfrm>
          <a:prstGeom prst="rect">
            <a:avLst/>
          </a:prstGeom>
          <a:solidFill>
            <a:srgbClr val="EDE6F8"/>
          </a:solidFill>
          <a:ln/>
        </p:spPr>
      </p:sp>
      <p:sp>
        <p:nvSpPr>
          <p:cNvPr id="62" name="Shape 59"/>
          <p:cNvSpPr/>
          <p:nvPr/>
        </p:nvSpPr>
        <p:spPr>
          <a:xfrm>
            <a:off x="0" y="4796028"/>
            <a:ext cx="109728" cy="347472"/>
          </a:xfrm>
          <a:prstGeom prst="rect">
            <a:avLst/>
          </a:prstGeom>
          <a:solidFill>
            <a:srgbClr val="5B2C91"/>
          </a:solidFill>
          <a:ln/>
        </p:spPr>
      </p:sp>
      <p:pic>
        <p:nvPicPr>
          <p:cNvPr id="6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64" name="Text 6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65" name="Text 6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9 / 15</a:t>
            </a:r>
            <a:endParaRPr lang="en-US" sz="850" dirty="0"/>
          </a:p>
        </p:txBody>
      </p:sp>
      <p:sp>
        <p:nvSpPr>
          <p:cNvPr id="1307" name="Caption"/>
          <p:cNvSpPr txBox="1"/>
          <p:nvPr/>
        </p:nvSpPr>
        <p:spPr>
          <a:xfrm>
            <a:off x="4480560" y="4066762"/>
            <a:ext cx="4114800" cy="41148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6. Four-class hold-out macro-F1 per model, raw features, by split.</a:t>
            </a:r>
          </a:p>
        </p:txBody>
      </p:sp>
      <p:sp>
        <p:nvSpPr>
          <p:cNvPr id="1308" name="Table note"/>
          <p:cNvSpPr txBox="1"/>
          <p:nvPr/>
        </p:nvSpPr>
        <p:spPr>
          <a:xfrm>
            <a:off x="411480" y="3593592"/>
            <a:ext cx="3749040" cy="54864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Best models: kNN (random), SVM-RBF (leakage-safe); raw features. 3-class: seizure types only.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470916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4. Results:</a:t>
            </a:r>
          </a:p>
          <a:p>
            <a:pPr algn="l">
              <a:spcBef>
                <a:spcPts val="0"/>
              </a:spcBef>
              <a:spcAft>
                <a:spcPts val="0"/>
              </a:spcAft>
              <a:buNone/>
            </a:pPr>
            <a:r>
              <a:rPr lang="en-US" sz="2800" b="0" i="0" dirty="0">
                <a:solidFill>
                  <a:srgbClr val="17173A"/>
                </a:solidFill>
                <a:latin typeface="Kanit"/>
                <a:ea typeface="Kanit"/>
                <a:cs typeface="Kanit"/>
              </a:rPr>
              <a:t>What the Models Look At</a:t>
            </a:r>
          </a:p>
        </p:txBody>
      </p:sp>
      <p:sp>
        <p:nvSpPr>
          <p:cNvPr id="3" name="Text 1"/>
          <p:cNvSpPr/>
          <p:nvPr/>
        </p:nvSpPr>
        <p:spPr>
          <a:xfrm>
            <a:off x="548640" y="2926080"/>
            <a:ext cx="4663440" cy="34747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700" b="0" i="0" dirty="0">
                <a:solidFill>
                  <a:srgbClr val="5B2C91"/>
                </a:solidFill>
                <a:latin typeface="Kanit"/>
                <a:ea typeface="Kanit"/>
                <a:cs typeface="Kanit"/>
              </a:rPr>
              <a:t>Healthy class: a recording-source shortcut</a:t>
            </a:r>
          </a:p>
        </p:txBody>
      </p:sp>
      <p:sp>
        <p:nvSpPr>
          <p:cNvPr id="4" name="Text 2"/>
          <p:cNvSpPr/>
          <p:nvPr/>
        </p:nvSpPr>
        <p:spPr>
          <a:xfrm>
            <a:off x="548640" y="3291840"/>
            <a:ext cx="4663440" cy="96012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800"/>
              </a:spcAft>
              <a:buClr>
                <a:srgbClr val="5B2C91"/>
              </a:buClr>
              <a:buSzPct val="150000"/>
              <a:buFont typeface="Kanit"/>
              <a:buChar char="›"/>
            </a:pPr>
            <a:r>
              <a:rPr lang="en-US" sz="1200" b="0" i="0" dirty="0">
                <a:solidFill>
                  <a:srgbClr val="17173A"/>
                </a:solidFill>
                <a:latin typeface="Poppins"/>
                <a:ea typeface="Poppins"/>
                <a:cs typeface="Poppins"/>
              </a:rPr>
              <a:t>Healthy vs seizure: macro-F1 ≥ 0.999 under both splits.</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One lag-1 autocorrelation threshold: accuracy 0.997.</a:t>
            </a:r>
          </a:p>
        </p:txBody>
      </p:sp>
      <p:sp>
        <p:nvSpPr>
          <p:cNvPr id="5" name="Shape 3"/>
          <p:cNvSpPr/>
          <p:nvPr/>
        </p:nvSpPr>
        <p:spPr>
          <a:xfrm>
            <a:off x="5390388" y="546811"/>
            <a:ext cx="3231490" cy="3608222"/>
          </a:xfrm>
          <a:prstGeom prst="rect">
            <a:avLst/>
          </a:prstGeom>
          <a:solidFill>
            <a:srgbClr val="EEEAFB"/>
          </a:solidFill>
          <a:ln/>
        </p:spPr>
      </p:sp>
      <p:pic>
        <p:nvPicPr>
          <p:cNvPr id="1503" name="Figure 7" descr="Top SHAP features of LightGBM, leakage-safe split">    </p:cNvPr>
          <p:cNvPicPr>
            <a:picLocks noChangeAspect="1"/>
          </p:cNvPicPr>
          <p:nvPr/>
        </p:nvPicPr>
        <p:blipFill>
          <a:blip r:embed="rIdFig7"/>
          <a:stretch>
            <a:fillRect/>
          </a:stretch>
        </p:blipFill>
        <p:spPr>
          <a:xfrm>
            <a:off x="5495544" y="658368"/>
            <a:ext cx="3017520" cy="2694592"/>
          </a:xfrm>
          <a:prstGeom prst="rect">
            <a:avLst/>
          </a:prstGeom>
        </p:spPr>
      </p:pic>
      <p:pic>
        <p:nvPicPr>
          <p:cNvPr id="3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31" name="Shape 28"/>
          <p:cNvSpPr/>
          <p:nvPr/>
        </p:nvSpPr>
        <p:spPr>
          <a:xfrm>
            <a:off x="0" y="4796028"/>
            <a:ext cx="9144000" cy="347472"/>
          </a:xfrm>
          <a:prstGeom prst="rect">
            <a:avLst/>
          </a:prstGeom>
          <a:solidFill>
            <a:srgbClr val="EDE6F8"/>
          </a:solidFill>
          <a:ln/>
        </p:spPr>
      </p:sp>
      <p:sp>
        <p:nvSpPr>
          <p:cNvPr id="32" name="Shape 29"/>
          <p:cNvSpPr/>
          <p:nvPr/>
        </p:nvSpPr>
        <p:spPr>
          <a:xfrm>
            <a:off x="0" y="4796028"/>
            <a:ext cx="109728" cy="347472"/>
          </a:xfrm>
          <a:prstGeom prst="rect">
            <a:avLst/>
          </a:prstGeom>
          <a:solidFill>
            <a:srgbClr val="5B2C91"/>
          </a:solidFill>
          <a:ln/>
        </p:spPr>
      </p:sp>
      <p:pic>
        <p:nvPicPr>
          <p:cNvPr id="3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34" name="Text 3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35" name="Text 3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10 / 15</a:t>
            </a:r>
            <a:endParaRPr lang="en-US" sz="850" dirty="0"/>
          </a:p>
        </p:txBody>
      </p:sp>
      <p:sp>
        <p:nvSpPr>
          <p:cNvPr id="1501" name="Sub 1"/>
          <p:cNvSpPr txBox="1"/>
          <p:nvPr/>
        </p:nvSpPr>
        <p:spPr>
          <a:xfrm>
            <a:off x="548640" y="1691640"/>
            <a:ext cx="4663440" cy="347472"/>
          </a:xfrm>
          <a:prstGeom prst="rect">
            <a:avLst/>
          </a:prstGeom>
          <a:noFill/>
        </p:spPr>
        <p:txBody>
          <a:bodyPr wrap="square" lIns="45720" tIns="27432" rIns="45720" bIns="27432" anchor="t">
            <a:normAutofit/>
          </a:bodyPr>
          <a:lstStyle/>
          <a:p>
            <a:pPr algn="l">
              <a:spcBef>
                <a:spcPts val="0"/>
              </a:spcBef>
              <a:spcAft>
                <a:spcPts val="0"/>
              </a:spcAft>
              <a:buNone/>
            </a:pPr>
            <a:r>
              <a:rPr lang="en-US" sz="1700" b="0" i="0" dirty="0">
                <a:solidFill>
                  <a:srgbClr val="5B2C91"/>
                </a:solidFill>
                <a:latin typeface="Kanit"/>
                <a:ea typeface="Kanit"/>
                <a:cs typeface="Kanit"/>
              </a:rPr>
              <a:t>Leakage-safe feature importance</a:t>
            </a:r>
          </a:p>
        </p:txBody>
      </p:sp>
      <p:sp>
        <p:nvSpPr>
          <p:cNvPr id="1502" name="Bullets 1"/>
          <p:cNvSpPr txBox="1"/>
          <p:nvPr/>
        </p:nvSpPr>
        <p:spPr>
          <a:xfrm>
            <a:off x="548640" y="2057400"/>
            <a:ext cx="4663440" cy="777240"/>
          </a:xfrm>
          <a:prstGeom prst="rect">
            <a:avLst/>
          </a:prstGeom>
          <a:noFill/>
        </p:spPr>
        <p:txBody>
          <a:bodyPr wrap="square" lIns="45720" tIns="27432" rIns="45720" bIns="27432" anchor="t">
            <a:normAutofit/>
          </a:bodyPr>
          <a:lstStyle/>
          <a:p>
            <a:pPr marL="228600" indent="-228600" algn="l">
              <a:lnSpc>
                <a:spcPct val="95000"/>
              </a:lnSpc>
              <a:spcBef>
                <a:spcPts val="0"/>
              </a:spcBef>
              <a:spcAft>
                <a:spcPts val="800"/>
              </a:spcAft>
              <a:buClr>
                <a:srgbClr val="5B2C91"/>
              </a:buClr>
              <a:buSzPct val="150000"/>
              <a:buFont typeface="Kanit"/>
              <a:buChar char="›"/>
            </a:pPr>
            <a:r>
              <a:rPr lang="en-US" sz="1200" b="0" i="0" dirty="0">
                <a:solidFill>
                  <a:srgbClr val="17173A"/>
                </a:solidFill>
                <a:latin typeface="Poppins"/>
                <a:ea typeface="Poppins"/>
                <a:cs typeface="Poppins"/>
              </a:rPr>
              <a:t>Seizure types: raw voltages of channels X11, X8 and X15.</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Healthy class: smoothness, e.g. Hjorth mobility.</a:t>
            </a:r>
          </a:p>
        </p:txBody>
      </p:sp>
      <p:sp>
        <p:nvSpPr>
          <p:cNvPr id="1504" name="Caption"/>
          <p:cNvSpPr txBox="1"/>
          <p:nvPr/>
        </p:nvSpPr>
        <p:spPr>
          <a:xfrm>
            <a:off x="5532120" y="3407824"/>
            <a:ext cx="3017520" cy="4572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7. Top SHAP features, LightGBM, four classes, leakage-safe split.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502920"/>
            <a:ext cx="694944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FFFFFF"/>
                </a:solidFill>
                <a:latin typeface="Kanit"/>
                <a:ea typeface="Kanit"/>
                <a:cs typeface="Kanit"/>
              </a:rPr>
              <a:t>4. Results: Lightweight Edge Model</a:t>
            </a:r>
          </a:p>
        </p:txBody>
      </p:sp>
      <p:sp>
        <p:nvSpPr>
          <p:cNvPr id="4" name="Shape 2"/>
          <p:cNvSpPr/>
          <p:nvPr/>
        </p:nvSpPr>
        <p:spPr>
          <a:xfrm>
            <a:off x="0" y="1353312"/>
            <a:ext cx="9144000" cy="0"/>
          </a:xfrm>
          <a:prstGeom prst="line">
            <a:avLst/>
          </a:prstGeom>
          <a:noFill/>
          <a:ln w="19050">
            <a:solidFill>
              <a:srgbClr val="FFFFFF"/>
            </a:solidFill>
            <a:prstDash val="solid"/>
          </a:ln>
        </p:spPr>
      </p:sp>
      <p:graphicFrame>
        <p:nvGraphicFramePr>
          <p:cNvPr id="1590" name="Edge table"/>
          <p:cNvGraphicFramePr>
            <a:graphicFrameLocks noGrp="1"/>
          </p:cNvGraphicFramePr>
          <p:nvPr/>
        </p:nvGraphicFramePr>
        <p:xfrm>
          <a:off x="731520" y="1536192"/>
          <a:ext cx="7680960" cy="1554480"/>
        </p:xfrm>
        <a:graphic>
          <a:graphicData uri="http://schemas.openxmlformats.org/drawingml/2006/table">
            <a:tbl>
              <a:tblPr firstRow="1"/>
              <a:tblGrid>
                <a:gridCol w="2286000"/>
                <a:gridCol w="1325880"/>
                <a:gridCol w="1188720"/>
                <a:gridCol w="1371600"/>
                <a:gridCol w="1508760"/>
              </a:tblGrid>
              <a:tr h="310896">
                <a:tc>
                  <a:txBody>
                    <a:bodyPr/>
                    <a:lstStyle/>
                    <a:p>
                      <a:pPr algn="l">
                        <a:spcBef>
                          <a:spcPts val="0"/>
                        </a:spcBef>
                        <a:spcAft>
                          <a:spcPts val="0"/>
                        </a:spcAft>
                        <a:buNone/>
                      </a:pPr>
                      <a:r>
                        <a:rPr lang="en-US" sz="1200" b="1" i="0" dirty="0">
                          <a:solidFill>
                            <a:srgbClr val="FFFFFF"/>
                          </a:solidFill>
                          <a:latin typeface="Poppins"/>
                          <a:ea typeface="Poppins"/>
                          <a:cs typeface="Poppins"/>
                        </a:rPr>
                        <a:t>Model (raw 16 values)</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Parameters</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Size (kB)</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Latency (ms)</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Macro-F1*</a:t>
                      </a:r>
                    </a:p>
                  </a:txBody>
                  <a:tcPr marL="54864" marR="54864" marT="27432" marB="27432" anchor="ctr">
                    <a:lnL w="0">
                      <a:noFill/>
                    </a:lnL>
                    <a:lnR w="0">
                      <a:noFill/>
                    </a:lnR>
                    <a:lnT w="0">
                      <a:noFill/>
                    </a:lnT>
                    <a:lnB w="6350">
                      <a:solidFill>
                        <a:srgbClr val="9A86E6"/>
                      </a:solidFill>
                    </a:lnB>
                    <a:solidFill>
                      <a:srgbClr val="5B2C91"/>
                    </a:solidFill>
                  </a:tcPr>
                </a:tc>
              </a:tr>
              <a:tr h="310896">
                <a:tc>
                  <a:txBody>
                    <a:bodyPr/>
                    <a:lstStyle/>
                    <a:p>
                      <a:pPr algn="l">
                        <a:spcBef>
                          <a:spcPts val="0"/>
                        </a:spcBef>
                        <a:spcAft>
                          <a:spcPts val="0"/>
                        </a:spcAft>
                        <a:buNone/>
                      </a:pPr>
                      <a:r>
                        <a:rPr lang="en-US" sz="1200" b="1" i="0" dirty="0">
                          <a:solidFill>
                            <a:srgbClr val="FFFFFF"/>
                          </a:solidFill>
                          <a:latin typeface="Poppins"/>
                          <a:ea typeface="Poppins"/>
                          <a:cs typeface="Poppins"/>
                        </a:rPr>
                        <a:t>MLP</a:t>
                      </a:r>
                    </a:p>
                  </a:txBody>
                  <a:tcPr marL="54864" marR="54864" marT="27432" marB="27432" anchor="ctr">
                    <a:lnL w="0">
                      <a:noFill/>
                    </a:lnL>
                    <a:lnR w="0">
                      <a:noFill/>
                    </a:lnR>
                    <a:lnT w="0">
                      <a:noFill/>
                    </a:lnT>
                    <a:lnB w="6350">
                      <a:solidFill>
                        <a:srgbClr val="9A86E6"/>
                      </a:solidFill>
                    </a:lnB>
                    <a:solidFill>
                      <a:srgbClr val="3B2F94"/>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11,076</a:t>
                      </a:r>
                    </a:p>
                  </a:txBody>
                  <a:tcPr marL="54864" marR="54864" marT="27432" marB="27432" anchor="ctr">
                    <a:lnL w="0">
                      <a:noFill/>
                    </a:lnL>
                    <a:lnR w="0">
                      <a:noFill/>
                    </a:lnR>
                    <a:lnT w="0">
                      <a:noFill/>
                    </a:lnT>
                    <a:lnB w="6350">
                      <a:solidFill>
                        <a:srgbClr val="9A86E6"/>
                      </a:solidFill>
                    </a:lnB>
                    <a:solidFill>
                      <a:srgbClr val="3B2F94"/>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43</a:t>
                      </a:r>
                    </a:p>
                  </a:txBody>
                  <a:tcPr marL="54864" marR="54864" marT="27432" marB="27432" anchor="ctr">
                    <a:lnL w="0">
                      <a:noFill/>
                    </a:lnL>
                    <a:lnR w="0">
                      <a:noFill/>
                    </a:lnR>
                    <a:lnT w="0">
                      <a:noFill/>
                    </a:lnT>
                    <a:lnB w="6350">
                      <a:solidFill>
                        <a:srgbClr val="9A86E6"/>
                      </a:solidFill>
                    </a:lnB>
                    <a:solidFill>
                      <a:srgbClr val="3B2F94"/>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0.077</a:t>
                      </a:r>
                    </a:p>
                  </a:txBody>
                  <a:tcPr marL="54864" marR="54864" marT="27432" marB="27432" anchor="ctr">
                    <a:lnL w="0">
                      <a:noFill/>
                    </a:lnL>
                    <a:lnR w="0">
                      <a:noFill/>
                    </a:lnR>
                    <a:lnT w="0">
                      <a:noFill/>
                    </a:lnT>
                    <a:lnB w="6350">
                      <a:solidFill>
                        <a:srgbClr val="9A86E6"/>
                      </a:solidFill>
                    </a:lnB>
                    <a:solidFill>
                      <a:srgbClr val="3B2F94"/>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0.770</a:t>
                      </a:r>
                    </a:p>
                  </a:txBody>
                  <a:tcPr marL="54864" marR="54864" marT="27432" marB="27432" anchor="ctr">
                    <a:lnL w="0">
                      <a:noFill/>
                    </a:lnL>
                    <a:lnR w="0">
                      <a:noFill/>
                    </a:lnR>
                    <a:lnT w="0">
                      <a:noFill/>
                    </a:lnT>
                    <a:lnB w="6350">
                      <a:solidFill>
                        <a:srgbClr val="9A86E6"/>
                      </a:solidFill>
                    </a:lnB>
                    <a:solidFill>
                      <a:srgbClr val="3B2F94"/>
                    </a:solidFill>
                  </a:tcPr>
                </a:tc>
              </a:tr>
              <a:tr h="310896">
                <a:tc>
                  <a:txBody>
                    <a:bodyPr/>
                    <a:lstStyle/>
                    <a:p>
                      <a:pPr algn="l">
                        <a:spcBef>
                          <a:spcPts val="0"/>
                        </a:spcBef>
                        <a:spcAft>
                          <a:spcPts val="0"/>
                        </a:spcAft>
                        <a:buNone/>
                      </a:pPr>
                      <a:r>
                        <a:rPr lang="en-US" sz="1200" b="0" i="0" dirty="0">
                          <a:solidFill>
                            <a:srgbClr val="FFFFFF"/>
                          </a:solidFill>
                          <a:latin typeface="Poppins"/>
                          <a:ea typeface="Poppins"/>
                          <a:cs typeface="Poppins"/>
                        </a:rPr>
                        <a:t>1D-CNN</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19,524</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76</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0.145</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0.714</a:t>
                      </a:r>
                    </a:p>
                  </a:txBody>
                  <a:tcPr marL="54864" marR="54864" marT="27432" marB="27432" anchor="ctr">
                    <a:lnL w="0">
                      <a:noFill/>
                    </a:lnL>
                    <a:lnR w="0">
                      <a:noFill/>
                    </a:lnR>
                    <a:lnT w="0">
                      <a:noFill/>
                    </a:lnT>
                    <a:lnB w="6350">
                      <a:solidFill>
                        <a:srgbClr val="9A86E6"/>
                      </a:solidFill>
                    </a:lnB>
                    <a:noFill/>
                  </a:tcPr>
                </a:tc>
              </a:tr>
              <a:tr h="310896">
                <a:tc>
                  <a:txBody>
                    <a:bodyPr/>
                    <a:lstStyle/>
                    <a:p>
                      <a:pPr algn="l">
                        <a:spcBef>
                          <a:spcPts val="0"/>
                        </a:spcBef>
                        <a:spcAft>
                          <a:spcPts val="0"/>
                        </a:spcAft>
                        <a:buNone/>
                      </a:pPr>
                      <a:r>
                        <a:rPr lang="en-US" sz="1200" b="0" i="0" dirty="0">
                          <a:solidFill>
                            <a:srgbClr val="FFFFFF"/>
                          </a:solidFill>
                          <a:latin typeface="Poppins"/>
                          <a:ea typeface="Poppins"/>
                          <a:cs typeface="Poppins"/>
                        </a:rPr>
                        <a:t>Transformer</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17,796</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70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0.249</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0.745</a:t>
                      </a:r>
                    </a:p>
                  </a:txBody>
                  <a:tcPr marL="54864" marR="54864" marT="27432" marB="27432" anchor="ctr">
                    <a:lnL w="0">
                      <a:noFill/>
                    </a:lnL>
                    <a:lnR w="0">
                      <a:noFill/>
                    </a:lnR>
                    <a:lnT w="0">
                      <a:noFill/>
                    </a:lnT>
                    <a:lnB w="6350">
                      <a:solidFill>
                        <a:srgbClr val="9A86E6"/>
                      </a:solidFill>
                    </a:lnB>
                    <a:noFill/>
                  </a:tcPr>
                </a:tc>
              </a:tr>
              <a:tr h="310896">
                <a:tc>
                  <a:txBody>
                    <a:bodyPr/>
                    <a:lstStyle/>
                    <a:p>
                      <a:pPr algn="l">
                        <a:spcBef>
                          <a:spcPts val="0"/>
                        </a:spcBef>
                        <a:spcAft>
                          <a:spcPts val="0"/>
                        </a:spcAft>
                        <a:buNone/>
                      </a:pPr>
                      <a:r>
                        <a:rPr lang="en-US" sz="1200" b="0" i="0" dirty="0">
                          <a:solidFill>
                            <a:srgbClr val="FFFFFF"/>
                          </a:solidFill>
                          <a:latin typeface="Poppins"/>
                          <a:ea typeface="Poppins"/>
                          <a:cs typeface="Poppins"/>
                        </a:rPr>
                        <a:t>LightGBM (raw+eng.)</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62,720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≈735</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4.350</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0.794</a:t>
                      </a:r>
                    </a:p>
                  </a:txBody>
                  <a:tcPr marL="54864" marR="54864" marT="27432" marB="27432" anchor="ctr">
                    <a:lnL w="0">
                      <a:noFill/>
                    </a:lnL>
                    <a:lnR w="0">
                      <a:noFill/>
                    </a:lnR>
                    <a:lnT w="0">
                      <a:noFill/>
                    </a:lnT>
                    <a:lnB w="6350">
                      <a:solidFill>
                        <a:srgbClr val="9A86E6"/>
                      </a:solidFill>
                    </a:lnB>
                    <a:noFill/>
                  </a:tcPr>
                </a:tc>
              </a:tr>
            </a:tbl>
          </a:graphicData>
        </a:graphic>
      </p:graphicFrame>
      <p:pic>
        <p:nvPicPr>
          <p:cNvPr id="13"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4" name="Shape 11"/>
          <p:cNvSpPr/>
          <p:nvPr/>
        </p:nvSpPr>
        <p:spPr>
          <a:xfrm>
            <a:off x="0" y="4796028"/>
            <a:ext cx="9144000" cy="347472"/>
          </a:xfrm>
          <a:prstGeom prst="rect">
            <a:avLst/>
          </a:prstGeom>
          <a:solidFill>
            <a:srgbClr val="EDE6F8"/>
          </a:solidFill>
          <a:ln/>
        </p:spPr>
      </p:sp>
      <p:sp>
        <p:nvSpPr>
          <p:cNvPr id="15" name="Shape 12"/>
          <p:cNvSpPr/>
          <p:nvPr/>
        </p:nvSpPr>
        <p:spPr>
          <a:xfrm>
            <a:off x="0" y="4796028"/>
            <a:ext cx="109728" cy="347472"/>
          </a:xfrm>
          <a:prstGeom prst="rect">
            <a:avLst/>
          </a:prstGeom>
          <a:solidFill>
            <a:srgbClr val="5B2C91"/>
          </a:solidFill>
          <a:ln/>
        </p:spPr>
      </p:sp>
      <p:pic>
        <p:nvPicPr>
          <p:cNvPr id="16"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7" name="Text 13"/>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8" name="Text 14"/>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11 / 15</a:t>
            </a:r>
            <a:endParaRPr lang="en-US" sz="850" dirty="0"/>
          </a:p>
        </p:txBody>
      </p:sp>
      <p:sp>
        <p:nvSpPr>
          <p:cNvPr id="1505" name="Table note"/>
          <p:cNvSpPr txBox="1"/>
          <p:nvPr/>
        </p:nvSpPr>
        <p:spPr>
          <a:xfrm>
            <a:off x="731520" y="3127248"/>
            <a:ext cx="7680960" cy="27432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D9D2F3"/>
                </a:solidFill>
                <a:latin typeface="Poppins"/>
                <a:ea typeface="Poppins"/>
                <a:cs typeface="Poppins"/>
              </a:rPr>
              <a:t>*Leakage-safe hold-out. Latency: median of 500 single-sample runs, one Xeon vCPU thread.</a:t>
            </a:r>
          </a:p>
        </p:txBody>
      </p:sp>
      <p:sp>
        <p:nvSpPr>
          <p:cNvPr id="1506" name="Points"/>
          <p:cNvSpPr txBox="1"/>
          <p:nvPr/>
        </p:nvSpPr>
        <p:spPr>
          <a:xfrm>
            <a:off x="731520" y="3520440"/>
            <a:ext cx="7680960" cy="1143000"/>
          </a:xfrm>
          <a:prstGeom prst="rect">
            <a:avLst/>
          </a:prstGeom>
          <a:noFill/>
        </p:spPr>
        <p:txBody>
          <a:bodyPr wrap="square" lIns="45720" tIns="27432" rIns="45720" bIns="27432" anchor="t">
            <a:normAutofit/>
          </a:bodyPr>
          <a:lstStyle/>
          <a:p>
            <a:pPr marL="228600" indent="-228600" algn="l">
              <a:lnSpc>
                <a:spcPct val="95000"/>
              </a:lnSpc>
              <a:spcBef>
                <a:spcPts val="0"/>
              </a:spcBef>
              <a:spcAft>
                <a:spcPts val="600"/>
              </a:spcAft>
              <a:buClr>
                <a:srgbClr val="F1D5EC"/>
              </a:buClr>
              <a:buSzPct val="150000"/>
              <a:buFont typeface="Kanit"/>
              <a:buChar char="›"/>
            </a:pPr>
            <a:r>
              <a:rPr lang="en-US" sz="1200" b="0" i="0" dirty="0">
                <a:solidFill>
                  <a:srgbClr val="FFFFFF"/>
                </a:solidFill>
                <a:latin typeface="Poppins"/>
                <a:ea typeface="Poppins"/>
                <a:cs typeface="Poppins"/>
              </a:rPr>
              <a:t>The MLP is far below the 3.9 ms sampling interval at 256 Hz: suited to edge devices.</a:t>
            </a:r>
          </a:p>
          <a:p>
            <a:pPr marL="228600" indent="-228600" algn="l">
              <a:lnSpc>
                <a:spcPct val="95000"/>
              </a:lnSpc>
              <a:spcBef>
                <a:spcPts val="0"/>
              </a:spcBef>
              <a:spcAft>
                <a:spcPts val="600"/>
              </a:spcAft>
              <a:buClr>
                <a:srgbClr val="F1D5EC"/>
              </a:buClr>
              <a:buSzPct val="150000"/>
              <a:buFont typeface="Kanit"/>
              <a:buChar char="›"/>
            </a:pPr>
            <a:r>
              <a:rPr lang="en-US" sz="1200" b="0" i="0" dirty="0">
                <a:solidFill>
                  <a:srgbClr val="FFFFFF"/>
                </a:solidFill>
                <a:latin typeface="Poppins"/>
                <a:ea typeface="Poppins"/>
                <a:cs typeface="Poppins"/>
              </a:rPr>
              <a:t>Best leakage-safe hold-out model, SVM-RBF (0.842), was not profiled.</a:t>
            </a:r>
          </a:p>
          <a:p>
            <a:pPr marL="228600" indent="-228600" algn="l">
              <a:lnSpc>
                <a:spcPct val="95000"/>
              </a:lnSpc>
              <a:spcBef>
                <a:spcPts val="0"/>
              </a:spcBef>
              <a:spcAft>
                <a:spcPts val="0"/>
              </a:spcAft>
              <a:buClr>
                <a:srgbClr val="F1D5EC"/>
              </a:buClr>
              <a:buSzPct val="150000"/>
              <a:buFont typeface="Kanit"/>
              <a:buChar char="›"/>
            </a:pPr>
            <a:r>
              <a:rPr lang="en-US" sz="1200" b="0" i="0" dirty="0">
                <a:solidFill>
                  <a:srgbClr val="FFFFFF"/>
                </a:solidFill>
                <a:latin typeface="Poppins"/>
                <a:ea typeface="Poppins"/>
                <a:cs typeface="Poppins"/>
              </a:rPr>
              <a:t>5×2 blocked CV: best LightGBM 0.767 ± 0.057; Friedman test p &lt; 0.001.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0664" y="640080"/>
            <a:ext cx="4114800" cy="11430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17173A"/>
                </a:solidFill>
                <a:latin typeface="Kanit"/>
                <a:ea typeface="Kanit"/>
                <a:cs typeface="Kanit"/>
              </a:rPr>
              <a:t>5. Discussion:</a:t>
            </a:r>
          </a:p>
          <a:p>
            <a:pPr algn="l">
              <a:spcBef>
                <a:spcPts val="0"/>
              </a:spcBef>
              <a:spcAft>
                <a:spcPts val="0"/>
              </a:spcAft>
              <a:buNone/>
            </a:pPr>
            <a:r>
              <a:rPr lang="en-US" sz="3000" b="0" i="0" dirty="0">
                <a:solidFill>
                  <a:srgbClr val="17173A"/>
                </a:solidFill>
                <a:latin typeface="Kanit"/>
                <a:ea typeface="Kanit"/>
                <a:cs typeface="Kanit"/>
              </a:rPr>
              <a:t>Limitations</a:t>
            </a:r>
          </a:p>
        </p:txBody>
      </p:sp>
      <p:sp>
        <p:nvSpPr>
          <p:cNvPr id="3" name="Text 1"/>
          <p:cNvSpPr/>
          <p:nvPr/>
        </p:nvSpPr>
        <p:spPr>
          <a:xfrm>
            <a:off x="740664" y="2148840"/>
            <a:ext cx="4023360" cy="2103120"/>
          </a:xfrm>
          <a:prstGeom prst="rect">
            <a:avLst/>
          </a:prstGeom>
          <a:noFill/>
          <a:ln/>
        </p:spPr>
        <p:txBody>
          <a:bodyPr wrap="square" lIns="68580" tIns="34290" rIns="68580" bIns="34290" rtlCol="0" anchor="t">
            <a:normAutofit/>
          </a:bodyPr>
          <a:lstStyle/>
          <a:p>
            <a:pPr algn="l">
              <a:spcBef>
                <a:spcPts val="0"/>
              </a:spcBef>
              <a:spcAft>
                <a:spcPts val="400"/>
              </a:spcAft>
              <a:buNone/>
            </a:pPr>
            <a:r>
              <a:rPr lang="en-US" sz="1700" b="0" i="0" dirty="0">
                <a:solidFill>
                  <a:srgbClr val="5B2C91"/>
                </a:solidFill>
                <a:latin typeface="Kanit"/>
                <a:ea typeface="Kanit"/>
                <a:cs typeface="Kanit"/>
              </a:rPr>
              <a:t>What remains valid</a:t>
            </a:r>
          </a:p>
          <a:p>
            <a:pPr algn="l">
              <a:lnSpc>
                <a:spcPct val="95000"/>
              </a:lnSpc>
              <a:spcBef>
                <a:spcPts val="0"/>
              </a:spcBef>
              <a:spcAft>
                <a:spcPts val="0"/>
              </a:spcAft>
              <a:buNone/>
            </a:pPr>
            <a:r>
              <a:rPr lang="en-US" sz="1400" b="0" i="1" dirty="0">
                <a:solidFill>
                  <a:srgbClr val="5B2C91"/>
                </a:solidFill>
                <a:latin typeface="Poppins"/>
                <a:ea typeface="Poppins"/>
                <a:cs typeface="Poppins"/>
              </a:rPr>
              <a:t>The blocked benchmark is a lower-leakage estimate of generalisation to unseen time within the same recordings.</a:t>
            </a:r>
          </a:p>
        </p:txBody>
      </p:sp>
      <p:sp>
        <p:nvSpPr>
          <p:cNvPr id="4" name="Shape 2"/>
          <p:cNvSpPr/>
          <p:nvPr/>
        </p:nvSpPr>
        <p:spPr>
          <a:xfrm>
            <a:off x="5010912" y="0"/>
            <a:ext cx="0" cy="4596689"/>
          </a:xfrm>
          <a:prstGeom prst="line">
            <a:avLst/>
          </a:prstGeom>
          <a:noFill/>
          <a:ln w="19050">
            <a:solidFill>
              <a:srgbClr val="17173A"/>
            </a:solidFill>
            <a:prstDash val="solid"/>
          </a:ln>
        </p:spPr>
      </p:sp>
      <p:sp>
        <p:nvSpPr>
          <p:cNvPr id="5" name="Shape 3"/>
          <p:cNvSpPr/>
          <p:nvPr/>
        </p:nvSpPr>
        <p:spPr>
          <a:xfrm>
            <a:off x="5010912" y="2298802"/>
            <a:ext cx="4133088" cy="0"/>
          </a:xfrm>
          <a:prstGeom prst="line">
            <a:avLst/>
          </a:prstGeom>
          <a:noFill/>
          <a:ln w="19050">
            <a:solidFill>
              <a:srgbClr val="17173A"/>
            </a:solidFill>
            <a:prstDash val="solid"/>
          </a:ln>
        </p:spPr>
      </p:sp>
      <p:sp>
        <p:nvSpPr>
          <p:cNvPr id="6" name="Text 4"/>
          <p:cNvSpPr/>
          <p:nvPr/>
        </p:nvSpPr>
        <p:spPr>
          <a:xfrm>
            <a:off x="5486400" y="502920"/>
            <a:ext cx="329184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Data</a:t>
            </a:r>
          </a:p>
        </p:txBody>
      </p:sp>
      <p:sp>
        <p:nvSpPr>
          <p:cNvPr id="7" name="Text 5"/>
          <p:cNvSpPr/>
          <p:nvPr/>
        </p:nvSpPr>
        <p:spPr>
          <a:xfrm>
            <a:off x="5486400" y="960120"/>
            <a:ext cx="3429000" cy="128016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No subject IDs: patient-independent testing is impossible.</a:t>
            </a:r>
          </a:p>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Recording and class are confounded.</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Healthy class from another source, sampled at 173.61 Hz.</a:t>
            </a:r>
          </a:p>
        </p:txBody>
      </p:sp>
      <p:sp>
        <p:nvSpPr>
          <p:cNvPr id="8" name="Text 6"/>
          <p:cNvSpPr/>
          <p:nvPr/>
        </p:nvSpPr>
        <p:spPr>
          <a:xfrm>
            <a:off x="5486400" y="2514600"/>
            <a:ext cx="329184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Scope</a:t>
            </a:r>
          </a:p>
        </p:txBody>
      </p:sp>
      <p:sp>
        <p:nvSpPr>
          <p:cNvPr id="9" name="Text 7"/>
          <p:cNvSpPr/>
          <p:nvPr/>
        </p:nvSpPr>
        <p:spPr>
          <a:xfrm>
            <a:off x="5486400" y="2971800"/>
            <a:ext cx="3429000" cy="128016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Classes 1–3 not checked against other public databases.</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Single dataset; no external test.</a:t>
            </a:r>
          </a:p>
        </p:txBody>
      </p:sp>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sp>
      <p:sp>
        <p:nvSpPr>
          <p:cNvPr id="12" name="Shape 9"/>
          <p:cNvSpPr/>
          <p:nvPr/>
        </p:nvSpPr>
        <p:spPr>
          <a:xfrm>
            <a:off x="0" y="4796028"/>
            <a:ext cx="109728" cy="347472"/>
          </a:xfrm>
          <a:prstGeom prst="rect">
            <a:avLst/>
          </a:prstGeom>
          <a:solidFill>
            <a:srgbClr val="5B2C91"/>
          </a:solidFill>
          <a:ln/>
        </p:spPr>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12 / 15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31266" y="566928"/>
            <a:ext cx="7223760" cy="77724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FFFFFF"/>
                </a:solidFill>
                <a:latin typeface="Kanit"/>
                <a:ea typeface="Kanit"/>
                <a:cs typeface="Kanit"/>
              </a:rPr>
              <a:t>6. Conclusion: Takeaways and Future Work</a:t>
            </a:r>
          </a:p>
        </p:txBody>
      </p:sp>
      <p:sp>
        <p:nvSpPr>
          <p:cNvPr id="3" name="Shape 1"/>
          <p:cNvSpPr/>
          <p:nvPr/>
        </p:nvSpPr>
        <p:spPr>
          <a:xfrm>
            <a:off x="0" y="1417320"/>
            <a:ext cx="9144000" cy="0"/>
          </a:xfrm>
          <a:prstGeom prst="line">
            <a:avLst/>
          </a:prstGeom>
          <a:noFill/>
          <a:ln w="19050">
            <a:solidFill>
              <a:srgbClr val="FFFFFF"/>
            </a:solidFill>
            <a:prstDash val="solid"/>
          </a:ln>
        </p:spPr>
      </p:sp>
      <p:sp>
        <p:nvSpPr>
          <p:cNvPr id="4" name="Shape 2"/>
          <p:cNvSpPr/>
          <p:nvPr/>
        </p:nvSpPr>
        <p:spPr>
          <a:xfrm>
            <a:off x="4572000" y="1417320"/>
            <a:ext cx="0" cy="3172968"/>
          </a:xfrm>
          <a:prstGeom prst="line">
            <a:avLst/>
          </a:prstGeom>
          <a:noFill/>
          <a:ln w="19050">
            <a:solidFill>
              <a:srgbClr val="FFFFFF"/>
            </a:solidFill>
            <a:prstDash val="solid"/>
          </a:ln>
        </p:spPr>
      </p:sp>
      <p:sp>
        <p:nvSpPr>
          <p:cNvPr id="5" name="Text 3"/>
          <p:cNvSpPr/>
          <p:nvPr/>
        </p:nvSpPr>
        <p:spPr>
          <a:xfrm>
            <a:off x="521208" y="1572768"/>
            <a:ext cx="3840480" cy="41148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100" b="0" i="0" dirty="0">
                <a:solidFill>
                  <a:srgbClr val="F1D5EC"/>
                </a:solidFill>
                <a:latin typeface="Kanit"/>
                <a:ea typeface="Kanit"/>
                <a:cs typeface="Kanit"/>
              </a:rPr>
              <a:t>Takeaways</a:t>
            </a:r>
          </a:p>
        </p:txBody>
      </p:sp>
      <p:sp>
        <p:nvSpPr>
          <p:cNvPr id="6" name="Shape 4"/>
          <p:cNvSpPr/>
          <p:nvPr/>
        </p:nvSpPr>
        <p:spPr>
          <a:xfrm>
            <a:off x="576072" y="2212848"/>
            <a:ext cx="166421" cy="166421"/>
          </a:xfrm>
          <a:prstGeom prst="ellipse">
            <a:avLst/>
          </a:prstGeom>
          <a:ln w="18471">
            <a:solidFill>
              <a:srgbClr val="FFFFFF"/>
            </a:solidFill>
            <a:prstDash val="solid"/>
          </a:ln>
        </p:spPr>
      </p:sp>
      <p:sp>
        <p:nvSpPr>
          <p:cNvPr id="7" name="Shape 5"/>
          <p:cNvSpPr/>
          <p:nvPr/>
        </p:nvSpPr>
        <p:spPr>
          <a:xfrm>
            <a:off x="566928" y="2203704"/>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8" name="Text 6"/>
          <p:cNvSpPr/>
          <p:nvPr/>
        </p:nvSpPr>
        <p:spPr>
          <a:xfrm>
            <a:off x="822960" y="2121408"/>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Healthy rows identical to Bonn set B windows [2], [3]: a source shortcut.</a:t>
            </a:r>
          </a:p>
        </p:txBody>
      </p:sp>
      <p:sp>
        <p:nvSpPr>
          <p:cNvPr id="9" name="Shape 7"/>
          <p:cNvSpPr/>
          <p:nvPr/>
        </p:nvSpPr>
        <p:spPr>
          <a:xfrm>
            <a:off x="576072" y="2825496"/>
            <a:ext cx="166421" cy="166421"/>
          </a:xfrm>
          <a:prstGeom prst="ellipse">
            <a:avLst/>
          </a:prstGeom>
          <a:ln w="18471">
            <a:solidFill>
              <a:srgbClr val="FFFFFF"/>
            </a:solidFill>
            <a:prstDash val="solid"/>
          </a:ln>
        </p:spPr>
      </p:sp>
      <p:sp>
        <p:nvSpPr>
          <p:cNvPr id="10" name="Shape 8"/>
          <p:cNvSpPr/>
          <p:nvPr/>
        </p:nvSpPr>
        <p:spPr>
          <a:xfrm>
            <a:off x="566928" y="2816352"/>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1" name="Text 9"/>
          <p:cNvSpPr/>
          <p:nvPr/>
        </p:nvSpPr>
        <p:spPr>
          <a:xfrm>
            <a:off x="822960" y="2734056"/>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Random splits leak: macro-F1 0.986 vs 0.842 (3-class 0.990 vs 0.776).</a:t>
            </a:r>
          </a:p>
        </p:txBody>
      </p:sp>
      <p:sp>
        <p:nvSpPr>
          <p:cNvPr id="12" name="Shape 10"/>
          <p:cNvSpPr/>
          <p:nvPr/>
        </p:nvSpPr>
        <p:spPr>
          <a:xfrm>
            <a:off x="576072" y="3438144"/>
            <a:ext cx="166421" cy="166421"/>
          </a:xfrm>
          <a:prstGeom prst="ellipse">
            <a:avLst/>
          </a:prstGeom>
          <a:ln w="18471">
            <a:solidFill>
              <a:srgbClr val="FFFFFF"/>
            </a:solidFill>
            <a:prstDash val="solid"/>
          </a:ln>
        </p:spPr>
      </p:sp>
      <p:sp>
        <p:nvSpPr>
          <p:cNvPr id="1701" name="Shape 10 copy"/>
          <p:cNvSpPr/>
          <p:nvPr/>
        </p:nvSpPr>
        <p:spPr>
          <a:xfrm>
            <a:off x="576072" y="4050792"/>
            <a:ext cx="166421" cy="166421"/>
          </a:xfrm>
          <a:prstGeom prst="ellipse">
            <a:avLst/>
          </a:prstGeom>
          <a:ln w="18471">
            <a:solidFill>
              <a:srgbClr val="FFFFFF"/>
            </a:solidFill>
            <a:prstDash val="solid"/>
          </a:ln>
        </p:spPr>
      </p:sp>
      <p:sp>
        <p:nvSpPr>
          <p:cNvPr id="13" name="Shape 11"/>
          <p:cNvSpPr/>
          <p:nvPr/>
        </p:nvSpPr>
        <p:spPr>
          <a:xfrm>
            <a:off x="566928" y="3429000"/>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702" name="Shape 11 copy"/>
          <p:cNvSpPr/>
          <p:nvPr/>
        </p:nvSpPr>
        <p:spPr>
          <a:xfrm>
            <a:off x="566928" y="4041648"/>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4" name="Text 12"/>
          <p:cNvSpPr/>
          <p:nvPr/>
        </p:nvSpPr>
        <p:spPr>
          <a:xfrm>
            <a:off x="822960" y="3346704"/>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Report blocked splits as the BEED benchmark.</a:t>
            </a:r>
          </a:p>
        </p:txBody>
      </p:sp>
      <p:sp>
        <p:nvSpPr>
          <p:cNvPr id="1703" name="Text 12 copy"/>
          <p:cNvSpPr/>
          <p:nvPr/>
        </p:nvSpPr>
        <p:spPr>
          <a:xfrm>
            <a:off x="822960" y="3959352"/>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An 11k-parameter MLP (0.077 ms per sample) is edge-ready.</a:t>
            </a:r>
          </a:p>
        </p:txBody>
      </p:sp>
      <p:sp>
        <p:nvSpPr>
          <p:cNvPr id="15" name="Text 13"/>
          <p:cNvSpPr/>
          <p:nvPr/>
        </p:nvSpPr>
        <p:spPr>
          <a:xfrm>
            <a:off x="4937760" y="1572768"/>
            <a:ext cx="3840480" cy="41148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100" b="0" i="0" dirty="0">
                <a:solidFill>
                  <a:srgbClr val="F1D5EC"/>
                </a:solidFill>
                <a:latin typeface="Kanit"/>
                <a:ea typeface="Kanit"/>
                <a:cs typeface="Kanit"/>
              </a:rPr>
              <a:t>Future work</a:t>
            </a:r>
          </a:p>
        </p:txBody>
      </p:sp>
      <p:sp>
        <p:nvSpPr>
          <p:cNvPr id="16" name="Shape 14"/>
          <p:cNvSpPr/>
          <p:nvPr/>
        </p:nvSpPr>
        <p:spPr>
          <a:xfrm>
            <a:off x="4992624" y="2212848"/>
            <a:ext cx="166421" cy="166421"/>
          </a:xfrm>
          <a:prstGeom prst="ellipse">
            <a:avLst/>
          </a:prstGeom>
          <a:ln w="18471">
            <a:solidFill>
              <a:srgbClr val="FFFFFF"/>
            </a:solidFill>
            <a:prstDash val="solid"/>
          </a:ln>
        </p:spPr>
      </p:sp>
      <p:sp>
        <p:nvSpPr>
          <p:cNvPr id="17" name="Shape 15"/>
          <p:cNvSpPr/>
          <p:nvPr/>
        </p:nvSpPr>
        <p:spPr>
          <a:xfrm>
            <a:off x="4983480" y="2203704"/>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8" name="Text 16"/>
          <p:cNvSpPr/>
          <p:nvPr/>
        </p:nvSpPr>
        <p:spPr>
          <a:xfrm>
            <a:off x="5239512" y="2121408"/>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Subject IDs for patient-independent tests.</a:t>
            </a:r>
          </a:p>
        </p:txBody>
      </p:sp>
      <p:sp>
        <p:nvSpPr>
          <p:cNvPr id="19" name="Shape 17"/>
          <p:cNvSpPr/>
          <p:nvPr/>
        </p:nvSpPr>
        <p:spPr>
          <a:xfrm>
            <a:off x="4992624" y="2825496"/>
            <a:ext cx="166421" cy="166421"/>
          </a:xfrm>
          <a:prstGeom prst="ellipse">
            <a:avLst/>
          </a:prstGeom>
          <a:ln w="18471">
            <a:solidFill>
              <a:srgbClr val="FFFFFF"/>
            </a:solidFill>
            <a:prstDash val="solid"/>
          </a:ln>
        </p:spPr>
      </p:sp>
      <p:sp>
        <p:nvSpPr>
          <p:cNvPr id="20" name="Shape 18"/>
          <p:cNvSpPr/>
          <p:nvPr/>
        </p:nvSpPr>
        <p:spPr>
          <a:xfrm>
            <a:off x="4983480" y="2816352"/>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21" name="Text 19"/>
          <p:cNvSpPr/>
          <p:nvPr/>
        </p:nvSpPr>
        <p:spPr>
          <a:xfrm>
            <a:off x="5239512" y="2734056"/>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Same-source healthy recordings.</a:t>
            </a:r>
          </a:p>
        </p:txBody>
      </p:sp>
      <p:sp>
        <p:nvSpPr>
          <p:cNvPr id="22" name="Shape 20"/>
          <p:cNvSpPr/>
          <p:nvPr/>
        </p:nvSpPr>
        <p:spPr>
          <a:xfrm>
            <a:off x="4992624" y="3438144"/>
            <a:ext cx="166421" cy="166421"/>
          </a:xfrm>
          <a:prstGeom prst="ellipse">
            <a:avLst/>
          </a:prstGeom>
          <a:ln w="18471">
            <a:solidFill>
              <a:srgbClr val="FFFFFF"/>
            </a:solidFill>
            <a:prstDash val="solid"/>
          </a:ln>
        </p:spPr>
      </p:sp>
      <p:sp>
        <p:nvSpPr>
          <p:cNvPr id="1704" name="Shape 20 copy"/>
          <p:cNvSpPr/>
          <p:nvPr/>
        </p:nvSpPr>
        <p:spPr>
          <a:xfrm>
            <a:off x="4992624" y="4050792"/>
            <a:ext cx="166421" cy="166421"/>
          </a:xfrm>
          <a:prstGeom prst="ellipse">
            <a:avLst/>
          </a:prstGeom>
          <a:ln w="18471">
            <a:solidFill>
              <a:srgbClr val="FFFFFF"/>
            </a:solidFill>
            <a:prstDash val="solid"/>
          </a:ln>
        </p:spPr>
      </p:sp>
      <p:sp>
        <p:nvSpPr>
          <p:cNvPr id="23" name="Shape 21"/>
          <p:cNvSpPr/>
          <p:nvPr/>
        </p:nvSpPr>
        <p:spPr>
          <a:xfrm>
            <a:off x="4983480" y="3429000"/>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705" name="Shape 21 copy"/>
          <p:cNvSpPr/>
          <p:nvPr/>
        </p:nvSpPr>
        <p:spPr>
          <a:xfrm>
            <a:off x="4983480" y="4041648"/>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24" name="Text 22"/>
          <p:cNvSpPr/>
          <p:nvPr/>
        </p:nvSpPr>
        <p:spPr>
          <a:xfrm>
            <a:off x="5239512" y="3346704"/>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Cross-dataset validation on public EEG sets.</a:t>
            </a:r>
          </a:p>
        </p:txBody>
      </p:sp>
      <p:sp>
        <p:nvSpPr>
          <p:cNvPr id="1706" name="Text 22 copy"/>
          <p:cNvSpPr/>
          <p:nvPr/>
        </p:nvSpPr>
        <p:spPr>
          <a:xfrm>
            <a:off x="5239512" y="3959352"/>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Clinical and wearable deployment studies.</a:t>
            </a:r>
          </a:p>
        </p:txBody>
      </p:sp>
      <p:pic>
        <p:nvPicPr>
          <p:cNvPr id="25"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26" name="Shape 23"/>
          <p:cNvSpPr/>
          <p:nvPr/>
        </p:nvSpPr>
        <p:spPr>
          <a:xfrm>
            <a:off x="0" y="4796028"/>
            <a:ext cx="9144000" cy="347472"/>
          </a:xfrm>
          <a:prstGeom prst="rect">
            <a:avLst/>
          </a:prstGeom>
          <a:solidFill>
            <a:srgbClr val="EDE6F8"/>
          </a:solidFill>
          <a:ln/>
        </p:spPr>
      </p:sp>
      <p:sp>
        <p:nvSpPr>
          <p:cNvPr id="27" name="Shape 24"/>
          <p:cNvSpPr/>
          <p:nvPr/>
        </p:nvSpPr>
        <p:spPr>
          <a:xfrm>
            <a:off x="0" y="4796028"/>
            <a:ext cx="109728" cy="347472"/>
          </a:xfrm>
          <a:prstGeom prst="rect">
            <a:avLst/>
          </a:prstGeom>
          <a:solidFill>
            <a:srgbClr val="5B2C91"/>
          </a:solidFill>
          <a:ln/>
        </p:spPr>
      </p:sp>
      <p:pic>
        <p:nvPicPr>
          <p:cNvPr id="28"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9" name="Text 25"/>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30" name="Text 26"/>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13 / 15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602590"/>
            <a:ext cx="8100670" cy="83119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4400" b="0" i="0" dirty="0">
                <a:solidFill>
                  <a:srgbClr val="17173A"/>
                </a:solidFill>
                <a:latin typeface="Kanit"/>
                <a:ea typeface="Kanit"/>
                <a:cs typeface="Kanit"/>
              </a:rPr>
              <a:t>References</a:t>
            </a:r>
          </a:p>
        </p:txBody>
      </p:sp>
      <p:sp>
        <p:nvSpPr>
          <p:cNvPr id="3" name="Shape 1"/>
          <p:cNvSpPr/>
          <p:nvPr/>
        </p:nvSpPr>
        <p:spPr>
          <a:xfrm>
            <a:off x="0" y="1481328"/>
            <a:ext cx="9144000" cy="0"/>
          </a:xfrm>
          <a:prstGeom prst="line">
            <a:avLst/>
          </a:prstGeom>
          <a:noFill/>
          <a:ln w="19050">
            <a:solidFill>
              <a:srgbClr val="17173A"/>
            </a:solidFill>
            <a:prstDash val="solid"/>
          </a:ln>
        </p:spPr>
      </p:sp>
      <p:sp>
        <p:nvSpPr>
          <p:cNvPr id="5" name="Text 3"/>
          <p:cNvSpPr/>
          <p:nvPr/>
        </p:nvSpPr>
        <p:spPr>
          <a:xfrm>
            <a:off x="685800" y="1737360"/>
            <a:ext cx="3749040" cy="2834640"/>
          </a:xfrm>
          <a:prstGeom prst="rect">
            <a:avLst/>
          </a:prstGeom>
          <a:noFill/>
          <a:ln/>
        </p:spPr>
        <p:txBody>
          <a:bodyPr wrap="square" lIns="68580" tIns="34290" rIns="68580" bIns="34290" rtlCol="0" anchor="t">
            <a:normAutofit/>
          </a:bodyPr>
          <a:lstStyle/>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[1]</a:t>
            </a:r>
            <a:r>
              <a:rPr lang="en-US" sz="1100" b="0" i="0" dirty="0">
                <a:solidFill>
                  <a:srgbClr val="17173A"/>
                </a:solidFill>
                <a:latin typeface="Poppins"/>
                <a:ea typeface="Poppins"/>
                <a:cs typeface="Poppins"/>
              </a:rPr>
              <a:t>	Najmusseher N, Nizar Banu PK. BEED: Bangalore EEG Epilepsy Dataset [dataset]. UCI Machine Learning Repository. 2024. doi:10.24432/C5K33B.</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[2]</a:t>
            </a:r>
            <a:r>
              <a:rPr lang="en-US" sz="1100" b="0" i="0" dirty="0">
                <a:solidFill>
                  <a:srgbClr val="17173A"/>
                </a:solidFill>
                <a:latin typeface="Poppins"/>
                <a:ea typeface="Poppins"/>
                <a:cs typeface="Poppins"/>
              </a:rPr>
              <a:t>	Andrzejak RG, Lehnertz K, Mormann F, Rieke C, David P, Elger CE. Indications of nonlinear deterministic and finite-dimensional structures in time series of brain electrical activity: dependence on recording region and brain state. Physical Review E. 2001;64(6):061907. doi:10.1103/PhysRevE.64.061907.</a:t>
            </a:r>
          </a:p>
        </p:txBody>
      </p:sp>
      <p:pic>
        <p:nvPicPr>
          <p:cNvPr id="1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7" name="Shape 14"/>
          <p:cNvSpPr/>
          <p:nvPr/>
        </p:nvSpPr>
        <p:spPr>
          <a:xfrm>
            <a:off x="0" y="4796028"/>
            <a:ext cx="9144000" cy="347472"/>
          </a:xfrm>
          <a:prstGeom prst="rect">
            <a:avLst/>
          </a:prstGeom>
          <a:solidFill>
            <a:srgbClr val="EDE6F8"/>
          </a:solidFill>
          <a:ln/>
        </p:spPr>
      </p:sp>
      <p:sp>
        <p:nvSpPr>
          <p:cNvPr id="18" name="Shape 15"/>
          <p:cNvSpPr/>
          <p:nvPr/>
        </p:nvSpPr>
        <p:spPr>
          <a:xfrm>
            <a:off x="0" y="4796028"/>
            <a:ext cx="109728" cy="347472"/>
          </a:xfrm>
          <a:prstGeom prst="rect">
            <a:avLst/>
          </a:prstGeom>
          <a:solidFill>
            <a:srgbClr val="5B2C91"/>
          </a:solidFill>
          <a:ln/>
        </p:spPr>
      </p:sp>
      <p:pic>
        <p:nvPicPr>
          <p:cNvPr id="1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0" name="Text 1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1" name="Text 1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14 / 15</a:t>
            </a:r>
            <a:endParaRPr lang="en-US" sz="850" dirty="0"/>
          </a:p>
        </p:txBody>
      </p:sp>
      <p:sp>
        <p:nvSpPr>
          <p:cNvPr id="1707" name="Refs right"/>
          <p:cNvSpPr txBox="1"/>
          <p:nvPr/>
        </p:nvSpPr>
        <p:spPr>
          <a:xfrm>
            <a:off x="4709160" y="1737360"/>
            <a:ext cx="4069080" cy="2834640"/>
          </a:xfrm>
          <a:prstGeom prst="rect">
            <a:avLst/>
          </a:prstGeom>
          <a:noFill/>
        </p:spPr>
        <p:txBody>
          <a:bodyPr wrap="square" lIns="45720" tIns="27432" rIns="45720" bIns="27432" anchor="t">
            <a:normAutofit/>
          </a:bodyPr>
          <a:lstStyle/>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[3]</a:t>
            </a:r>
            <a:r>
              <a:rPr lang="en-US" sz="1100" b="0" i="0" dirty="0">
                <a:solidFill>
                  <a:srgbClr val="17173A"/>
                </a:solidFill>
                <a:latin typeface="Poppins"/>
                <a:ea typeface="Poppins"/>
                <a:cs typeface="Poppins"/>
              </a:rPr>
              <a:t>	Wu Q, Fokoue E. Epileptic Seizure Recognition data set [dataset]. UCI Machine Learning Repository. 2017. Copy distributed by the creators at github.com/QiuyiWu/Epileptic-Seizure-Recognition-Data (accessed 7 October 2026).</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[4]</a:t>
            </a:r>
            <a:r>
              <a:rPr lang="en-US" sz="1100" b="0" i="0" dirty="0">
                <a:solidFill>
                  <a:srgbClr val="17173A"/>
                </a:solidFill>
                <a:latin typeface="Poppins"/>
                <a:ea typeface="Poppins"/>
                <a:cs typeface="Poppins"/>
              </a:rPr>
              <a:t>	World Health Organization. Epilepsy [fact sheet]. who.int/news-room/fact-sheets/detail/epilepsy (accessed 8 October 2026).</a:t>
            </a:r>
          </a:p>
          <a:p>
            <a:pPr algn="l">
              <a:spcBef>
                <a:spcPts val="0"/>
              </a:spcBef>
              <a:spcAft>
                <a:spcPts val="0"/>
              </a:spcAft>
              <a:buNone/>
            </a:pPr>
            <a:r>
              <a:rPr lang="en-US" sz="1100" b="0" i="1" dirty="0">
                <a:solidFill>
                  <a:srgbClr val="4A4A6A"/>
                </a:solidFill>
                <a:latin typeface="Poppins"/>
                <a:ea typeface="Poppins"/>
                <a:cs typeface="Poppins"/>
              </a:rPr>
              <a:t>Complete reference list: see the full paper.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502920"/>
            <a:ext cx="713232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6600" b="0" i="0" dirty="0">
                <a:solidFill>
                  <a:srgbClr val="17173A"/>
                </a:solidFill>
                <a:latin typeface="Kanit"/>
                <a:ea typeface="Kanit"/>
                <a:cs typeface="Kanit"/>
              </a:rPr>
              <a:t>THANK YOU</a:t>
            </a:r>
          </a:p>
        </p:txBody>
      </p:sp>
      <p:sp>
        <p:nvSpPr>
          <p:cNvPr id="3" name="Text 1"/>
          <p:cNvSpPr/>
          <p:nvPr/>
        </p:nvSpPr>
        <p:spPr>
          <a:xfrm>
            <a:off x="548640" y="2194560"/>
            <a:ext cx="4572000" cy="54864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800" b="0" i="0" dirty="0">
                <a:solidFill>
                  <a:srgbClr val="5B2C91"/>
                </a:solidFill>
                <a:latin typeface="Kanit"/>
                <a:ea typeface="Kanit"/>
                <a:cs typeface="Kanit"/>
              </a:rPr>
              <a:t>Questions?</a:t>
            </a:r>
          </a:p>
        </p:txBody>
      </p:sp>
      <p:sp>
        <p:nvSpPr>
          <p:cNvPr id="4" name="Text 2"/>
          <p:cNvSpPr/>
          <p:nvPr/>
        </p:nvSpPr>
        <p:spPr>
          <a:xfrm>
            <a:off x="548640" y="1536192"/>
            <a:ext cx="640080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000" b="0" i="0" dirty="0">
                <a:solidFill>
                  <a:srgbClr val="17173A"/>
                </a:solidFill>
                <a:latin typeface="Poppins"/>
                <a:ea typeface="Poppins"/>
                <a:cs typeface="Poppins"/>
              </a:rPr>
              <a:t>FOR YOUR ATTENTION</a:t>
            </a:r>
          </a:p>
        </p:txBody>
      </p:sp>
      <p:sp>
        <p:nvSpPr>
          <p:cNvPr id="5" name="Shape 3"/>
          <p:cNvSpPr/>
          <p:nvPr/>
        </p:nvSpPr>
        <p:spPr>
          <a:xfrm>
            <a:off x="603504" y="2084832"/>
            <a:ext cx="2157984" cy="0"/>
          </a:xfrm>
          <a:prstGeom prst="line">
            <a:avLst/>
          </a:prstGeom>
          <a:noFill/>
          <a:ln w="28575">
            <a:solidFill>
              <a:srgbClr val="17173A"/>
            </a:solidFill>
            <a:prstDash val="solid"/>
          </a:ln>
        </p:spPr>
      </p:sp>
      <p:pic>
        <p:nvPicPr>
          <p:cNvPr id="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7" name="Shape 4"/>
          <p:cNvSpPr/>
          <p:nvPr/>
        </p:nvSpPr>
        <p:spPr>
          <a:xfrm>
            <a:off x="0" y="4796028"/>
            <a:ext cx="9144000" cy="347472"/>
          </a:xfrm>
          <a:prstGeom prst="rect">
            <a:avLst/>
          </a:prstGeom>
          <a:solidFill>
            <a:srgbClr val="EDE6F8"/>
          </a:solidFill>
          <a:ln/>
        </p:spPr>
      </p:sp>
      <p:sp>
        <p:nvSpPr>
          <p:cNvPr id="8" name="Shape 5"/>
          <p:cNvSpPr/>
          <p:nvPr/>
        </p:nvSpPr>
        <p:spPr>
          <a:xfrm>
            <a:off x="0" y="4796028"/>
            <a:ext cx="109728" cy="347472"/>
          </a:xfrm>
          <a:prstGeom prst="rect">
            <a:avLst/>
          </a:prstGeom>
          <a:solidFill>
            <a:srgbClr val="5B2C91"/>
          </a:solidFill>
          <a:ln/>
        </p:spPr>
      </p:sp>
      <p:pic>
        <p:nvPicPr>
          <p:cNvPr id="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0" name="Text 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1" name="Text 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15 / 15</a:t>
            </a:r>
            <a:endParaRPr lang="en-US" sz="850" dirty="0"/>
          </a:p>
        </p:txBody>
      </p:sp>
      <p:sp>
        <p:nvSpPr>
          <p:cNvPr id="1708" name="Contact"/>
          <p:cNvSpPr txBox="1"/>
          <p:nvPr/>
        </p:nvSpPr>
        <p:spPr>
          <a:xfrm>
            <a:off x="548640" y="2880360"/>
            <a:ext cx="8046720" cy="1691640"/>
          </a:xfrm>
          <a:prstGeom prst="rect">
            <a:avLst/>
          </a:prstGeom>
          <a:noFill/>
        </p:spPr>
        <p:txBody>
          <a:bodyPr wrap="square" lIns="45720" tIns="27432" rIns="45720" bIns="27432" anchor="t">
            <a:normAutofit/>
          </a:bodyPr>
          <a:lstStyle/>
          <a:p>
            <a:pPr algn="l">
              <a:spcBef>
                <a:spcPts val="0"/>
              </a:spcBef>
              <a:spcAft>
                <a:spcPts val="300"/>
              </a:spcAft>
              <a:buNone/>
            </a:pPr>
            <a:r>
              <a:rPr lang="en-US" sz="1600" b="1" i="0" dirty="0">
                <a:solidFill>
                  <a:srgbClr val="2A2C86"/>
                </a:solidFill>
                <a:latin typeface="Kanit"/>
                <a:ea typeface="Kanit"/>
                <a:cs typeface="Kanit"/>
              </a:rPr>
              <a:t>Er. Rishabh Aryan</a:t>
            </a:r>
          </a:p>
          <a:p>
            <a:pPr algn="l">
              <a:spcBef>
                <a:spcPts val="0"/>
              </a:spcBef>
              <a:spcAft>
                <a:spcPts val="100"/>
              </a:spcAft>
              <a:buNone/>
            </a:pPr>
            <a:r>
              <a:rPr lang="en-US" sz="1200" b="0" i="0" dirty="0">
                <a:solidFill>
                  <a:srgbClr val="17173A"/>
                </a:solidFill>
                <a:latin typeface="Poppins"/>
                <a:ea typeface="Poppins"/>
                <a:cs typeface="Poppins"/>
              </a:rPr>
              <a:t>M.Tech (Artificial Intelligence and Data Science), Department of Computer Science and Engineering</a:t>
            </a:r>
          </a:p>
          <a:p>
            <a:pPr algn="l">
              <a:spcBef>
                <a:spcPts val="0"/>
              </a:spcBef>
              <a:spcAft>
                <a:spcPts val="100"/>
              </a:spcAft>
              <a:buNone/>
            </a:pPr>
            <a:r>
              <a:rPr lang="en-US" sz="1200" b="0" i="0" dirty="0">
                <a:solidFill>
                  <a:srgbClr val="17173A"/>
                </a:solidFill>
                <a:latin typeface="Poppins"/>
                <a:ea typeface="Poppins"/>
                <a:cs typeface="Poppins"/>
              </a:rPr>
              <a:t>Indian Institute of Information Technology, Bhagalpur (Bihar)</a:t>
            </a:r>
          </a:p>
          <a:p>
            <a:pPr algn="l">
              <a:spcBef>
                <a:spcPts val="0"/>
              </a:spcBef>
              <a:spcAft>
                <a:spcPts val="100"/>
              </a:spcAft>
              <a:buNone/>
            </a:pPr>
            <a:r>
              <a:rPr lang="en-US" sz="1200" b="0" i="0" dirty="0">
                <a:solidFill>
                  <a:srgbClr val="17173A"/>
                </a:solidFill>
                <a:latin typeface="Poppins"/>
                <a:ea typeface="Poppins"/>
                <a:cs typeface="Poppins"/>
              </a:rPr>
              <a:t>E-mail: rishabh.250201011@iiitbh.ac.in</a:t>
            </a:r>
          </a:p>
          <a:p>
            <a:pPr algn="l">
              <a:spcBef>
                <a:spcPts val="0"/>
              </a:spcBef>
              <a:spcAft>
                <a:spcPts val="0"/>
              </a:spcAft>
              <a:buNone/>
            </a:pPr>
            <a:r>
              <a:rPr lang="en-US" sz="1200" b="0" i="0" dirty="0">
                <a:solidFill>
                  <a:srgbClr val="17173A"/>
                </a:solidFill>
                <a:latin typeface="Poppins"/>
                <a:ea typeface="Poppins"/>
                <a:cs typeface="Poppins"/>
              </a:rPr>
              <a:t>ORCID ID: https://orcid.org/0009-0004-7595-9440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Kani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Shortcuts and Temporal Leakage in the Bangalore EEG Epilepsy Dataset</dc:title>
  <dc:subject>PptxGenJS Presentation</dc:subject>
  <dc:creator>PptxGenJS</dc:creator>
  <cp:lastModifiedBy>PptxGenJS</cp:lastModifiedBy>
  <cp:revision>1</cp:revision>
  <dcterms:created xsi:type="dcterms:W3CDTF">2026-10-08T06:48:21Z</dcterms:created>
  <dcterms:modified xsi:type="dcterms:W3CDTF">2026-10-08T06:48:21Z</dcterms:modified>
</cp:coreProperties>
</file>